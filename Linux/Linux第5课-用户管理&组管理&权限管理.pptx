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318" r:id="rId14"/>
    <p:sldId id="266" r:id="rId15"/>
    <p:sldId id="314" r:id="rId16"/>
    <p:sldId id="267" r:id="rId17"/>
    <p:sldId id="305" r:id="rId18"/>
    <p:sldId id="306" r:id="rId19"/>
    <p:sldId id="268" r:id="rId20"/>
    <p:sldId id="269" r:id="rId21"/>
    <p:sldId id="270" r:id="rId22"/>
    <p:sldId id="271" r:id="rId23"/>
    <p:sldId id="272" r:id="rId24"/>
    <p:sldId id="273" r:id="rId25"/>
    <p:sldId id="319" r:id="rId26"/>
    <p:sldId id="274" r:id="rId27"/>
    <p:sldId id="275" r:id="rId28"/>
    <p:sldId id="276" r:id="rId29"/>
    <p:sldId id="297" r:id="rId30"/>
    <p:sldId id="277" r:id="rId31"/>
    <p:sldId id="307" r:id="rId32"/>
    <p:sldId id="298" r:id="rId33"/>
    <p:sldId id="299" r:id="rId34"/>
    <p:sldId id="278" r:id="rId35"/>
    <p:sldId id="279" r:id="rId36"/>
    <p:sldId id="280" r:id="rId37"/>
    <p:sldId id="281" r:id="rId38"/>
    <p:sldId id="282" r:id="rId39"/>
    <p:sldId id="283" r:id="rId40"/>
    <p:sldId id="284" r:id="rId41"/>
    <p:sldId id="312" r:id="rId42"/>
    <p:sldId id="313" r:id="rId43"/>
    <p:sldId id="285" r:id="rId44"/>
    <p:sldId id="300" r:id="rId45"/>
    <p:sldId id="301" r:id="rId46"/>
    <p:sldId id="311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32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Linux</a:t>
            </a:r>
            <a:r>
              <a:rPr lang="zh-CN" altLang="en-US"/>
              <a:t>系统，原本只有一个系统管理员用户</a:t>
            </a:r>
            <a:r>
              <a:rPr lang="en-US" altLang="zh-CN"/>
              <a:t>root</a:t>
            </a:r>
            <a:r>
              <a:rPr lang="zh-CN" altLang="en-US"/>
              <a:t>，但是可以通过</a:t>
            </a:r>
            <a:r>
              <a:rPr lang="en-US" altLang="zh-CN"/>
              <a:t>root</a:t>
            </a:r>
            <a:r>
              <a:rPr lang="zh-CN" altLang="en-US"/>
              <a:t>账号创建多个普通用户</a:t>
            </a:r>
            <a:endParaRPr lang="zh-CN" altLang="en-US"/>
          </a:p>
          <a:p>
            <a:r>
              <a:rPr lang="zh-CN" altLang="en-US"/>
              <a:t>每一个用户都会对应一个目录，即家目录。在</a:t>
            </a:r>
            <a:r>
              <a:rPr lang="en-US" altLang="zh-CN"/>
              <a:t>hone</a:t>
            </a:r>
            <a:r>
              <a:rPr lang="zh-CN" altLang="en-US"/>
              <a:t>目录下的与用户名同名的目录</a:t>
            </a:r>
            <a:endParaRPr lang="zh-CN" altLang="en-US"/>
          </a:p>
          <a:p>
            <a:r>
              <a:rPr lang="zh-CN" altLang="en-US"/>
              <a:t>每一个用户有自己的密码，也给他们赋予了相应的权限</a:t>
            </a:r>
            <a:endParaRPr lang="zh-CN" altLang="en-US"/>
          </a:p>
          <a:p>
            <a:r>
              <a:rPr lang="zh-CN" altLang="en-US"/>
              <a:t>那管理用户的指令有哪些呢？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useradd</a:t>
            </a:r>
            <a:r>
              <a:rPr lang="zh-CN" altLang="en-US"/>
              <a:t>的选项</a:t>
            </a:r>
            <a:endParaRPr lang="en-US" altLang="zh-CN"/>
          </a:p>
          <a:p>
            <a:r>
              <a:rPr lang="en-US" altLang="zh-CN"/>
              <a:t>-d:</a:t>
            </a:r>
            <a:r>
              <a:rPr lang="zh-CN" altLang="en-US"/>
              <a:t>为新用户指定自定义家目录</a:t>
            </a:r>
            <a:endParaRPr lang="zh-CN" altLang="en-US"/>
          </a:p>
          <a:p>
            <a:r>
              <a:rPr lang="en-US" altLang="zh-CN"/>
              <a:t>-m</a:t>
            </a:r>
            <a:r>
              <a:rPr lang="zh-CN" altLang="en-US"/>
              <a:t>：系统自动创建目录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提示密码不符合要求不要怕，没使用安全策略是</a:t>
            </a:r>
            <a:r>
              <a:rPr lang="en-US" altLang="zh-CN">
                <a:sym typeface="+mn-ea"/>
              </a:rPr>
              <a:t>OK</a:t>
            </a:r>
            <a:r>
              <a:rPr lang="zh-CN" altLang="en-US">
                <a:sym typeface="+mn-ea"/>
              </a:rPr>
              <a:t>的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比如</a:t>
            </a:r>
            <a:r>
              <a:rPr lang="en-US" altLang="zh-CN"/>
              <a:t>tom</a:t>
            </a:r>
            <a:r>
              <a:rPr lang="zh-CN" altLang="en-US"/>
              <a:t>，</a:t>
            </a:r>
            <a:r>
              <a:rPr lang="en-US" altLang="zh-CN"/>
              <a:t>jack</a:t>
            </a:r>
            <a:r>
              <a:rPr lang="zh-CN" altLang="en-US"/>
              <a:t>，</a:t>
            </a:r>
            <a:r>
              <a:rPr lang="en-US" altLang="zh-CN"/>
              <a:t>milan</a:t>
            </a:r>
            <a:r>
              <a:rPr lang="zh-CN" altLang="en-US"/>
              <a:t>权限相同们就可以把他们归为</a:t>
            </a:r>
            <a:r>
              <a:rPr lang="en-US" altLang="zh-CN"/>
              <a:t>1</a:t>
            </a:r>
            <a:r>
              <a:rPr lang="zh-CN" altLang="en-US"/>
              <a:t>个组</a:t>
            </a:r>
            <a:endParaRPr lang="zh-CN" altLang="en-US"/>
          </a:p>
          <a:p>
            <a:r>
              <a:rPr lang="en-US" altLang="zh-CN"/>
              <a:t>king</a:t>
            </a:r>
            <a:r>
              <a:rPr lang="zh-CN" altLang="en-US"/>
              <a:t>与三者权限不同，就放在另一个组中。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shell</a:t>
            </a:r>
            <a:r>
              <a:rPr lang="zh-CN" altLang="en-US"/>
              <a:t>通配符（</a:t>
            </a:r>
            <a:r>
              <a:rPr lang="zh-CN"/>
              <a:t>用来匹配文件名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/>
              <a:t>*</a:t>
            </a:r>
            <a:r>
              <a:rPr lang="zh-CN" altLang="en-US"/>
              <a:t>：前边任意多个字符</a:t>
            </a:r>
            <a:r>
              <a:rPr lang="en-US" altLang="zh-CN"/>
              <a:t>   *sh </a:t>
            </a:r>
            <a:r>
              <a:rPr lang="zh-CN" altLang="en-US"/>
              <a:t>以</a:t>
            </a:r>
            <a:r>
              <a:rPr lang="en-US" altLang="zh-CN"/>
              <a:t>sh</a:t>
            </a:r>
            <a:r>
              <a:rPr lang="zh-CN" altLang="en-US"/>
              <a:t>结尾，前边有任意多个字符</a:t>
            </a:r>
            <a:endParaRPr lang="zh-CN" altLang="en-US"/>
          </a:p>
          <a:p>
            <a:r>
              <a:rPr lang="zh-CN" altLang="en-US"/>
              <a:t>？任意一个字符</a:t>
            </a:r>
            <a:endParaRPr lang="zh-CN" altLang="en-US"/>
          </a:p>
          <a:p>
            <a:r>
              <a:rPr lang="en-US" altLang="zh-CN"/>
              <a:t>[] </a:t>
            </a:r>
            <a:r>
              <a:rPr lang="zh-CN" altLang="en-US"/>
              <a:t>匹配括号里的字符</a:t>
            </a:r>
            <a:r>
              <a:rPr lang="en-US" altLang="zh-CN"/>
              <a:t>  [a,b,c] a</a:t>
            </a:r>
            <a:r>
              <a:rPr lang="zh-CN" altLang="en-US"/>
              <a:t>或</a:t>
            </a:r>
            <a:r>
              <a:rPr lang="en-US" altLang="zh-CN"/>
              <a:t>b</a:t>
            </a:r>
            <a:r>
              <a:rPr lang="zh-CN" altLang="en-US"/>
              <a:t>或</a:t>
            </a:r>
            <a:r>
              <a:rPr lang="en-US" altLang="zh-CN"/>
              <a:t>c</a:t>
            </a:r>
            <a:br>
              <a:rPr lang="zh-CN" altLang="en-US"/>
            </a:br>
            <a:br>
              <a:rPr lang="zh-CN" altLang="en-US"/>
            </a:br>
            <a:r>
              <a:rPr lang="zh-CN" altLang="en-US"/>
              <a:t>正则表达式（给</a:t>
            </a:r>
            <a:r>
              <a:rPr lang="en-US" altLang="zh-CN"/>
              <a:t>grep</a:t>
            </a:r>
            <a:r>
              <a:rPr lang="zh-CN" altLang="en-US"/>
              <a:t>，</a:t>
            </a:r>
            <a:r>
              <a:rPr lang="en-US" altLang="zh-CN"/>
              <a:t>vi</a:t>
            </a:r>
            <a:r>
              <a:rPr lang="zh-CN" altLang="en-US"/>
              <a:t>，这些搜文本内容用）</a:t>
            </a:r>
            <a:endParaRPr lang="zh-CN" altLang="en-US"/>
          </a:p>
          <a:p>
            <a:r>
              <a:rPr lang="en-US" altLang="zh-CN"/>
              <a:t>. </a:t>
            </a:r>
            <a:r>
              <a:rPr lang="zh-CN" altLang="en-US"/>
              <a:t>任意一个字符</a:t>
            </a:r>
            <a:endParaRPr lang="zh-CN" altLang="en-US"/>
          </a:p>
          <a:p>
            <a:r>
              <a:rPr lang="en-US" altLang="zh-CN"/>
              <a:t>*</a:t>
            </a:r>
            <a:r>
              <a:rPr lang="zh-CN" altLang="en-US"/>
              <a:t>字符重复任意次</a:t>
            </a:r>
            <a:r>
              <a:rPr lang="en-US" altLang="zh-CN"/>
              <a:t>   a* </a:t>
            </a:r>
            <a:r>
              <a:rPr lang="zh-CN" altLang="en-US"/>
              <a:t>字符</a:t>
            </a:r>
            <a:r>
              <a:rPr lang="en-US" altLang="zh-CN"/>
              <a:t>a</a:t>
            </a:r>
            <a:r>
              <a:rPr lang="zh-CN" altLang="en-US"/>
              <a:t>重复</a:t>
            </a:r>
            <a:r>
              <a:rPr lang="en-US" altLang="zh-CN"/>
              <a:t>0</a:t>
            </a:r>
            <a:r>
              <a:rPr lang="zh-CN" altLang="en-US"/>
              <a:t>到多次</a:t>
            </a:r>
            <a:r>
              <a:rPr lang="en-US" altLang="zh-CN"/>
              <a:t> </a:t>
            </a:r>
            <a:r>
              <a:rPr lang="zh-CN" altLang="en-US"/>
              <a:t>任意次</a:t>
            </a:r>
            <a:endParaRPr lang="zh-CN" altLang="en-US"/>
          </a:p>
          <a:p>
            <a:r>
              <a:rPr lang="en-US" altLang="zh-CN"/>
              <a:t>^ </a:t>
            </a:r>
            <a:r>
              <a:rPr lang="zh-CN" altLang="en-US"/>
              <a:t>行的开头</a:t>
            </a:r>
            <a:r>
              <a:rPr lang="en-US" altLang="zh-CN"/>
              <a:t>  ^sh </a:t>
            </a:r>
            <a:r>
              <a:rPr lang="zh-CN" altLang="en-US"/>
              <a:t>就是这一行开头是</a:t>
            </a:r>
            <a:r>
              <a:rPr lang="en-US" altLang="zh-CN"/>
              <a:t>sh</a:t>
            </a:r>
            <a:r>
              <a:rPr lang="zh-CN" altLang="en-US"/>
              <a:t>的</a:t>
            </a:r>
            <a:endParaRPr lang="zh-CN" altLang="en-US"/>
          </a:p>
          <a:p>
            <a:r>
              <a:rPr lang="en-US" altLang="zh-CN"/>
              <a:t>$</a:t>
            </a:r>
            <a:r>
              <a:rPr lang="zh-CN" altLang="en-US"/>
              <a:t>行的结尾</a:t>
            </a:r>
            <a:r>
              <a:rPr lang="en-US" altLang="zh-CN"/>
              <a:t>     sh$</a:t>
            </a:r>
            <a:r>
              <a:rPr lang="zh-CN" altLang="en-US"/>
              <a:t>就是这一行最后是</a:t>
            </a:r>
            <a:r>
              <a:rPr lang="en-US" altLang="zh-CN"/>
              <a:t>sh</a:t>
            </a:r>
            <a:r>
              <a:rPr lang="zh-CN" altLang="en-US"/>
              <a:t>的</a:t>
            </a:r>
            <a:endParaRPr lang="en-US" altLang="zh-CN"/>
          </a:p>
          <a:p>
            <a:r>
              <a:rPr lang="en-US" altLang="zh-CN">
                <a:sym typeface="+mn-ea"/>
              </a:rPr>
              <a:t>[] </a:t>
            </a:r>
            <a:r>
              <a:rPr lang="zh-CN" altLang="en-US">
                <a:sym typeface="+mn-ea"/>
              </a:rPr>
              <a:t>匹配括号里的任意字符</a:t>
            </a:r>
            <a:r>
              <a:rPr lang="en-US" altLang="zh-CN">
                <a:sym typeface="+mn-ea"/>
              </a:rPr>
              <a:t>  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[^] </a:t>
            </a:r>
            <a:r>
              <a:rPr lang="zh-CN" altLang="en-US">
                <a:sym typeface="+mn-ea"/>
              </a:rPr>
              <a:t>不匹配括号里的任意字符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例如：每个人都有国籍</a:t>
            </a:r>
            <a:endParaRPr lang="zh-CN" altLang="en-US"/>
          </a:p>
          <a:p>
            <a:r>
              <a:rPr lang="zh-CN" altLang="en-US"/>
              <a:t>在</a:t>
            </a:r>
            <a:r>
              <a:rPr lang="en-US" altLang="zh-CN"/>
              <a:t>Linux</a:t>
            </a:r>
            <a:r>
              <a:rPr lang="zh-CN" altLang="en-US"/>
              <a:t>中每个用户必须属于一个组</a:t>
            </a:r>
            <a:endParaRPr lang="zh-CN" altLang="en-US"/>
          </a:p>
          <a:p>
            <a:r>
              <a:rPr lang="zh-CN" altLang="en-US"/>
              <a:t>所有者可以变，比如你做了一个软件，卖给其它公司了。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创建了文件</a:t>
            </a:r>
            <a:r>
              <a:rPr lang="en-US" altLang="zh-CN"/>
              <a:t>/</a:t>
            </a:r>
            <a:r>
              <a:rPr lang="zh-CN" altLang="en-US"/>
              <a:t>目录，默认就是文件</a:t>
            </a:r>
            <a:r>
              <a:rPr lang="en-US" altLang="zh-CN"/>
              <a:t>/</a:t>
            </a:r>
            <a:r>
              <a:rPr lang="zh-CN" altLang="en-US"/>
              <a:t>目录的所有者，除非后续更改，使用</a:t>
            </a:r>
            <a:r>
              <a:rPr lang="en-US" altLang="zh-CN"/>
              <a:t>chown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change owner </a:t>
            </a:r>
            <a:r>
              <a:rPr lang="zh-CN" altLang="en-US"/>
              <a:t>修改所有者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总用量</a:t>
            </a:r>
            <a:r>
              <a:rPr lang="en-US" altLang="zh-CN"/>
              <a:t>4</a:t>
            </a:r>
            <a:r>
              <a:rPr lang="zh-CN" altLang="en-US"/>
              <a:t>是这个目录本身占了一个磁盘块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change group </a:t>
            </a:r>
            <a:r>
              <a:rPr lang="zh-CN" altLang="en-US"/>
              <a:t>的缩写</a:t>
            </a:r>
            <a:r>
              <a:rPr lang="en-US" altLang="zh-CN"/>
              <a:t> </a:t>
            </a:r>
            <a:r>
              <a:rPr lang="zh-CN" altLang="en-US"/>
              <a:t>修改所在组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81170" y="2197100"/>
            <a:ext cx="33223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/>
              <a:t>用户管理</a:t>
            </a:r>
            <a:endParaRPr lang="zh-CN" altLang="en-US"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1005" y="212725"/>
            <a:ext cx="2266315" cy="6197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/>
              <a:t>基本介绍</a:t>
            </a:r>
            <a:endParaRPr lang="zh-CN" altLang="en-US" sz="3200"/>
          </a:p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32535" y="832485"/>
            <a:ext cx="8916670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ym typeface="+mn-ea"/>
              </a:rPr>
              <a:t>        Linux </a:t>
            </a:r>
            <a:r>
              <a:rPr lang="zh-CN" altLang="en-US" sz="2800">
                <a:sym typeface="+mn-ea"/>
              </a:rPr>
              <a:t>系统是一个多用户多任务的操作系统，任何一个要使用系统资源的用户，都必须首先向系统管理员申请一个账号，然后以这个账号的身份进入系统。</a:t>
            </a:r>
            <a:endParaRPr lang="zh-CN" altLang="en-US" sz="2800"/>
          </a:p>
          <a:p>
            <a:endParaRPr lang="zh-CN" altLang="en-US" sz="2800"/>
          </a:p>
        </p:txBody>
      </p:sp>
      <p:pic>
        <p:nvPicPr>
          <p:cNvPr id="160" name="IM 160"/>
          <p:cNvPicPr/>
          <p:nvPr/>
        </p:nvPicPr>
        <p:blipFill>
          <a:blip r:embed="rId1"/>
          <a:stretch>
            <a:fillRect/>
          </a:stretch>
        </p:blipFill>
        <p:spPr>
          <a:xfrm>
            <a:off x="2517140" y="2326640"/>
            <a:ext cx="6166485" cy="32569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90195" y="109220"/>
            <a:ext cx="11649075" cy="66160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添加用户</a:t>
            </a:r>
            <a:endParaRPr lang="zh-CN" altLang="en-US"/>
          </a:p>
          <a:p>
            <a:r>
              <a:rPr lang="zh-CN" altLang="en-US" sz="2800"/>
              <a:t>基本语法</a:t>
            </a:r>
            <a:endParaRPr lang="zh-CN" altLang="en-US" sz="2800"/>
          </a:p>
          <a:p>
            <a:r>
              <a:rPr lang="en-US" altLang="zh-CN" sz="2800"/>
              <a:t>useradd    </a:t>
            </a:r>
            <a:r>
              <a:rPr lang="en-US" altLang="zh-CN" sz="2800">
                <a:sym typeface="+mn-ea"/>
              </a:rPr>
              <a:t> [-m]</a:t>
            </a:r>
            <a:r>
              <a:rPr lang="en-US" altLang="zh-CN" sz="2800"/>
              <a:t>  </a:t>
            </a:r>
            <a:r>
              <a:rPr lang="zh-CN" altLang="en-US" sz="2800"/>
              <a:t>用户名</a:t>
            </a:r>
            <a:endParaRPr lang="en-US" altLang="zh-CN" sz="2800"/>
          </a:p>
          <a:p>
            <a:r>
              <a:rPr lang="zh-CN" altLang="en-US" sz="2800"/>
              <a:t>应用案例</a:t>
            </a:r>
            <a:endParaRPr lang="zh-CN" altLang="en-US" sz="2800"/>
          </a:p>
          <a:p>
            <a:r>
              <a:rPr lang="zh-CN" altLang="en-US" sz="2800"/>
              <a:t>添加一个用户</a:t>
            </a:r>
            <a:r>
              <a:rPr lang="en-US" altLang="zh-CN" sz="2800"/>
              <a:t> milan,  </a:t>
            </a:r>
            <a:r>
              <a:rPr lang="zh-CN" altLang="en-US" sz="2800"/>
              <a:t>该用户的家目录</a:t>
            </a:r>
            <a:r>
              <a:rPr lang="zh-CN" altLang="en-US" sz="2800">
                <a:sym typeface="+mn-ea"/>
              </a:rPr>
              <a:t>默认</a:t>
            </a:r>
            <a:r>
              <a:rPr lang="zh-CN" altLang="en-US" sz="2800"/>
              <a:t>在</a:t>
            </a:r>
            <a:r>
              <a:rPr lang="en-US" altLang="zh-CN" sz="2800"/>
              <a:t> /home/milan     </a:t>
            </a:r>
            <a:endParaRPr lang="en-US" altLang="zh-CN" sz="2800"/>
          </a:p>
          <a:p>
            <a:r>
              <a:rPr lang="en-US" altLang="zh-CN" sz="2800"/>
              <a:t>useradd [-m] milan</a:t>
            </a:r>
            <a:endParaRPr lang="en-US" altLang="zh-CN" sz="2800"/>
          </a:p>
          <a:p>
            <a:r>
              <a:rPr lang="en-US" altLang="zh-CN" sz="2800"/>
              <a:t>1)   </a:t>
            </a:r>
            <a:r>
              <a:rPr lang="zh-CN" altLang="en-US" sz="2800"/>
              <a:t>在</a:t>
            </a:r>
            <a:r>
              <a:rPr lang="en-US" altLang="zh-CN" sz="2800"/>
              <a:t>CentOS7.6</a:t>
            </a:r>
            <a:r>
              <a:rPr lang="zh-CN" altLang="en-US" sz="2800"/>
              <a:t>默认配置下，</a:t>
            </a:r>
            <a:r>
              <a:rPr lang="en-US" altLang="zh-CN" sz="2800"/>
              <a:t>useradd</a:t>
            </a:r>
            <a:r>
              <a:rPr lang="zh-CN" altLang="en-US" sz="2800"/>
              <a:t>创建用户成功后，会自动的创建和用户同名的家目录（</a:t>
            </a:r>
            <a:r>
              <a:rPr lang="en-US" altLang="zh-CN" sz="2800"/>
              <a:t>-m</a:t>
            </a:r>
            <a:r>
              <a:rPr lang="zh-CN" altLang="en-US" sz="2800"/>
              <a:t>作用是</a:t>
            </a:r>
            <a:r>
              <a:rPr lang="zh-CN" altLang="en-US" sz="2800">
                <a:sym typeface="+mn-ea"/>
              </a:rPr>
              <a:t>新目录不存在时自动创建</a:t>
            </a:r>
            <a:r>
              <a:rPr lang="zh-CN" altLang="en-US" sz="2800"/>
              <a:t>，</a:t>
            </a:r>
            <a:r>
              <a:rPr lang="zh-CN" altLang="en-US" sz="2800">
                <a:sym typeface="+mn-ea"/>
              </a:rPr>
              <a:t>在</a:t>
            </a:r>
            <a:r>
              <a:rPr lang="en-US" altLang="zh-CN" sz="2800">
                <a:sym typeface="+mn-ea"/>
              </a:rPr>
              <a:t>CentOS7.6</a:t>
            </a:r>
            <a:r>
              <a:rPr lang="zh-CN" altLang="en-US" sz="2800">
                <a:sym typeface="+mn-ea"/>
              </a:rPr>
              <a:t>默认配置下可以不写</a:t>
            </a:r>
            <a:r>
              <a:rPr lang="en-US" altLang="zh-CN" sz="2800">
                <a:sym typeface="+mn-ea"/>
              </a:rPr>
              <a:t>-m</a:t>
            </a:r>
            <a:r>
              <a:rPr lang="zh-CN" altLang="en-US" sz="2800">
                <a:sym typeface="+mn-ea"/>
              </a:rPr>
              <a:t>也会自动创建新目录，</a:t>
            </a:r>
            <a:r>
              <a:rPr lang="zh-CN" altLang="en-US" sz="2800"/>
              <a:t>因此</a:t>
            </a:r>
            <a:r>
              <a:rPr lang="en-US" altLang="zh-CN" sz="2800"/>
              <a:t>-m</a:t>
            </a:r>
            <a:r>
              <a:rPr lang="zh-CN" altLang="en-US" sz="2800"/>
              <a:t>可以省略）</a:t>
            </a:r>
            <a:endParaRPr lang="zh-CN" altLang="en-US" sz="2800"/>
          </a:p>
          <a:p>
            <a:r>
              <a:rPr lang="en-US" altLang="zh-CN" sz="2800"/>
              <a:t>2)   </a:t>
            </a:r>
            <a:r>
              <a:rPr lang="en-US" altLang="zh-CN" sz="2800">
                <a:sym typeface="+mn-ea"/>
              </a:rPr>
              <a:t>useradd 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-d</a:t>
            </a:r>
            <a:r>
              <a:rPr lang="en-US" altLang="zh-CN" sz="2800">
                <a:sym typeface="+mn-ea"/>
              </a:rPr>
              <a:t>  </a:t>
            </a:r>
            <a:r>
              <a:rPr lang="zh-CN" altLang="en-US" sz="2800">
                <a:sym typeface="+mn-ea"/>
              </a:rPr>
              <a:t>指定目录</a:t>
            </a:r>
            <a:r>
              <a:rPr lang="en-US" altLang="zh-CN" sz="2800">
                <a:sym typeface="+mn-ea"/>
              </a:rPr>
              <a:t> 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-m</a:t>
            </a:r>
            <a:r>
              <a:rPr lang="en-US" altLang="zh-CN" sz="2800">
                <a:sym typeface="+mn-ea"/>
              </a:rPr>
              <a:t>  </a:t>
            </a:r>
            <a:r>
              <a:rPr lang="zh-CN" altLang="en-US" sz="2800">
                <a:sym typeface="+mn-ea"/>
              </a:rPr>
              <a:t>新的用户名</a:t>
            </a:r>
            <a:r>
              <a:rPr lang="en-US" altLang="zh-CN" sz="2800">
                <a:sym typeface="+mn-ea"/>
              </a:rPr>
              <a:t>    </a:t>
            </a:r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-d</a:t>
            </a:r>
            <a:r>
              <a:rPr lang="zh-CN" altLang="en-US" sz="2800">
                <a:sym typeface="+mn-ea"/>
              </a:rPr>
              <a:t>通常搭配</a:t>
            </a:r>
            <a:r>
              <a:rPr lang="en-US" altLang="zh-CN" sz="2800">
                <a:sym typeface="+mn-ea"/>
              </a:rPr>
              <a:t>-m</a:t>
            </a:r>
            <a:r>
              <a:rPr lang="zh-CN" altLang="en-US" sz="2800">
                <a:sym typeface="+mn-ea"/>
              </a:rPr>
              <a:t>使用。作用是</a:t>
            </a:r>
            <a:r>
              <a:rPr lang="zh-CN" altLang="en-US" sz="2800">
                <a:solidFill>
                  <a:srgbClr val="FF0000"/>
                </a:solidFill>
              </a:rPr>
              <a:t>给新创建的用户指定一个家目录</a:t>
            </a:r>
            <a:r>
              <a:rPr lang="zh-CN" altLang="en-US" sz="2800"/>
              <a:t>。</a:t>
            </a:r>
            <a:endParaRPr lang="zh-CN" altLang="en-US" sz="2800"/>
          </a:p>
          <a:p>
            <a:r>
              <a:rPr lang="en-US" altLang="zh-CN" sz="2800" b="1"/>
              <a:t>useradd -d /home/test -m king</a:t>
            </a:r>
            <a:endParaRPr lang="en-US" altLang="zh-CN" sz="2800" b="1"/>
          </a:p>
          <a:p>
            <a:r>
              <a:rPr lang="en-US" altLang="zh-CN" sz="2800" b="1"/>
              <a:t>-m</a:t>
            </a:r>
            <a:r>
              <a:rPr lang="zh-CN" altLang="en-US" sz="2800"/>
              <a:t>的作用是确保新目录不存在时自动创建，</a:t>
            </a:r>
            <a:r>
              <a:rPr lang="en-US" altLang="zh-CN" sz="2800" b="1"/>
              <a:t>-d</a:t>
            </a:r>
            <a:r>
              <a:rPr lang="zh-CN" altLang="en-US" sz="2800"/>
              <a:t>的作用是给新用户指定自定义的家目录路径</a:t>
            </a:r>
            <a:r>
              <a:rPr lang="en-US" altLang="zh-CN" sz="2800" b="1">
                <a:sym typeface="+mn-ea"/>
              </a:rPr>
              <a:t>/home/test</a:t>
            </a:r>
            <a:r>
              <a:rPr lang="en-US" altLang="zh-CN" sz="2800"/>
              <a:t> </a:t>
            </a:r>
            <a:r>
              <a:rPr lang="zh-CN" altLang="en-US" sz="2800"/>
              <a:t>。（在</a:t>
            </a:r>
            <a:r>
              <a:rPr lang="en-US" altLang="zh-CN" sz="2800">
                <a:sym typeface="+mn-ea"/>
              </a:rPr>
              <a:t>CentOS7.6</a:t>
            </a:r>
            <a:r>
              <a:rPr lang="zh-CN" altLang="en-US" sz="2800">
                <a:sym typeface="+mn-ea"/>
              </a:rPr>
              <a:t>默认配置下可以不写</a:t>
            </a:r>
            <a:r>
              <a:rPr lang="en-US" altLang="zh-CN" sz="2800">
                <a:sym typeface="+mn-ea"/>
              </a:rPr>
              <a:t>-m</a:t>
            </a:r>
            <a:r>
              <a:rPr lang="zh-CN" altLang="en-US" sz="2800">
                <a:sym typeface="+mn-ea"/>
              </a:rPr>
              <a:t>也会自动创建新目录</a:t>
            </a:r>
            <a:r>
              <a:rPr lang="zh-CN" altLang="en-US" sz="2800"/>
              <a:t>）</a:t>
            </a:r>
            <a:endParaRPr lang="zh-CN" altLang="en-US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11200" y="450850"/>
            <a:ext cx="6941185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指定</a:t>
            </a:r>
            <a:r>
              <a:rPr lang="en-US" altLang="zh-CN" sz="3200"/>
              <a:t>/</a:t>
            </a:r>
            <a:r>
              <a:rPr lang="zh-CN" altLang="en-US" sz="3200"/>
              <a:t>修改密码</a:t>
            </a:r>
            <a:endParaRPr lang="zh-CN" altLang="en-US" sz="3200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 sz="2800"/>
              <a:t>基本语法</a:t>
            </a:r>
            <a:endParaRPr lang="zh-CN" altLang="en-US" sz="2800"/>
          </a:p>
          <a:p>
            <a:r>
              <a:rPr lang="en-US" altLang="zh-CN" sz="2800"/>
              <a:t>passwd        </a:t>
            </a:r>
            <a:r>
              <a:rPr lang="zh-CN" altLang="en-US" sz="2800"/>
              <a:t>用户名</a:t>
            </a:r>
            <a:endParaRPr lang="zh-CN" altLang="en-US" sz="2800"/>
          </a:p>
          <a:p>
            <a:r>
              <a:rPr lang="zh-CN" altLang="en-US" sz="2800"/>
              <a:t>应用案例</a:t>
            </a:r>
            <a:endParaRPr lang="zh-CN" altLang="en-US" sz="2800"/>
          </a:p>
          <a:p>
            <a:r>
              <a:rPr lang="zh-CN" altLang="en-US" sz="2800"/>
              <a:t>给</a:t>
            </a:r>
            <a:r>
              <a:rPr lang="en-US" altLang="zh-CN" sz="2800"/>
              <a:t> milan  </a:t>
            </a:r>
            <a:r>
              <a:rPr lang="zh-CN" altLang="en-US" sz="2800"/>
              <a:t>指定密码</a:t>
            </a:r>
            <a:r>
              <a:rPr lang="en-US" altLang="zh-CN" sz="2800"/>
              <a:t>passwd milan</a:t>
            </a:r>
            <a:endParaRPr lang="en-US" altLang="zh-CN" sz="2800"/>
          </a:p>
          <a:p>
            <a:r>
              <a:rPr lang="zh-CN" altLang="en-US" sz="2800"/>
              <a:t>补充，显示当前用户所在的目录</a:t>
            </a:r>
            <a:r>
              <a:rPr lang="en-US" altLang="zh-CN" sz="2800"/>
              <a:t> pwd</a:t>
            </a:r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711200" y="3897630"/>
            <a:ext cx="8790305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锁定用户，使其不可登录。以用户</a:t>
            </a:r>
            <a:r>
              <a:rPr lang="en-US" altLang="zh-CN" sz="2800" b="1"/>
              <a:t>zhangsan</a:t>
            </a:r>
            <a:r>
              <a:rPr lang="zh-CN" altLang="en-US" sz="2800" b="1"/>
              <a:t>为例</a:t>
            </a:r>
            <a:endParaRPr lang="zh-CN" altLang="en-US" sz="2800" b="1"/>
          </a:p>
          <a:p>
            <a:r>
              <a:rPr lang="zh-CN" altLang="en-US" sz="2800" b="1"/>
              <a:t>passwd -l zhangsan</a:t>
            </a:r>
            <a:endParaRPr lang="zh-CN" altLang="en-US" sz="2800" b="1"/>
          </a:p>
          <a:p>
            <a:r>
              <a:rPr lang="en-US" altLang="zh-CN" sz="2800" b="1"/>
              <a:t>usermod -L zhangsan</a:t>
            </a:r>
            <a:endParaRPr lang="en-US" altLang="zh-CN" sz="2800" b="1"/>
          </a:p>
          <a:p>
            <a:r>
              <a:rPr lang="zh-CN" altLang="en-US" sz="2800" b="1">
                <a:sym typeface="+mn-ea"/>
              </a:rPr>
              <a:t>解锁用户，使其正常登录。</a:t>
            </a:r>
            <a:endParaRPr lang="en-US" altLang="zh-CN" sz="2800" b="1"/>
          </a:p>
          <a:p>
            <a:r>
              <a:rPr lang="en-US" altLang="zh-CN" sz="2800" b="1"/>
              <a:t>passwd -u zhangsan</a:t>
            </a:r>
            <a:endParaRPr lang="en-US" altLang="zh-CN" sz="2800" b="1"/>
          </a:p>
          <a:p>
            <a:r>
              <a:rPr lang="en-US" altLang="zh-CN" sz="2800" b="1"/>
              <a:t>usermod -U zhangsan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0365" y="711200"/>
            <a:ext cx="8896985" cy="43383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删除用户</a:t>
            </a:r>
            <a:endParaRPr lang="zh-CN" altLang="en-US" sz="3600"/>
          </a:p>
          <a:p>
            <a:endParaRPr lang="zh-CN" altLang="en-US" sz="2400"/>
          </a:p>
          <a:p>
            <a:r>
              <a:rPr lang="zh-CN" altLang="en-US" sz="2400"/>
              <a:t>基本语法</a:t>
            </a:r>
            <a:endParaRPr lang="zh-CN" altLang="en-US" sz="2400"/>
          </a:p>
          <a:p>
            <a:r>
              <a:rPr lang="en-US" altLang="zh-CN" sz="2400"/>
              <a:t>userdel      </a:t>
            </a:r>
            <a:r>
              <a:rPr lang="zh-CN" altLang="en-US" sz="2400"/>
              <a:t>用户名</a:t>
            </a:r>
            <a:endParaRPr lang="zh-CN" altLang="en-US" sz="2400"/>
          </a:p>
          <a:p>
            <a:r>
              <a:rPr lang="en-US" altLang="zh-CN" sz="2400"/>
              <a:t>userdel -r  </a:t>
            </a:r>
            <a:r>
              <a:rPr lang="zh-CN" altLang="en-US" sz="2400"/>
              <a:t>用户名</a:t>
            </a:r>
            <a:endParaRPr lang="en-US" altLang="zh-CN" sz="2400"/>
          </a:p>
          <a:p>
            <a:r>
              <a:rPr lang="zh-CN" altLang="en-US" sz="2400"/>
              <a:t>应用案例</a:t>
            </a:r>
            <a:endParaRPr lang="zh-CN" altLang="en-US" sz="2400"/>
          </a:p>
          <a:p>
            <a:r>
              <a:rPr lang="en-US" altLang="zh-CN" sz="2400"/>
              <a:t>1)   </a:t>
            </a:r>
            <a:r>
              <a:rPr lang="zh-CN" altLang="en-US" sz="2400"/>
              <a:t>删除用户</a:t>
            </a:r>
            <a:r>
              <a:rPr lang="en-US" altLang="zh-CN" sz="2400"/>
              <a:t> milan</a:t>
            </a:r>
            <a:r>
              <a:rPr lang="zh-CN" altLang="en-US" sz="2400"/>
              <a:t>，但是要</a:t>
            </a:r>
            <a:r>
              <a:rPr lang="zh-CN" altLang="en-US" sz="2400" b="1"/>
              <a:t>保留家目录</a:t>
            </a:r>
            <a:r>
              <a:rPr lang="en-US" altLang="zh-CN" sz="2400"/>
              <a:t>, userdel milan</a:t>
            </a:r>
            <a:endParaRPr lang="en-US" altLang="zh-CN" sz="2400"/>
          </a:p>
          <a:p>
            <a:r>
              <a:rPr lang="en-US" altLang="zh-CN" sz="2400"/>
              <a:t>2)   </a:t>
            </a:r>
            <a:r>
              <a:rPr lang="zh-CN" altLang="en-US" sz="2400" b="1"/>
              <a:t>删除用户以及用户主目录</a:t>
            </a:r>
            <a:r>
              <a:rPr lang="en-US" altLang="zh-CN" sz="2400"/>
              <a:t>,  </a:t>
            </a:r>
            <a:r>
              <a:rPr lang="zh-CN" altLang="en-US" sz="2400"/>
              <a:t>比如</a:t>
            </a:r>
            <a:r>
              <a:rPr lang="en-US" altLang="zh-CN" sz="2400"/>
              <a:t> tom, userdel -r tom</a:t>
            </a:r>
            <a:endParaRPr lang="en-US" altLang="zh-CN" sz="2400"/>
          </a:p>
          <a:p>
            <a:endParaRPr lang="en-US" altLang="zh-CN" sz="2400"/>
          </a:p>
          <a:p>
            <a:r>
              <a:rPr lang="zh-CN" altLang="en-US" sz="2400"/>
              <a:t>细节说明</a:t>
            </a:r>
            <a:endParaRPr lang="zh-CN" altLang="en-US" sz="2400"/>
          </a:p>
          <a:p>
            <a:r>
              <a:rPr lang="zh-CN" altLang="en-US" sz="2400"/>
              <a:t>是否保留家目录的讨论</a:t>
            </a:r>
            <a:r>
              <a:rPr lang="en-US" altLang="zh-CN" sz="2400"/>
              <a:t>?  </a:t>
            </a:r>
            <a:r>
              <a:rPr lang="zh-CN" altLang="en-US" sz="2400"/>
              <a:t>一般情况下，我们建议保留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0690" y="680720"/>
            <a:ext cx="1038923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查询用户信息指令</a:t>
            </a:r>
            <a:endParaRPr lang="zh-CN" altLang="en-US" sz="2800"/>
          </a:p>
          <a:p>
            <a:r>
              <a:rPr lang="zh-CN" altLang="en-US" sz="2800"/>
              <a:t>基本语法</a:t>
            </a:r>
            <a:endParaRPr lang="zh-CN" altLang="en-US" sz="2800"/>
          </a:p>
          <a:p>
            <a:r>
              <a:rPr lang="en-US" altLang="zh-CN" sz="2800"/>
              <a:t>id    </a:t>
            </a:r>
            <a:r>
              <a:rPr lang="zh-CN" altLang="en-US" sz="2800"/>
              <a:t>用户名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应用实例</a:t>
            </a:r>
            <a:endParaRPr lang="zh-CN" altLang="en-US" sz="2800"/>
          </a:p>
          <a:p>
            <a:r>
              <a:rPr lang="zh-CN" altLang="en-US" sz="2800"/>
              <a:t>案例：请查询</a:t>
            </a:r>
            <a:r>
              <a:rPr lang="en-US" altLang="zh-CN" sz="2800"/>
              <a:t> root    </a:t>
            </a:r>
            <a:r>
              <a:rPr lang="zh-CN" altLang="en-US" sz="2800"/>
              <a:t>信息</a:t>
            </a:r>
            <a:endParaRPr lang="zh-CN" altLang="en-US" sz="2800"/>
          </a:p>
          <a:p>
            <a:r>
              <a:rPr lang="en-US" altLang="zh-CN" sz="2800"/>
              <a:t>id root</a:t>
            </a:r>
            <a:endParaRPr lang="en-US" altLang="zh-CN" sz="2800"/>
          </a:p>
          <a:p>
            <a:r>
              <a:rPr lang="zh-CN" altLang="en-US" sz="2800"/>
              <a:t>用户标识号、主组标识号、组</a:t>
            </a:r>
            <a:endParaRPr lang="zh-CN" altLang="en-US" sz="2800"/>
          </a:p>
          <a:p>
            <a:r>
              <a:rPr lang="zh-CN" altLang="en-US" sz="2800"/>
              <a:t>细节说明</a:t>
            </a:r>
            <a:endParaRPr lang="zh-CN" altLang="en-US" sz="2800"/>
          </a:p>
          <a:p>
            <a:r>
              <a:rPr lang="zh-CN" altLang="en-US" sz="2800"/>
              <a:t>当用户不存在时，返回无此用户</a:t>
            </a:r>
            <a:endParaRPr lang="zh-CN" altLang="en-US"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0185" y="180340"/>
            <a:ext cx="11181715" cy="6347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切换用户</a:t>
            </a:r>
            <a:endParaRPr lang="zh-CN" altLang="en-US" sz="3600"/>
          </a:p>
          <a:p>
            <a:endParaRPr lang="zh-CN" altLang="en-US" sz="2800"/>
          </a:p>
          <a:p>
            <a:r>
              <a:rPr lang="zh-CN" altLang="en-US" sz="2800"/>
              <a:t>在操作</a:t>
            </a:r>
            <a:r>
              <a:rPr lang="en-US" altLang="zh-CN" sz="2800"/>
              <a:t> Linux </a:t>
            </a:r>
            <a:r>
              <a:rPr lang="zh-CN" altLang="en-US" sz="2800"/>
              <a:t>中，如果当前用户的权限不够，可以通过</a:t>
            </a:r>
            <a:r>
              <a:rPr lang="en-US" altLang="zh-CN" sz="2800"/>
              <a:t> su -  </a:t>
            </a:r>
            <a:r>
              <a:rPr lang="zh-CN" altLang="en-US" sz="2800"/>
              <a:t>指令，切换到高权限用户，比如</a:t>
            </a:r>
            <a:r>
              <a:rPr lang="en-US" altLang="zh-CN" sz="2800"/>
              <a:t> root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基本语法</a:t>
            </a:r>
            <a:endParaRPr lang="zh-CN" altLang="en-US" sz="2800"/>
          </a:p>
          <a:p>
            <a:r>
              <a:rPr lang="en-US" altLang="zh-CN" sz="2800"/>
              <a:t>su    -  </a:t>
            </a:r>
            <a:r>
              <a:rPr lang="zh-CN" altLang="en-US" sz="2800"/>
              <a:t>切换用户名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应用实例</a:t>
            </a:r>
            <a:endParaRPr lang="zh-CN" altLang="en-US" sz="2800"/>
          </a:p>
          <a:p>
            <a:r>
              <a:rPr lang="zh-CN" altLang="en-US" sz="2800"/>
              <a:t>创建一个用户</a:t>
            </a:r>
            <a:r>
              <a:rPr lang="en-US" altLang="zh-CN" sz="2800"/>
              <a:t>jac</a:t>
            </a:r>
            <a:r>
              <a:rPr lang="zh-CN" altLang="en-US" sz="2800"/>
              <a:t>，指定密码，然后切换到</a:t>
            </a:r>
            <a:r>
              <a:rPr lang="en-US" altLang="zh-CN" sz="2800"/>
              <a:t> jack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细节说明</a:t>
            </a:r>
            <a:endParaRPr lang="zh-CN" altLang="en-US" sz="2800"/>
          </a:p>
          <a:p>
            <a:r>
              <a:rPr lang="en-US" altLang="zh-CN" sz="2800"/>
              <a:t>1)   </a:t>
            </a:r>
            <a:r>
              <a:rPr lang="zh-CN" altLang="en-US" sz="2800"/>
              <a:t>从权限高的用户切换到权限低的用户，不需要输入密码，反之需要。</a:t>
            </a:r>
            <a:endParaRPr lang="zh-CN" altLang="en-US" sz="2800"/>
          </a:p>
          <a:p>
            <a:r>
              <a:rPr lang="en-US" altLang="zh-CN" sz="2800"/>
              <a:t>2)    </a:t>
            </a:r>
            <a:r>
              <a:rPr lang="zh-CN" altLang="en-US" sz="2800"/>
              <a:t>当需要返回到原来用户时，使用</a:t>
            </a:r>
            <a:r>
              <a:rPr lang="en-US" altLang="zh-CN" sz="2800"/>
              <a:t> exit/logout </a:t>
            </a:r>
            <a:r>
              <a:rPr lang="zh-CN" altLang="en-US" sz="2800"/>
              <a:t>指令</a:t>
            </a:r>
            <a:endParaRPr lang="zh-CN" altLang="en-US"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20700" y="340360"/>
            <a:ext cx="6379845" cy="3230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查看当前用户</a:t>
            </a:r>
            <a:r>
              <a:rPr lang="en-US" altLang="zh-CN" sz="3600"/>
              <a:t>/</a:t>
            </a:r>
            <a:r>
              <a:rPr lang="zh-CN" altLang="en-US" sz="3600"/>
              <a:t>登录用户</a:t>
            </a:r>
            <a:endParaRPr lang="zh-CN" altLang="en-US" sz="3600"/>
          </a:p>
          <a:p>
            <a:endParaRPr lang="zh-CN" altLang="en-US" sz="2800"/>
          </a:p>
          <a:p>
            <a:r>
              <a:rPr lang="zh-CN" altLang="en-US" sz="2800"/>
              <a:t>基本语法</a:t>
            </a:r>
            <a:endParaRPr lang="zh-CN" altLang="en-US" sz="2800"/>
          </a:p>
          <a:p>
            <a:r>
              <a:rPr lang="en-US" altLang="zh-CN" sz="2800"/>
              <a:t>whoami/ who am I</a:t>
            </a:r>
            <a:endParaRPr lang="en-US" altLang="zh-CN" sz="2800"/>
          </a:p>
          <a:p>
            <a:endParaRPr lang="en-US" altLang="zh-CN" sz="2800"/>
          </a:p>
          <a:p>
            <a:r>
              <a:rPr lang="zh-CN" altLang="en-US" sz="2800"/>
              <a:t>查看当前所有登录到系统的用户列表</a:t>
            </a:r>
            <a:endParaRPr lang="zh-CN" altLang="en-US" sz="2800"/>
          </a:p>
          <a:p>
            <a:r>
              <a:rPr lang="en-US" altLang="zh-CN" sz="2800"/>
              <a:t>who</a:t>
            </a:r>
            <a:endParaRPr lang="en-US" altLang="zh-CN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70535" y="41021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用户组</a:t>
            </a:r>
            <a:endParaRPr lang="zh-CN" altLang="en-US" sz="3600"/>
          </a:p>
        </p:txBody>
      </p:sp>
      <p:sp>
        <p:nvSpPr>
          <p:cNvPr id="3" name="文本框 2"/>
          <p:cNvSpPr txBox="1"/>
          <p:nvPr/>
        </p:nvSpPr>
        <p:spPr>
          <a:xfrm>
            <a:off x="340360" y="1292860"/>
            <a:ext cx="1115187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介绍</a:t>
            </a:r>
            <a:endParaRPr lang="zh-CN" altLang="en-US" sz="2800"/>
          </a:p>
          <a:p>
            <a:r>
              <a:rPr lang="zh-CN" altLang="en-US" sz="2800"/>
              <a:t>类似于角色，系统可以对有共性权限的多个用户进行统一的管理</a:t>
            </a:r>
            <a:endParaRPr lang="zh-CN" altLang="en-US" sz="2800"/>
          </a:p>
        </p:txBody>
      </p:sp>
      <p:pic>
        <p:nvPicPr>
          <p:cNvPr id="170" name="IM 170"/>
          <p:cNvPicPr/>
          <p:nvPr/>
        </p:nvPicPr>
        <p:blipFill>
          <a:blip r:embed="rId1"/>
          <a:stretch>
            <a:fillRect/>
          </a:stretch>
        </p:blipFill>
        <p:spPr>
          <a:xfrm>
            <a:off x="742315" y="2483485"/>
            <a:ext cx="6275705" cy="354774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619365" y="3177540"/>
            <a:ext cx="28702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把权限相同的用户放到一个组中，给组赋一个权限，组中所有的用户就都具有该权限。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0370" y="734060"/>
            <a:ext cx="1143254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新增组</a:t>
            </a:r>
            <a:endParaRPr lang="en-US" altLang="zh-CN" sz="2800"/>
          </a:p>
          <a:p>
            <a:r>
              <a:rPr lang="en-US" altLang="zh-CN" sz="2800"/>
              <a:t>指令 : groupadd  组名</a:t>
            </a:r>
            <a:endParaRPr lang="en-US" altLang="zh-CN" sz="2800"/>
          </a:p>
          <a:p>
            <a:endParaRPr lang="zh-CN" altLang="en-US" sz="2800"/>
          </a:p>
          <a:p>
            <a:r>
              <a:rPr lang="zh-CN" altLang="en-US" sz="2800"/>
              <a:t>删除组</a:t>
            </a:r>
            <a:endParaRPr lang="zh-CN" altLang="en-US" sz="2800"/>
          </a:p>
          <a:p>
            <a:r>
              <a:rPr lang="zh-CN" altLang="en-US" sz="2800"/>
              <a:t>指令：</a:t>
            </a:r>
            <a:r>
              <a:rPr lang="en-US" altLang="zh-CN" sz="2800"/>
              <a:t> groupdel  </a:t>
            </a:r>
            <a:r>
              <a:rPr lang="zh-CN" altLang="en-US" sz="2800"/>
              <a:t>组名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案例演示</a:t>
            </a:r>
            <a:endParaRPr lang="zh-CN" altLang="en-US" sz="2800"/>
          </a:p>
          <a:p>
            <a:r>
              <a:rPr lang="zh-CN" altLang="en-US" sz="2800" b="1">
                <a:solidFill>
                  <a:srgbClr val="FF0000"/>
                </a:solidFill>
              </a:rPr>
              <a:t>通常情况下，添加一个用户，会默认生成一个跟用户名同名的组，并且把该用户放入到这个同名组中。</a:t>
            </a:r>
            <a:r>
              <a:rPr lang="zh-CN" altLang="en-US" sz="2800"/>
              <a:t>如果不想，可以</a:t>
            </a:r>
            <a:r>
              <a:rPr lang="zh-CN" altLang="en-US" sz="2800">
                <a:sym typeface="+mn-ea"/>
              </a:rPr>
              <a:t>添加用户时直接加上组</a:t>
            </a:r>
            <a:endParaRPr lang="zh-CN" altLang="en-US" sz="2800"/>
          </a:p>
          <a:p>
            <a:r>
              <a:rPr lang="en-US" altLang="zh-CN" sz="2800"/>
              <a:t>1)   </a:t>
            </a:r>
            <a:r>
              <a:rPr lang="zh-CN" altLang="en-US" sz="2800"/>
              <a:t>添加</a:t>
            </a:r>
            <a:r>
              <a:rPr lang="zh-CN" altLang="en-US" sz="2800"/>
              <a:t>用户时直接加上组</a:t>
            </a:r>
            <a:endParaRPr lang="zh-CN" altLang="en-US" sz="2800"/>
          </a:p>
          <a:p>
            <a:r>
              <a:rPr lang="en-US" altLang="zh-CN" sz="2800"/>
              <a:t>2)   </a:t>
            </a:r>
            <a:r>
              <a:rPr lang="zh-CN" altLang="en-US" sz="2800"/>
              <a:t>指令</a:t>
            </a:r>
            <a:r>
              <a:rPr lang="en-US" altLang="zh-CN" sz="2800"/>
              <a:t> : useradd     –g  </a:t>
            </a:r>
            <a:r>
              <a:rPr lang="zh-CN" altLang="en-US" sz="2800"/>
              <a:t>用户组</a:t>
            </a:r>
            <a:r>
              <a:rPr lang="en-US" altLang="zh-CN" sz="2800"/>
              <a:t> </a:t>
            </a:r>
            <a:r>
              <a:rPr lang="zh-CN" altLang="en-US" sz="2800"/>
              <a:t>用户名</a:t>
            </a:r>
            <a:endParaRPr lang="zh-CN" altLang="en-US" sz="2800"/>
          </a:p>
          <a:p>
            <a:r>
              <a:rPr lang="en-US" altLang="zh-CN" sz="2800"/>
              <a:t>3)   </a:t>
            </a:r>
            <a:r>
              <a:rPr lang="zh-CN" altLang="en-US" sz="2800"/>
              <a:t>增加一个用户</a:t>
            </a:r>
            <a:r>
              <a:rPr lang="en-US" altLang="zh-CN" sz="2800"/>
              <a:t> zwj,  </a:t>
            </a:r>
            <a:r>
              <a:rPr lang="zh-CN" altLang="en-US" sz="2800"/>
              <a:t>直接将他指定到</a:t>
            </a:r>
            <a:r>
              <a:rPr lang="en-US" altLang="zh-CN" sz="2800"/>
              <a:t> wudang</a:t>
            </a:r>
            <a:endParaRPr lang="en-US" altLang="zh-CN" sz="2800"/>
          </a:p>
          <a:p>
            <a:r>
              <a:rPr lang="en-US" altLang="zh-CN" sz="2800"/>
              <a:t>4)   groupadd wudang</a:t>
            </a:r>
            <a:endParaRPr lang="en-US" altLang="zh-CN" sz="2800"/>
          </a:p>
          <a:p>
            <a:r>
              <a:rPr lang="en-US" altLang="zh-CN" sz="2800"/>
              <a:t>5)   useradd -g wudang zwj</a:t>
            </a:r>
            <a:endParaRPr lang="en-US" altLang="zh-CN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1300" y="108585"/>
            <a:ext cx="11830685" cy="68624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ym typeface="+mn-ea"/>
              </a:rPr>
              <a:t>添加新组</a:t>
            </a:r>
            <a:r>
              <a:rPr lang="en-US" altLang="zh-CN" sz="2000" b="1">
                <a:sym typeface="+mn-ea"/>
              </a:rPr>
              <a:t>group1</a:t>
            </a:r>
            <a:endParaRPr lang="en-US" altLang="zh-CN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groupadd group1</a:t>
            </a:r>
            <a:endParaRPr lang="en-US" altLang="zh-CN" sz="2000" b="1">
              <a:sym typeface="+mn-ea"/>
            </a:endParaRPr>
          </a:p>
          <a:p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修改组的</a:t>
            </a:r>
            <a:r>
              <a:rPr lang="en-US" altLang="zh-CN" sz="2000" b="1">
                <a:sym typeface="+mn-ea"/>
              </a:rPr>
              <a:t>GID</a:t>
            </a:r>
            <a:endParaRPr lang="en-US" altLang="zh-CN" sz="2000" b="1"/>
          </a:p>
          <a:p>
            <a:r>
              <a:rPr lang="zh-CN" altLang="en-US" sz="2000" b="1">
                <a:sym typeface="+mn-ea"/>
              </a:rPr>
              <a:t>指令：</a:t>
            </a:r>
            <a:r>
              <a:rPr lang="en-US" altLang="zh-CN" sz="2000" b="1">
                <a:sym typeface="+mn-ea"/>
              </a:rPr>
              <a:t>gruopmod -g </a:t>
            </a:r>
            <a:r>
              <a:rPr lang="zh-CN" altLang="en-US" sz="2000" b="1">
                <a:sym typeface="+mn-ea"/>
              </a:rPr>
              <a:t>组号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组名</a:t>
            </a:r>
            <a:endParaRPr lang="zh-CN" altLang="en-US" sz="2000" b="1"/>
          </a:p>
          <a:p>
            <a:r>
              <a:rPr lang="zh-CN" altLang="en-US" sz="2000" b="1">
                <a:sym typeface="+mn-ea"/>
              </a:rPr>
              <a:t>修改组群</a:t>
            </a:r>
            <a:r>
              <a:rPr lang="en-US" altLang="zh-CN" sz="2000" b="1">
                <a:sym typeface="+mn-ea"/>
              </a:rPr>
              <a:t>group1</a:t>
            </a:r>
            <a:r>
              <a:rPr lang="zh-CN" altLang="en-US" sz="2000" b="1">
                <a:sym typeface="+mn-ea"/>
              </a:rPr>
              <a:t>的新的</a:t>
            </a:r>
            <a:r>
              <a:rPr lang="en-US" altLang="zh-CN" sz="2000" b="1">
                <a:sym typeface="+mn-ea"/>
              </a:rPr>
              <a:t>GID</a:t>
            </a:r>
            <a:r>
              <a:rPr lang="zh-CN" altLang="en-US" sz="2000" b="1">
                <a:sym typeface="+mn-ea"/>
              </a:rPr>
              <a:t>为</a:t>
            </a:r>
            <a:r>
              <a:rPr lang="en-US" altLang="zh-CN" sz="2000" b="1">
                <a:sym typeface="+mn-ea"/>
              </a:rPr>
              <a:t>900</a:t>
            </a:r>
            <a:r>
              <a:rPr lang="zh-CN" altLang="en-US" sz="2000" b="1">
                <a:sym typeface="+mn-ea"/>
              </a:rPr>
              <a:t>。</a:t>
            </a:r>
            <a:endParaRPr lang="zh-CN" altLang="en-US" sz="2000" b="1"/>
          </a:p>
          <a:p>
            <a:r>
              <a:rPr lang="en-US" altLang="zh-CN" sz="2000" b="1">
                <a:sym typeface="+mn-ea"/>
              </a:rPr>
              <a:t>groupmod -g 900 group1</a:t>
            </a:r>
            <a:endParaRPr lang="en-US" altLang="zh-CN" sz="2000" b="1">
              <a:sym typeface="+mn-ea"/>
            </a:endParaRPr>
          </a:p>
          <a:p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修改组的组名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指令：</a:t>
            </a:r>
            <a:r>
              <a:rPr lang="en-US" altLang="zh-CN" sz="2000" b="1">
                <a:sym typeface="+mn-ea"/>
              </a:rPr>
              <a:t>groupmod -n </a:t>
            </a:r>
            <a:r>
              <a:rPr lang="zh-CN" altLang="en-US" sz="2000" b="1">
                <a:sym typeface="+mn-ea"/>
              </a:rPr>
              <a:t>新组名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旧组名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例子：使用命令修改组群</a:t>
            </a:r>
            <a:r>
              <a:rPr lang="en-US" altLang="zh-CN" sz="2000" b="1">
                <a:sym typeface="+mn-ea"/>
              </a:rPr>
              <a:t>group1</a:t>
            </a:r>
            <a:r>
              <a:rPr lang="zh-CN" altLang="en-US" sz="2000" b="1">
                <a:sym typeface="+mn-ea"/>
              </a:rPr>
              <a:t>的新组群名称为</a:t>
            </a:r>
            <a:r>
              <a:rPr lang="en-US" altLang="zh-CN" sz="2000" b="1">
                <a:sym typeface="+mn-ea"/>
              </a:rPr>
              <a:t>newgroup</a:t>
            </a:r>
            <a:endParaRPr lang="en-US" altLang="zh-CN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groupmod -n newgroup group1</a:t>
            </a:r>
            <a:endParaRPr lang="en-US" altLang="zh-CN" sz="2000" b="1">
              <a:sym typeface="+mn-ea"/>
            </a:endParaRPr>
          </a:p>
          <a:p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设置组的口令（密码）</a:t>
            </a:r>
            <a:endParaRPr lang="en-US" altLang="zh-CN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gpasswd </a:t>
            </a:r>
            <a:r>
              <a:rPr lang="zh-CN" altLang="en-US" sz="2000" b="1">
                <a:sym typeface="+mn-ea"/>
              </a:rPr>
              <a:t>组名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例子：设置组群</a:t>
            </a:r>
            <a:r>
              <a:rPr lang="en-US" altLang="zh-CN" sz="2000" b="1">
                <a:sym typeface="+mn-ea"/>
              </a:rPr>
              <a:t>newgroup</a:t>
            </a:r>
            <a:r>
              <a:rPr lang="zh-CN" altLang="en-US" sz="2000" b="1">
                <a:sym typeface="+mn-ea"/>
              </a:rPr>
              <a:t>的口令为</a:t>
            </a:r>
            <a:r>
              <a:rPr lang="en-US" altLang="zh-CN" sz="2000" b="1">
                <a:sym typeface="+mn-ea"/>
              </a:rPr>
              <a:t>222222</a:t>
            </a:r>
            <a:r>
              <a:rPr lang="zh-CN" altLang="en-US" sz="2000" b="1">
                <a:sym typeface="+mn-ea"/>
              </a:rPr>
              <a:t>。</a:t>
            </a:r>
            <a:endParaRPr lang="zh-CN" altLang="en-US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gpasswd newgroup</a:t>
            </a:r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按提示输入密码：</a:t>
            </a:r>
            <a:r>
              <a:rPr lang="en-US" altLang="zh-CN" sz="2000" b="1">
                <a:sym typeface="+mn-ea"/>
              </a:rPr>
              <a:t>222222</a:t>
            </a:r>
            <a:r>
              <a:rPr lang="zh-CN" altLang="en-US" sz="2000" b="1">
                <a:sym typeface="+mn-ea"/>
              </a:rPr>
              <a:t>，确认密码。</a:t>
            </a:r>
            <a:endParaRPr lang="zh-CN" altLang="en-US" sz="2000" b="1">
              <a:sym typeface="+mn-ea"/>
            </a:endParaRPr>
          </a:p>
          <a:p>
            <a:endParaRPr lang="en-US" altLang="zh-CN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临时切换到指定组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/>
              <a:t>指令：</a:t>
            </a:r>
            <a:r>
              <a:rPr lang="en-US" altLang="zh-CN" sz="2000" b="1"/>
              <a:t>newgrp 组名</a:t>
            </a:r>
            <a:endParaRPr lang="en-US" altLang="zh-CN" sz="2000" b="1"/>
          </a:p>
          <a:p>
            <a:r>
              <a:rPr lang="en-US" altLang="zh-CN" sz="2000" b="1">
                <a:sym typeface="+mn-ea"/>
              </a:rPr>
              <a:t>组密码的作用：把本来不属于该组的当前用户通过指令newgrp 组名</a:t>
            </a:r>
            <a:r>
              <a:rPr lang="zh-CN" altLang="en-US" sz="2000" b="1">
                <a:sym typeface="+mn-ea"/>
              </a:rPr>
              <a:t>临时切换到指定组时需要输入密码</a:t>
            </a:r>
            <a:endParaRPr lang="zh-CN" altLang="en-US" sz="2000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02910" y="108585"/>
            <a:ext cx="609600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ym typeface="+mn-ea"/>
              </a:rPr>
              <a:t>新增组时设置组号：</a:t>
            </a:r>
            <a:endParaRPr lang="en-US" altLang="zh-CN" sz="2000" b="1"/>
          </a:p>
          <a:p>
            <a:r>
              <a:rPr lang="zh-CN" altLang="en-US" sz="2000" b="1">
                <a:sym typeface="+mn-ea"/>
              </a:rPr>
              <a:t>指令：</a:t>
            </a:r>
            <a:r>
              <a:rPr lang="en-US" altLang="zh-CN" sz="2000" b="1">
                <a:sym typeface="+mn-ea"/>
              </a:rPr>
              <a:t>groupadd -g </a:t>
            </a:r>
            <a:r>
              <a:rPr lang="zh-CN" altLang="en-US" sz="2000" b="1">
                <a:sym typeface="+mn-ea"/>
              </a:rPr>
              <a:t>组号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组名</a:t>
            </a:r>
            <a:endParaRPr lang="zh-CN" altLang="en-US" sz="2000" b="1"/>
          </a:p>
          <a:p>
            <a:r>
              <a:rPr lang="zh-CN" altLang="en-US" sz="2000" b="1">
                <a:sym typeface="+mn-ea"/>
              </a:rPr>
              <a:t>例子：使用命令创建组群</a:t>
            </a:r>
            <a:r>
              <a:rPr lang="en-US" altLang="zh-CN" sz="2000" b="1">
                <a:sym typeface="+mn-ea"/>
              </a:rPr>
              <a:t>group1</a:t>
            </a:r>
            <a:r>
              <a:rPr lang="zh-CN" altLang="en-US" sz="2000" b="1">
                <a:sym typeface="+mn-ea"/>
              </a:rPr>
              <a:t>，并且在创建时设置其</a:t>
            </a:r>
            <a:r>
              <a:rPr lang="en-US" altLang="zh-CN" sz="2000" b="1">
                <a:sym typeface="+mn-ea"/>
              </a:rPr>
              <a:t>GID</a:t>
            </a:r>
            <a:r>
              <a:rPr lang="zh-CN" altLang="en-US" sz="2000" b="1">
                <a:sym typeface="+mn-ea"/>
              </a:rPr>
              <a:t>为</a:t>
            </a:r>
            <a:r>
              <a:rPr lang="en-US" altLang="zh-CN" sz="2000" b="1">
                <a:sym typeface="+mn-ea"/>
              </a:rPr>
              <a:t>800</a:t>
            </a:r>
            <a:r>
              <a:rPr lang="zh-CN" altLang="en-US" sz="2000" b="1">
                <a:sym typeface="+mn-ea"/>
              </a:rPr>
              <a:t>。</a:t>
            </a:r>
            <a:endParaRPr lang="zh-CN" altLang="en-US" sz="2000" b="1"/>
          </a:p>
          <a:p>
            <a:r>
              <a:rPr lang="en-US" altLang="zh-CN" sz="2000" b="1">
                <a:sym typeface="+mn-ea"/>
              </a:rPr>
              <a:t>groupadd -g 800 group1</a:t>
            </a:r>
            <a:endParaRPr lang="en-US" altLang="zh-CN" sz="2000" b="1">
              <a:sym typeface="+mn-ea"/>
            </a:endParaRPr>
          </a:p>
          <a:p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删除组：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指令：</a:t>
            </a:r>
            <a:r>
              <a:rPr lang="en-US" altLang="zh-CN" sz="2000" b="1">
                <a:sym typeface="+mn-ea"/>
              </a:rPr>
              <a:t>groupdel </a:t>
            </a:r>
            <a:r>
              <a:rPr lang="zh-CN" altLang="en-US" sz="2000" b="1">
                <a:sym typeface="+mn-ea"/>
              </a:rPr>
              <a:t>组名</a:t>
            </a:r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例子：删除组群</a:t>
            </a:r>
            <a:r>
              <a:rPr lang="en-US" altLang="zh-CN" sz="2000" b="1">
                <a:sym typeface="+mn-ea"/>
              </a:rPr>
              <a:t>newgroup</a:t>
            </a:r>
            <a:endParaRPr lang="zh-CN" altLang="en-US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groupdel newgroup</a:t>
            </a:r>
            <a:endParaRPr lang="en-US" altLang="zh-CN" sz="2000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21780" y="4771390"/>
            <a:ext cx="52419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groups:</a:t>
            </a:r>
            <a:r>
              <a:rPr lang="zh-CN" altLang="en-US" sz="2400" b="1"/>
              <a:t>查看当前回话用户所有的组，包括临时加入的组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12115" y="315595"/>
            <a:ext cx="1022604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修改用户的组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对于已经添加的用户，我们还可以修改它的组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指令：</a:t>
            </a:r>
            <a:r>
              <a:rPr lang="en-US" altLang="zh-CN" sz="2800"/>
              <a:t>usermod     –g  </a:t>
            </a:r>
            <a:r>
              <a:rPr lang="zh-CN" altLang="en-US" sz="2800"/>
              <a:t>用户组</a:t>
            </a:r>
            <a:r>
              <a:rPr lang="en-US" altLang="zh-CN" sz="2800"/>
              <a:t> </a:t>
            </a:r>
            <a:r>
              <a:rPr lang="zh-CN" altLang="en-US" sz="2800"/>
              <a:t>用户名</a:t>
            </a:r>
            <a:endParaRPr lang="zh-CN" altLang="en-US" sz="2800"/>
          </a:p>
          <a:p>
            <a:r>
              <a:rPr lang="zh-CN" altLang="en-US" sz="2800"/>
              <a:t>案例演示</a:t>
            </a:r>
            <a:endParaRPr lang="zh-CN" altLang="en-US" sz="2800"/>
          </a:p>
          <a:p>
            <a:r>
              <a:rPr lang="zh-CN" altLang="en-US" sz="2800"/>
              <a:t>创建一个组</a:t>
            </a:r>
            <a:r>
              <a:rPr lang="en-US" altLang="zh-CN" sz="2800"/>
              <a:t> mojiao</a:t>
            </a:r>
            <a:endParaRPr lang="en-US" altLang="zh-CN" sz="2800"/>
          </a:p>
          <a:p>
            <a:r>
              <a:rPr lang="zh-CN" altLang="en-US" sz="2800"/>
              <a:t>把</a:t>
            </a:r>
            <a:r>
              <a:rPr lang="en-US" altLang="zh-CN" sz="2800"/>
              <a:t> zwj    </a:t>
            </a:r>
            <a:r>
              <a:rPr lang="zh-CN" altLang="en-US" sz="2800"/>
              <a:t>放入到</a:t>
            </a:r>
            <a:r>
              <a:rPr lang="en-US" altLang="zh-CN" sz="2800"/>
              <a:t> mojiao</a:t>
            </a:r>
            <a:endParaRPr lang="en-US" altLang="zh-CN" sz="2800"/>
          </a:p>
          <a:p>
            <a:r>
              <a:rPr lang="zh-CN" altLang="en-US" sz="2800"/>
              <a:t>指令</a:t>
            </a:r>
            <a:r>
              <a:rPr lang="en-US" altLang="zh-CN" sz="2800"/>
              <a:t>: usermod -g mojiao zwj</a:t>
            </a:r>
            <a:endParaRPr lang="en-US" altLang="zh-CN" sz="2800"/>
          </a:p>
          <a:p>
            <a:endParaRPr lang="zh-CN" altLang="en-US" sz="28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84225" y="367030"/>
            <a:ext cx="9015095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None/>
            </a:pPr>
            <a:r>
              <a:rPr lang="zh-CN" altLang="en-US" sz="2800" b="1">
                <a:sym typeface="+mn-ea"/>
              </a:rPr>
              <a:t>添加</a:t>
            </a:r>
            <a:r>
              <a:rPr lang="en-US" altLang="zh-CN" sz="2800" b="1">
                <a:sym typeface="+mn-ea"/>
              </a:rPr>
              <a:t>/</a:t>
            </a:r>
            <a:r>
              <a:rPr lang="zh-CN" altLang="en-US" sz="2800" b="1">
                <a:sym typeface="+mn-ea"/>
              </a:rPr>
              <a:t>修改用户的备注（详细）信息</a:t>
            </a:r>
            <a:endParaRPr lang="zh-CN" altLang="en-US" sz="2800" b="1"/>
          </a:p>
          <a:p>
            <a:pPr algn="l">
              <a:buClrTx/>
              <a:buSzTx/>
              <a:buNone/>
            </a:pPr>
            <a:r>
              <a:rPr lang="zh-CN" altLang="en-US" sz="2800" b="1">
                <a:sym typeface="+mn-ea"/>
              </a:rPr>
              <a:t>指令：</a:t>
            </a:r>
            <a:r>
              <a:rPr lang="en-US" altLang="zh-CN" sz="2800" b="1">
                <a:sym typeface="+mn-ea"/>
              </a:rPr>
              <a:t>usermod     –c  </a:t>
            </a:r>
            <a:r>
              <a:rPr lang="zh-CN" altLang="en-US" sz="2800" b="1">
                <a:sym typeface="+mn-ea"/>
              </a:rPr>
              <a:t>备注（详细）信息</a:t>
            </a:r>
            <a:r>
              <a:rPr lang="en-US" altLang="zh-CN" sz="2800" b="1">
                <a:sym typeface="+mn-ea"/>
              </a:rPr>
              <a:t> </a:t>
            </a:r>
            <a:r>
              <a:rPr lang="zh-CN" altLang="en-US" sz="2800" b="1">
                <a:sym typeface="+mn-ea"/>
              </a:rPr>
              <a:t>用户名</a:t>
            </a:r>
            <a:endParaRPr lang="en-US" altLang="zh-CN" sz="2800" b="1"/>
          </a:p>
          <a:p>
            <a:pPr algn="l">
              <a:buClrTx/>
              <a:buSzTx/>
              <a:buNone/>
            </a:pPr>
            <a:r>
              <a:rPr lang="en-US" altLang="zh-CN" sz="2800" b="1">
                <a:sym typeface="+mn-ea"/>
              </a:rPr>
              <a:t>usermod -c "</a:t>
            </a:r>
            <a:r>
              <a:rPr lang="zh-CN" altLang="en-US" sz="2800" b="1">
                <a:sym typeface="+mn-ea"/>
              </a:rPr>
              <a:t>张三</a:t>
            </a:r>
            <a:r>
              <a:rPr lang="en-US" altLang="zh-CN" sz="2800" b="1">
                <a:sym typeface="+mn-ea"/>
              </a:rPr>
              <a:t>,B705,5711111,0455-8301234" zhangsan</a:t>
            </a:r>
            <a:endParaRPr lang="en-US" altLang="zh-CN" sz="2800" b="1"/>
          </a:p>
          <a:p>
            <a:pPr algn="l">
              <a:buClrTx/>
              <a:buSzTx/>
              <a:buNone/>
            </a:pPr>
            <a:r>
              <a:rPr lang="zh-CN" altLang="en-US" sz="2800" b="1">
                <a:sym typeface="+mn-ea"/>
              </a:rPr>
              <a:t>锁定用户使其不可登录：</a:t>
            </a:r>
            <a:r>
              <a:rPr lang="en-US" altLang="zh-CN" sz="2800" b="1">
                <a:sym typeface="+mn-ea"/>
              </a:rPr>
              <a:t>usermod -L zhangsan</a:t>
            </a:r>
            <a:endParaRPr lang="en-US" altLang="zh-CN" sz="2800" b="1"/>
          </a:p>
          <a:p>
            <a:pPr algn="l">
              <a:buClrTx/>
              <a:buSzTx/>
              <a:buNone/>
            </a:pPr>
            <a:r>
              <a:rPr lang="zh-CN" altLang="en-US" sz="2800" b="1">
                <a:sym typeface="+mn-ea"/>
              </a:rPr>
              <a:t>解锁用户使其正常登录：</a:t>
            </a:r>
            <a:r>
              <a:rPr lang="en-US" altLang="zh-CN" sz="2800" b="1">
                <a:sym typeface="+mn-ea"/>
              </a:rPr>
              <a:t>usermod -U zhangsan</a:t>
            </a:r>
            <a:endParaRPr lang="zh-CN" altLang="en-US" sz="2800" b="1"/>
          </a:p>
          <a:p>
            <a:pPr algn="l">
              <a:buClrTx/>
              <a:buSzTx/>
              <a:buNone/>
            </a:pPr>
            <a:endParaRPr lang="zh-CN" altLang="en-US" sz="2800" b="1"/>
          </a:p>
          <a:p>
            <a:pPr algn="l">
              <a:buClrTx/>
              <a:buSzTx/>
              <a:buNone/>
            </a:pPr>
            <a:r>
              <a:rPr lang="zh-CN" altLang="en-US" sz="2800" b="1"/>
              <a:t>修改用户的用户名</a:t>
            </a:r>
            <a:endParaRPr lang="zh-CN" altLang="en-US" sz="2800" b="1"/>
          </a:p>
          <a:p>
            <a:pPr algn="l">
              <a:buClrTx/>
              <a:buSzTx/>
              <a:buNone/>
            </a:pPr>
            <a:r>
              <a:rPr lang="en-US" altLang="zh-CN" sz="2800" b="1"/>
              <a:t>usermod -l </a:t>
            </a:r>
            <a:r>
              <a:rPr lang="zh-CN" altLang="en-US" sz="2800" b="1"/>
              <a:t>新用户名</a:t>
            </a:r>
            <a:r>
              <a:rPr lang="en-US" altLang="zh-CN" sz="2800" b="1"/>
              <a:t> </a:t>
            </a:r>
            <a:r>
              <a:rPr lang="zh-CN" altLang="en-US" sz="2800" b="1"/>
              <a:t>旧用户名</a:t>
            </a:r>
            <a:endParaRPr lang="en-US" altLang="zh-CN" sz="2800" b="1"/>
          </a:p>
          <a:p>
            <a:pPr algn="l">
              <a:buClrTx/>
              <a:buSzTx/>
              <a:buNone/>
            </a:pPr>
            <a:r>
              <a:rPr lang="en-US" altLang="zh-CN" sz="2800" b="1"/>
              <a:t>修改用户zhangsan的登录名为zhaoliu。</a:t>
            </a:r>
            <a:endParaRPr lang="en-US" altLang="zh-CN" sz="2800" b="1"/>
          </a:p>
          <a:p>
            <a:pPr algn="l">
              <a:buClrTx/>
              <a:buSzTx/>
              <a:buNone/>
            </a:pPr>
            <a:r>
              <a:rPr lang="en-US" altLang="zh-CN" sz="2800" b="1"/>
              <a:t>usermod -l zhaoliu zhangsan</a:t>
            </a:r>
            <a:endParaRPr lang="en-US" altLang="zh-CN" sz="2800" b="1"/>
          </a:p>
          <a:p>
            <a:pPr algn="l">
              <a:buClrTx/>
              <a:buSzTx/>
              <a:buNone/>
            </a:pPr>
            <a:endParaRPr lang="en-US" altLang="zh-CN" sz="2800" b="1"/>
          </a:p>
          <a:p>
            <a:pPr algn="l">
              <a:buClrTx/>
              <a:buSzTx/>
              <a:buNone/>
            </a:pPr>
            <a:r>
              <a:rPr lang="zh-CN" altLang="en-US" sz="2800" b="1"/>
              <a:t>修改用户</a:t>
            </a:r>
            <a:r>
              <a:rPr lang="zh-CN" sz="2800" b="1"/>
              <a:t>的</a:t>
            </a:r>
            <a:r>
              <a:rPr lang="zh-CN" altLang="en-US" sz="2800" b="1"/>
              <a:t>全称</a:t>
            </a:r>
            <a:endParaRPr lang="zh-CN" altLang="en-US" sz="2800" b="1"/>
          </a:p>
          <a:p>
            <a:pPr algn="l">
              <a:buClrTx/>
              <a:buSzTx/>
              <a:buNone/>
            </a:pPr>
            <a:r>
              <a:rPr lang="en-US" altLang="zh-CN" sz="2800" b="1">
                <a:sym typeface="+mn-ea"/>
              </a:rPr>
              <a:t>usermod -c "</a:t>
            </a:r>
            <a:r>
              <a:rPr lang="zh-CN" altLang="en-US" sz="2800" b="1">
                <a:sym typeface="+mn-ea"/>
              </a:rPr>
              <a:t>新全称</a:t>
            </a:r>
            <a:r>
              <a:rPr lang="en-US" altLang="zh-CN" sz="2800" b="1">
                <a:sym typeface="+mn-ea"/>
              </a:rPr>
              <a:t>" </a:t>
            </a:r>
            <a:r>
              <a:rPr lang="zh-CN" altLang="en-US" sz="2800" b="1">
                <a:sym typeface="+mn-ea"/>
              </a:rPr>
              <a:t>用户名</a:t>
            </a:r>
            <a:endParaRPr lang="zh-CN" altLang="en-US" sz="2800" b="1"/>
          </a:p>
          <a:p>
            <a:pPr algn="l">
              <a:buClrTx/>
              <a:buSzTx/>
              <a:buNone/>
            </a:pPr>
            <a:r>
              <a:rPr lang="en-US" altLang="zh-CN" sz="2800" b="1"/>
              <a:t>usermod -c "</a:t>
            </a:r>
            <a:r>
              <a:rPr lang="zh-CN" altLang="en-US" sz="2800" b="1"/>
              <a:t>张三三</a:t>
            </a:r>
            <a:r>
              <a:rPr lang="en-US" altLang="zh-CN" sz="2800" b="1"/>
              <a:t>" zhangsan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0530" y="661035"/>
            <a:ext cx="11353800" cy="30149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用户和组相关文件</a:t>
            </a:r>
            <a:endParaRPr lang="zh-CN" altLang="en-US" sz="3200"/>
          </a:p>
          <a:p>
            <a:endParaRPr lang="en-US" altLang="zh-CN"/>
          </a:p>
          <a:p>
            <a:r>
              <a:rPr lang="en-US" altLang="zh-CN" sz="2800" b="1"/>
              <a:t>/etc/passwd  </a:t>
            </a:r>
            <a:r>
              <a:rPr lang="zh-CN" altLang="en-US" sz="2800" b="1"/>
              <a:t>文件</a:t>
            </a:r>
            <a:endParaRPr lang="zh-CN" altLang="en-US" sz="2800" b="1"/>
          </a:p>
          <a:p>
            <a:r>
              <a:rPr lang="zh-CN" altLang="en-US" sz="2800"/>
              <a:t>用户（</a:t>
            </a:r>
            <a:r>
              <a:rPr lang="en-US" altLang="zh-CN" sz="2800"/>
              <a:t>user</a:t>
            </a:r>
            <a:r>
              <a:rPr lang="zh-CN" altLang="en-US" sz="2800"/>
              <a:t>）的配置文件，记录用户的各种信息</a:t>
            </a:r>
            <a:endParaRPr lang="zh-CN" altLang="en-US" sz="2800"/>
          </a:p>
          <a:p>
            <a:r>
              <a:rPr lang="zh-CN" altLang="en-US" sz="2800"/>
              <a:t>每行的含义：用户名</a:t>
            </a:r>
            <a:r>
              <a:rPr lang="en-US" altLang="zh-CN" sz="2800"/>
              <a:t>:</a:t>
            </a:r>
            <a:r>
              <a:rPr lang="zh-CN" altLang="en-US" sz="2800"/>
              <a:t>口令</a:t>
            </a:r>
            <a:r>
              <a:rPr lang="en-US" altLang="zh-CN" sz="2800"/>
              <a:t>x:</a:t>
            </a:r>
            <a:r>
              <a:rPr lang="zh-CN" altLang="en-US" sz="2800"/>
              <a:t>用户标识号</a:t>
            </a:r>
            <a:r>
              <a:rPr lang="en-US" altLang="zh-CN" sz="2800"/>
              <a:t>UID:</a:t>
            </a:r>
            <a:r>
              <a:rPr lang="zh-CN" altLang="en-US" sz="2800"/>
              <a:t>组标识号</a:t>
            </a:r>
            <a:r>
              <a:rPr lang="en-US" altLang="zh-CN" sz="2800"/>
              <a:t>GID:</a:t>
            </a:r>
            <a:r>
              <a:rPr lang="zh-CN" altLang="en-US" sz="2800"/>
              <a:t>注释性描述</a:t>
            </a:r>
            <a:r>
              <a:rPr lang="en-US" altLang="zh-CN" sz="2800"/>
              <a:t>:</a:t>
            </a:r>
            <a:r>
              <a:rPr lang="zh-CN" altLang="en-US" sz="2800"/>
              <a:t>主目录</a:t>
            </a:r>
            <a:r>
              <a:rPr lang="en-US" altLang="zh-CN" sz="2800"/>
              <a:t>:</a:t>
            </a:r>
            <a:r>
              <a:rPr lang="zh-CN" altLang="en-US" sz="2800"/>
              <a:t>登录</a:t>
            </a:r>
            <a:r>
              <a:rPr lang="en-US" altLang="zh-CN" sz="2800"/>
              <a:t> Shell</a:t>
            </a:r>
            <a:endParaRPr lang="en-US" altLang="zh-CN" sz="2800"/>
          </a:p>
          <a:p>
            <a:endParaRPr lang="zh-CN" altLang="en-US" sz="2800"/>
          </a:p>
        </p:txBody>
      </p:sp>
      <p:pic>
        <p:nvPicPr>
          <p:cNvPr id="174" name="IM 174"/>
          <p:cNvPicPr/>
          <p:nvPr/>
        </p:nvPicPr>
        <p:blipFill>
          <a:blip r:embed="rId1"/>
          <a:stretch>
            <a:fillRect/>
          </a:stretch>
        </p:blipFill>
        <p:spPr>
          <a:xfrm>
            <a:off x="671195" y="3509010"/>
            <a:ext cx="4955540" cy="28181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46545" y="3043555"/>
            <a:ext cx="53263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shell</a:t>
            </a:r>
            <a:r>
              <a:rPr lang="zh-CN" altLang="en-US">
                <a:sym typeface="+mn-ea"/>
              </a:rPr>
              <a:t>是命令解释器，在</a:t>
            </a:r>
            <a:r>
              <a:rPr lang="en-US" altLang="zh-CN">
                <a:sym typeface="+mn-ea"/>
              </a:rPr>
              <a:t>CentOS7.6</a:t>
            </a:r>
            <a:r>
              <a:rPr lang="zh-CN" altLang="en-US">
                <a:sym typeface="+mn-ea"/>
              </a:rPr>
              <a:t>中默认是</a:t>
            </a:r>
            <a:r>
              <a:rPr lang="en-US" altLang="zh-CN">
                <a:sym typeface="+mn-ea"/>
              </a:rPr>
              <a:t>bash</a:t>
            </a:r>
            <a:endParaRPr lang="zh-CN" altLang="en-US"/>
          </a:p>
          <a:p>
            <a:r>
              <a:rPr lang="zh-CN" altLang="en-US">
                <a:sym typeface="+mn-ea"/>
              </a:rPr>
              <a:t>打开一个新的本地终端</a:t>
            </a:r>
            <a:r>
              <a:rPr lang="zh-CN" altLang="en-US">
                <a:sym typeface="+mn-ea"/>
              </a:rPr>
              <a:t>时</a:t>
            </a:r>
            <a:endParaRPr lang="zh-CN" altLang="en-US"/>
          </a:p>
          <a:p>
            <a:r>
              <a:rPr lang="zh-CN" altLang="en-US">
                <a:sym typeface="+mn-ea"/>
              </a:rPr>
              <a:t>使用</a:t>
            </a:r>
            <a:r>
              <a:rPr lang="en-US" altLang="zh-CN">
                <a:sym typeface="+mn-ea"/>
              </a:rPr>
              <a:t>xshell</a:t>
            </a:r>
            <a:r>
              <a:rPr lang="zh-CN" altLang="en-US">
                <a:sym typeface="+mn-ea"/>
              </a:rPr>
              <a:t>远程登录时</a:t>
            </a:r>
            <a:endParaRPr lang="zh-CN" altLang="en-US"/>
          </a:p>
          <a:p>
            <a:r>
              <a:rPr lang="en-US" altLang="zh-CN">
                <a:sym typeface="+mn-ea"/>
              </a:rPr>
              <a:t>su - </a:t>
            </a:r>
            <a:r>
              <a:rPr lang="zh-CN" altLang="en-US">
                <a:sym typeface="+mn-ea"/>
              </a:rPr>
              <a:t>用户名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切换用户时</a:t>
            </a:r>
            <a:endParaRPr lang="zh-CN" altLang="en-US"/>
          </a:p>
          <a:p>
            <a:r>
              <a:rPr lang="en-US" altLang="zh-CN">
                <a:sym typeface="+mn-ea"/>
              </a:rPr>
              <a:t>sudo -i </a:t>
            </a:r>
            <a:r>
              <a:rPr lang="zh-CN" altLang="en-US">
                <a:sym typeface="+mn-ea"/>
              </a:rPr>
              <a:t>切换到</a:t>
            </a:r>
            <a:r>
              <a:rPr lang="en-US" altLang="zh-CN">
                <a:sym typeface="+mn-ea"/>
              </a:rPr>
              <a:t>root</a:t>
            </a:r>
            <a:r>
              <a:rPr lang="zh-CN" altLang="en-US">
                <a:sym typeface="+mn-ea"/>
              </a:rPr>
              <a:t>用户时</a:t>
            </a:r>
            <a:endParaRPr lang="zh-CN" altLang="en-US"/>
          </a:p>
          <a:p>
            <a:r>
              <a:rPr lang="zh-CN" altLang="en-US">
                <a:sym typeface="+mn-ea"/>
              </a:rPr>
              <a:t>直接输入</a:t>
            </a:r>
            <a:r>
              <a:rPr lang="en-US" altLang="zh-CN">
                <a:sym typeface="+mn-ea"/>
              </a:rPr>
              <a:t>bash</a:t>
            </a:r>
            <a:r>
              <a:rPr lang="zh-CN" altLang="en-US">
                <a:sym typeface="+mn-ea"/>
              </a:rPr>
              <a:t>命令时</a:t>
            </a:r>
            <a:endParaRPr lang="zh-CN" altLang="en-US"/>
          </a:p>
          <a:p>
            <a:r>
              <a:rPr lang="zh-CN" altLang="en-US">
                <a:sym typeface="+mn-ea"/>
              </a:rPr>
              <a:t>运行普通脚本时</a:t>
            </a:r>
            <a:endParaRPr lang="zh-CN" altLang="en-US"/>
          </a:p>
          <a:p>
            <a:r>
              <a:rPr lang="zh-CN" altLang="en-US">
                <a:sym typeface="+mn-ea"/>
              </a:rPr>
              <a:t>都会启动一个新的</a:t>
            </a:r>
            <a:r>
              <a:rPr lang="en-US" altLang="zh-CN">
                <a:sym typeface="+mn-ea"/>
              </a:rPr>
              <a:t>shell</a:t>
            </a:r>
            <a:endParaRPr lang="en-US" altLang="zh-CN"/>
          </a:p>
          <a:p>
            <a:r>
              <a:rPr lang="en-US" altLang="zh-CN"/>
              <a:t>cd /bin   </a:t>
            </a:r>
            <a:endParaRPr lang="en-US" altLang="zh-CN"/>
          </a:p>
          <a:p>
            <a:r>
              <a:rPr lang="en-US" altLang="zh-CN" b="1"/>
              <a:t>ls -l *sh</a:t>
            </a:r>
            <a:r>
              <a:rPr lang="en-US" altLang="zh-CN"/>
              <a:t>    </a:t>
            </a:r>
            <a:r>
              <a:rPr lang="en-US" altLang="zh-CN">
                <a:sym typeface="+mn-ea"/>
              </a:rPr>
              <a:t>*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shell</a:t>
            </a:r>
            <a:r>
              <a:rPr lang="zh-CN" altLang="en-US">
                <a:sym typeface="+mn-ea"/>
              </a:rPr>
              <a:t>通配符，表示任意多个字符</a:t>
            </a:r>
            <a:endParaRPr lang="en-US" altLang="zh-CN"/>
          </a:p>
          <a:p>
            <a:r>
              <a:rPr lang="zh-CN" altLang="en-US"/>
              <a:t>意思是查看当前目录下</a:t>
            </a:r>
            <a:r>
              <a:rPr lang="en-US" altLang="zh-CN"/>
              <a:t>  </a:t>
            </a:r>
            <a:r>
              <a:rPr lang="zh-CN" altLang="en-US"/>
              <a:t>以</a:t>
            </a:r>
            <a:r>
              <a:rPr lang="en-US" altLang="zh-CN"/>
              <a:t>sh</a:t>
            </a:r>
            <a:r>
              <a:rPr lang="zh-CN" altLang="en-US"/>
              <a:t>结尾的文件和目录</a:t>
            </a:r>
            <a:endParaRPr lang="zh-CN" altLang="en-US"/>
          </a:p>
          <a:p>
            <a:r>
              <a:rPr lang="en-US" altLang="zh-CN" b="1"/>
              <a:t>ls -l | grep sh$</a:t>
            </a:r>
            <a:r>
              <a:rPr lang="en-US" altLang="zh-CN"/>
              <a:t>   sh$</a:t>
            </a:r>
            <a:r>
              <a:rPr lang="zh-CN" altLang="en-US"/>
              <a:t>是</a:t>
            </a:r>
            <a:r>
              <a:rPr lang="en-US" altLang="zh-CN"/>
              <a:t>grep</a:t>
            </a:r>
            <a:r>
              <a:rPr lang="zh-CN" altLang="en-US"/>
              <a:t>正则，以</a:t>
            </a:r>
            <a:r>
              <a:rPr lang="en-US" altLang="zh-CN"/>
              <a:t>sh</a:t>
            </a:r>
            <a:r>
              <a:rPr lang="zh-CN" altLang="en-US"/>
              <a:t>结尾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10870" y="340360"/>
            <a:ext cx="1111250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ym typeface="+mn-ea"/>
              </a:rPr>
              <a:t>shell</a:t>
            </a:r>
            <a:r>
              <a:rPr lang="zh-CN" altLang="en-US" sz="2800" b="1">
                <a:sym typeface="+mn-ea"/>
              </a:rPr>
              <a:t>通配符（常与</a:t>
            </a:r>
            <a:r>
              <a:rPr lang="en-US" altLang="zh-CN" sz="2800" b="1">
                <a:sym typeface="+mn-ea"/>
              </a:rPr>
              <a:t>ls</a:t>
            </a:r>
            <a:r>
              <a:rPr lang="zh-CN" altLang="en-US" sz="2800" b="1">
                <a:sym typeface="+mn-ea"/>
              </a:rPr>
              <a:t>、</a:t>
            </a:r>
            <a:r>
              <a:rPr lang="en-US" altLang="zh-CN" sz="2800" b="1">
                <a:sym typeface="+mn-ea"/>
              </a:rPr>
              <a:t>cp</a:t>
            </a:r>
            <a:r>
              <a:rPr lang="zh-CN" altLang="en-US" sz="2800" b="1">
                <a:sym typeface="+mn-ea"/>
              </a:rPr>
              <a:t>、</a:t>
            </a:r>
            <a:r>
              <a:rPr lang="en-US" altLang="zh-CN" sz="2800" b="1">
                <a:sym typeface="+mn-ea"/>
              </a:rPr>
              <a:t>mv</a:t>
            </a:r>
            <a:r>
              <a:rPr lang="zh-CN" altLang="en-US" sz="2800" b="1">
                <a:sym typeface="+mn-ea"/>
              </a:rPr>
              <a:t>、</a:t>
            </a:r>
            <a:r>
              <a:rPr lang="en-US" altLang="zh-CN" sz="2800" b="1">
                <a:sym typeface="+mn-ea"/>
              </a:rPr>
              <a:t>rm</a:t>
            </a:r>
            <a:r>
              <a:rPr lang="zh-CN" altLang="en-US" sz="2800" b="1">
                <a:sym typeface="+mn-ea"/>
              </a:rPr>
              <a:t>、</a:t>
            </a:r>
            <a:r>
              <a:rPr lang="en-US" altLang="zh-CN" sz="2800" b="1">
                <a:sym typeface="+mn-ea"/>
              </a:rPr>
              <a:t>cat</a:t>
            </a:r>
            <a:r>
              <a:rPr lang="zh-CN" altLang="en-US" sz="2800" b="1">
                <a:sym typeface="+mn-ea"/>
              </a:rPr>
              <a:t>等配合使用）</a:t>
            </a:r>
            <a:endParaRPr lang="zh-CN" altLang="en-US" sz="2800" b="1"/>
          </a:p>
          <a:p>
            <a:r>
              <a:rPr lang="en-US" altLang="zh-CN" sz="2800">
                <a:sym typeface="+mn-ea"/>
              </a:rPr>
              <a:t>*</a:t>
            </a:r>
            <a:r>
              <a:rPr lang="zh-CN" altLang="en-US" sz="2800">
                <a:sym typeface="+mn-ea"/>
              </a:rPr>
              <a:t>：任意多个字符</a:t>
            </a:r>
            <a:r>
              <a:rPr lang="en-US" altLang="zh-CN" sz="2800">
                <a:sym typeface="+mn-ea"/>
              </a:rPr>
              <a:t>   *sh </a:t>
            </a:r>
            <a:r>
              <a:rPr lang="zh-CN" altLang="en-US" sz="2800">
                <a:sym typeface="+mn-ea"/>
              </a:rPr>
              <a:t>以</a:t>
            </a:r>
            <a:r>
              <a:rPr lang="en-US" altLang="zh-CN" sz="2800">
                <a:sym typeface="+mn-ea"/>
              </a:rPr>
              <a:t>sh</a:t>
            </a:r>
            <a:r>
              <a:rPr lang="zh-CN" altLang="en-US" sz="2800">
                <a:sym typeface="+mn-ea"/>
              </a:rPr>
              <a:t>结尾，前边有任意多个字符</a:t>
            </a:r>
            <a:endParaRPr lang="zh-CN" altLang="en-US" sz="2800">
              <a:sym typeface="+mn-ea"/>
            </a:endParaRPr>
          </a:p>
          <a:p>
            <a:r>
              <a:rPr lang="zh-CN" altLang="en-US" sz="2800"/>
              <a:t>示例：</a:t>
            </a:r>
            <a:r>
              <a:rPr lang="en-US" altLang="zh-CN" sz="2800"/>
              <a:t> ls *sh      </a:t>
            </a:r>
            <a:r>
              <a:rPr lang="zh-CN" altLang="en-US" sz="2800"/>
              <a:t>列出所有以</a:t>
            </a:r>
            <a:r>
              <a:rPr lang="en-US" altLang="zh-CN" sz="2800"/>
              <a:t>sh</a:t>
            </a:r>
            <a:r>
              <a:rPr lang="zh-CN" altLang="en-US" sz="2800"/>
              <a:t>结尾的文件</a:t>
            </a:r>
            <a:endParaRPr lang="en-US" altLang="zh-CN" sz="2800"/>
          </a:p>
          <a:p>
            <a:r>
              <a:rPr lang="zh-CN" altLang="en-US" sz="2800">
                <a:sym typeface="+mn-ea"/>
              </a:rPr>
              <a:t>示例：</a:t>
            </a:r>
            <a:r>
              <a:rPr lang="en-US" altLang="zh-CN" sz="2800">
                <a:sym typeface="+mn-ea"/>
              </a:rPr>
              <a:t>ls test*    </a:t>
            </a:r>
            <a:r>
              <a:rPr lang="zh-CN" altLang="en-US" sz="2800">
                <a:sym typeface="+mn-ea"/>
              </a:rPr>
              <a:t>列出所有以</a:t>
            </a:r>
            <a:r>
              <a:rPr lang="en-US" altLang="zh-CN" sz="2800">
                <a:sym typeface="+mn-ea"/>
              </a:rPr>
              <a:t>test</a:t>
            </a:r>
            <a:r>
              <a:rPr lang="zh-CN" altLang="en-US" sz="2800">
                <a:sym typeface="+mn-ea"/>
              </a:rPr>
              <a:t>开头的文件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示例：</a:t>
            </a:r>
            <a:r>
              <a:rPr lang="en-US" altLang="zh-CN" sz="2800">
                <a:sym typeface="+mn-ea"/>
              </a:rPr>
              <a:t> ls /home/*abc*  </a:t>
            </a:r>
            <a:r>
              <a:rPr lang="zh-CN" altLang="en-US" sz="2800">
                <a:sym typeface="+mn-ea"/>
              </a:rPr>
              <a:t>列出</a:t>
            </a:r>
            <a:r>
              <a:rPr lang="en-US" altLang="zh-CN" sz="2800">
                <a:sym typeface="+mn-ea"/>
              </a:rPr>
              <a:t>/home</a:t>
            </a:r>
            <a:r>
              <a:rPr lang="zh-CN" altLang="en-US" sz="2800">
                <a:sym typeface="+mn-ea"/>
              </a:rPr>
              <a:t>目录下包含</a:t>
            </a:r>
            <a:r>
              <a:rPr lang="en-US" altLang="zh-CN" sz="2800">
                <a:sym typeface="+mn-ea"/>
              </a:rPr>
              <a:t>abc</a:t>
            </a:r>
            <a:r>
              <a:rPr lang="zh-CN" altLang="en-US" sz="2800">
                <a:sym typeface="+mn-ea"/>
              </a:rPr>
              <a:t>的文件</a:t>
            </a:r>
            <a:endParaRPr lang="zh-CN" altLang="en-US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？任意一个字符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示例：</a:t>
            </a:r>
            <a:r>
              <a:rPr lang="en-US" altLang="zh-CN" sz="2800">
                <a:sym typeface="+mn-ea"/>
              </a:rPr>
              <a:t> ls file</a:t>
            </a:r>
            <a:r>
              <a:rPr lang="zh-CN" altLang="en-US" sz="2800">
                <a:sym typeface="+mn-ea"/>
              </a:rPr>
              <a:t>？</a:t>
            </a:r>
            <a:r>
              <a:rPr lang="en-US" altLang="zh-CN" sz="2800">
                <a:sym typeface="+mn-ea"/>
              </a:rPr>
              <a:t>  </a:t>
            </a:r>
            <a:r>
              <a:rPr lang="zh-CN" altLang="en-US" sz="2800">
                <a:sym typeface="+mn-ea"/>
              </a:rPr>
              <a:t>匹配</a:t>
            </a:r>
            <a:r>
              <a:rPr lang="en-US" altLang="zh-CN" sz="2800">
                <a:sym typeface="+mn-ea"/>
              </a:rPr>
              <a:t>file1</a:t>
            </a:r>
            <a:r>
              <a:rPr lang="zh-CN" altLang="en-US" sz="2800">
                <a:sym typeface="+mn-ea"/>
              </a:rPr>
              <a:t>、</a:t>
            </a:r>
            <a:r>
              <a:rPr lang="en-US" altLang="zh-CN" sz="2800">
                <a:sym typeface="+mn-ea"/>
              </a:rPr>
              <a:t>file2</a:t>
            </a:r>
            <a:r>
              <a:rPr lang="zh-CN" altLang="en-US" sz="2800">
                <a:sym typeface="+mn-ea"/>
              </a:rPr>
              <a:t>、</a:t>
            </a:r>
            <a:r>
              <a:rPr lang="en-US" altLang="zh-CN" sz="2800">
                <a:sym typeface="+mn-ea"/>
              </a:rPr>
              <a:t>filea</a:t>
            </a:r>
            <a:r>
              <a:rPr lang="zh-CN" altLang="en-US" sz="2800">
                <a:sym typeface="+mn-ea"/>
              </a:rPr>
              <a:t>等文件（即</a:t>
            </a:r>
            <a:r>
              <a:rPr lang="en-US" altLang="zh-CN" sz="2800">
                <a:sym typeface="+mn-ea"/>
              </a:rPr>
              <a:t>file</a:t>
            </a:r>
            <a:r>
              <a:rPr lang="zh-CN" altLang="en-US" sz="2800">
                <a:sym typeface="+mn-ea"/>
              </a:rPr>
              <a:t>后有</a:t>
            </a:r>
            <a:r>
              <a:rPr lang="en-US" altLang="zh-CN" sz="2800">
                <a:sym typeface="+mn-ea"/>
              </a:rPr>
              <a:t>1</a:t>
            </a:r>
            <a:r>
              <a:rPr lang="zh-CN" altLang="en-US" sz="2800">
                <a:sym typeface="+mn-ea"/>
              </a:rPr>
              <a:t>个字符）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示例：</a:t>
            </a:r>
            <a:r>
              <a:rPr lang="en-US" altLang="zh-CN" sz="2800">
                <a:sym typeface="+mn-ea"/>
              </a:rPr>
              <a:t>ls ?.txt   </a:t>
            </a:r>
            <a:r>
              <a:rPr lang="zh-CN" altLang="en-US" sz="2800">
                <a:sym typeface="+mn-ea"/>
              </a:rPr>
              <a:t>匹配</a:t>
            </a:r>
            <a:r>
              <a:rPr lang="en-US" altLang="zh-CN" sz="2800">
                <a:sym typeface="+mn-ea"/>
              </a:rPr>
              <a:t>a.txt</a:t>
            </a:r>
            <a:r>
              <a:rPr lang="zh-CN" altLang="en-US" sz="2800">
                <a:sym typeface="+mn-ea"/>
              </a:rPr>
              <a:t>、</a:t>
            </a:r>
            <a:r>
              <a:rPr lang="en-US" altLang="zh-CN" sz="2800">
                <a:sym typeface="+mn-ea"/>
              </a:rPr>
              <a:t>1.txt</a:t>
            </a:r>
            <a:r>
              <a:rPr lang="zh-CN" altLang="en-US" sz="2800">
                <a:sym typeface="+mn-ea"/>
              </a:rPr>
              <a:t>等文件（即</a:t>
            </a:r>
            <a:r>
              <a:rPr lang="en-US" altLang="zh-CN" sz="2800">
                <a:sym typeface="+mn-ea"/>
              </a:rPr>
              <a:t>.txt</a:t>
            </a:r>
            <a:r>
              <a:rPr lang="zh-CN" altLang="en-US" sz="2800">
                <a:sym typeface="+mn-ea"/>
              </a:rPr>
              <a:t>前边有</a:t>
            </a:r>
            <a:r>
              <a:rPr lang="en-US" altLang="zh-CN" sz="2800">
                <a:sym typeface="+mn-ea"/>
              </a:rPr>
              <a:t>1</a:t>
            </a:r>
            <a:r>
              <a:rPr lang="zh-CN" altLang="en-US" sz="2800">
                <a:sym typeface="+mn-ea"/>
              </a:rPr>
              <a:t>个字符）</a:t>
            </a:r>
            <a:endParaRPr lang="zh-CN" altLang="en-US" sz="2800">
              <a:sym typeface="+mn-ea"/>
            </a:endParaRPr>
          </a:p>
          <a:p>
            <a:endParaRPr lang="en-US" altLang="zh-CN" sz="2800">
              <a:sym typeface="+mn-ea"/>
            </a:endParaRPr>
          </a:p>
          <a:p>
            <a:r>
              <a:rPr lang="en-US" altLang="zh-CN" sz="2800">
                <a:sym typeface="+mn-ea"/>
              </a:rPr>
              <a:t>[] </a:t>
            </a:r>
            <a:r>
              <a:rPr lang="zh-CN" altLang="en-US" sz="2800">
                <a:sym typeface="+mn-ea"/>
              </a:rPr>
              <a:t>匹配括号里的字符</a:t>
            </a:r>
            <a:r>
              <a:rPr lang="en-US" altLang="zh-CN" sz="2800">
                <a:sym typeface="+mn-ea"/>
              </a:rPr>
              <a:t>  [abc] a</a:t>
            </a:r>
            <a:r>
              <a:rPr lang="zh-CN" altLang="en-US" sz="2800">
                <a:sym typeface="+mn-ea"/>
              </a:rPr>
              <a:t>或</a:t>
            </a:r>
            <a:r>
              <a:rPr lang="en-US" altLang="zh-CN" sz="2800">
                <a:sym typeface="+mn-ea"/>
              </a:rPr>
              <a:t>b</a:t>
            </a:r>
            <a:r>
              <a:rPr lang="zh-CN" altLang="en-US" sz="2800">
                <a:sym typeface="+mn-ea"/>
              </a:rPr>
              <a:t>或</a:t>
            </a:r>
            <a:r>
              <a:rPr lang="en-US" altLang="zh-CN" sz="2800">
                <a:sym typeface="+mn-ea"/>
              </a:rPr>
              <a:t>c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示例：</a:t>
            </a:r>
            <a:r>
              <a:rPr lang="en-US" altLang="zh-CN" sz="2800">
                <a:sym typeface="+mn-ea"/>
              </a:rPr>
              <a:t>ls [123].txt   </a:t>
            </a:r>
            <a:r>
              <a:rPr lang="zh-CN" altLang="en-US" sz="2800">
                <a:sym typeface="+mn-ea"/>
              </a:rPr>
              <a:t>匹配</a:t>
            </a:r>
            <a:r>
              <a:rPr lang="en-US" altLang="zh-CN" sz="2800">
                <a:sym typeface="+mn-ea"/>
              </a:rPr>
              <a:t>1.txt</a:t>
            </a:r>
            <a:r>
              <a:rPr lang="zh-CN" altLang="en-US" sz="2800">
                <a:sym typeface="+mn-ea"/>
              </a:rPr>
              <a:t>、</a:t>
            </a:r>
            <a:r>
              <a:rPr lang="en-US" altLang="zh-CN" sz="2800">
                <a:sym typeface="+mn-ea"/>
              </a:rPr>
              <a:t>2.txt</a:t>
            </a:r>
            <a:r>
              <a:rPr lang="zh-CN" altLang="en-US" sz="2800">
                <a:sym typeface="+mn-ea"/>
              </a:rPr>
              <a:t>、</a:t>
            </a:r>
            <a:r>
              <a:rPr lang="en-US" altLang="zh-CN" sz="2800">
                <a:sym typeface="+mn-ea"/>
              </a:rPr>
              <a:t>3.txt</a:t>
            </a:r>
            <a:endParaRPr lang="en-US" altLang="zh-CN" sz="2800">
              <a:sym typeface="+mn-ea"/>
            </a:endParaRPr>
          </a:p>
          <a:p>
            <a:r>
              <a:rPr lang="zh-CN" altLang="en-US" sz="2800">
                <a:sym typeface="+mn-ea"/>
              </a:rPr>
              <a:t>示例：</a:t>
            </a:r>
            <a:r>
              <a:rPr lang="en-US" altLang="zh-CN" sz="2800">
                <a:sym typeface="+mn-ea"/>
              </a:rPr>
              <a:t>ls [A-C].txt   </a:t>
            </a:r>
            <a:r>
              <a:rPr lang="zh-CN" altLang="en-US" sz="2800">
                <a:sym typeface="+mn-ea"/>
              </a:rPr>
              <a:t>匹配</a:t>
            </a:r>
            <a:r>
              <a:rPr lang="en-US" altLang="zh-CN" sz="2800">
                <a:sym typeface="+mn-ea"/>
              </a:rPr>
              <a:t>A.txt</a:t>
            </a:r>
            <a:r>
              <a:rPr lang="zh-CN" altLang="en-US" sz="2800">
                <a:sym typeface="+mn-ea"/>
              </a:rPr>
              <a:t>、</a:t>
            </a:r>
            <a:r>
              <a:rPr lang="en-US" altLang="zh-CN" sz="2800">
                <a:sym typeface="+mn-ea"/>
              </a:rPr>
              <a:t>B.</a:t>
            </a:r>
            <a:r>
              <a:rPr lang="en-US" altLang="zh-CN" sz="2800">
                <a:sym typeface="+mn-ea"/>
              </a:rPr>
              <a:t>txt</a:t>
            </a:r>
            <a:r>
              <a:rPr lang="zh-CN" altLang="en-US" sz="2800">
                <a:sym typeface="+mn-ea"/>
              </a:rPr>
              <a:t>、</a:t>
            </a:r>
            <a:r>
              <a:rPr lang="en-US" altLang="zh-CN" sz="2800">
                <a:sym typeface="+mn-ea"/>
              </a:rPr>
              <a:t>C.txt</a:t>
            </a:r>
            <a:br>
              <a:rPr lang="zh-CN" altLang="en-US" sz="2800">
                <a:sym typeface="+mn-ea"/>
              </a:rPr>
            </a:br>
            <a:endParaRPr lang="zh-CN" altLang="en-US" sz="2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84480" y="194310"/>
            <a:ext cx="11460480" cy="6287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 b="1">
                <a:sym typeface="+mn-ea"/>
              </a:rPr>
              <a:t>正则表达式（给</a:t>
            </a:r>
            <a:r>
              <a:rPr lang="en-US" altLang="zh-CN" sz="2000" b="1">
                <a:sym typeface="+mn-ea"/>
              </a:rPr>
              <a:t>grep</a:t>
            </a:r>
            <a:r>
              <a:rPr lang="zh-CN" altLang="en-US" sz="2000" b="1">
                <a:sym typeface="+mn-ea"/>
              </a:rPr>
              <a:t>，</a:t>
            </a:r>
            <a:r>
              <a:rPr lang="en-US" altLang="zh-CN" sz="2000" b="1">
                <a:sym typeface="+mn-ea"/>
              </a:rPr>
              <a:t>vi</a:t>
            </a:r>
            <a:r>
              <a:rPr lang="zh-CN" altLang="en-US" sz="2000" b="1">
                <a:sym typeface="+mn-ea"/>
              </a:rPr>
              <a:t>，这些搜文本内容用）</a:t>
            </a:r>
            <a:endParaRPr lang="zh-CN" altLang="en-US" sz="2000"/>
          </a:p>
          <a:p>
            <a:r>
              <a:rPr lang="en-US" altLang="zh-CN" sz="2000">
                <a:sym typeface="+mn-ea"/>
              </a:rPr>
              <a:t>. </a:t>
            </a:r>
            <a:r>
              <a:rPr lang="zh-CN" altLang="en-US" sz="2000">
                <a:sym typeface="+mn-ea"/>
              </a:rPr>
              <a:t>任意单个字符</a:t>
            </a:r>
            <a:endParaRPr lang="zh-CN" altLang="en-US" sz="2000">
              <a:sym typeface="+mn-ea"/>
            </a:endParaRPr>
          </a:p>
          <a:p>
            <a:r>
              <a:rPr lang="zh-CN" altLang="en-US" sz="2000"/>
              <a:t>示例：</a:t>
            </a:r>
            <a:r>
              <a:rPr lang="en-US" altLang="zh-CN" sz="2000"/>
              <a:t>grep “a.c” test.txt   </a:t>
            </a:r>
            <a:r>
              <a:rPr lang="zh-CN" altLang="en-US" sz="2000"/>
              <a:t>在</a:t>
            </a:r>
            <a:r>
              <a:rPr lang="en-US" altLang="zh-CN" sz="2000">
                <a:sym typeface="+mn-ea"/>
              </a:rPr>
              <a:t>test.txt</a:t>
            </a:r>
            <a:r>
              <a:rPr lang="zh-CN" altLang="en-US" sz="2000"/>
              <a:t>中查找包含</a:t>
            </a:r>
            <a:r>
              <a:rPr lang="en-US" altLang="zh-CN" sz="2000"/>
              <a:t>a+</a:t>
            </a:r>
            <a:r>
              <a:rPr lang="zh-CN" altLang="en-US" sz="2000"/>
              <a:t>任意</a:t>
            </a:r>
            <a:r>
              <a:rPr lang="en-US" altLang="zh-CN" sz="2000"/>
              <a:t>1</a:t>
            </a:r>
            <a:r>
              <a:rPr lang="zh-CN" altLang="en-US" sz="2000"/>
              <a:t>个字符</a:t>
            </a:r>
            <a:r>
              <a:rPr lang="en-US" altLang="zh-CN" sz="2000"/>
              <a:t>+c</a:t>
            </a:r>
            <a:r>
              <a:rPr lang="zh-CN" altLang="en-US" sz="2000"/>
              <a:t>的行</a:t>
            </a:r>
            <a:endParaRPr lang="zh-CN" altLang="en-US" sz="2000"/>
          </a:p>
          <a:p>
            <a:endParaRPr lang="en-US" altLang="zh-CN" sz="2000">
              <a:sym typeface="+mn-ea"/>
            </a:endParaRPr>
          </a:p>
          <a:p>
            <a:r>
              <a:rPr lang="en-US" altLang="zh-CN" sz="2000">
                <a:sym typeface="+mn-ea"/>
              </a:rPr>
              <a:t>*</a:t>
            </a:r>
            <a:r>
              <a:rPr lang="zh-CN" altLang="en-US" sz="2000">
                <a:sym typeface="+mn-ea"/>
              </a:rPr>
              <a:t>表示前面的字符重复任意次</a:t>
            </a:r>
            <a:r>
              <a:rPr lang="en-US" altLang="zh-CN" sz="2000">
                <a:sym typeface="+mn-ea"/>
              </a:rPr>
              <a:t>   a* </a:t>
            </a:r>
            <a:r>
              <a:rPr lang="zh-CN" altLang="en-US" sz="2000">
                <a:sym typeface="+mn-ea"/>
              </a:rPr>
              <a:t>字符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重复</a:t>
            </a:r>
            <a:r>
              <a:rPr lang="en-US" altLang="zh-CN" sz="2000">
                <a:sym typeface="+mn-ea"/>
              </a:rPr>
              <a:t>0</a:t>
            </a:r>
            <a:r>
              <a:rPr lang="zh-CN" altLang="en-US" sz="2000">
                <a:sym typeface="+mn-ea"/>
              </a:rPr>
              <a:t>到多次</a:t>
            </a:r>
            <a:r>
              <a:rPr lang="en-US" altLang="zh-CN" sz="2000">
                <a:sym typeface="+mn-ea"/>
              </a:rPr>
              <a:t> </a:t>
            </a:r>
            <a:r>
              <a:rPr lang="zh-CN" altLang="en-US" sz="2000">
                <a:sym typeface="+mn-ea"/>
              </a:rPr>
              <a:t>任意次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示例：</a:t>
            </a:r>
            <a:r>
              <a:rPr lang="en-US" altLang="zh-CN" sz="2000">
                <a:sym typeface="+mn-ea"/>
              </a:rPr>
              <a:t>grep “ab*” test.txt  </a:t>
            </a:r>
            <a:r>
              <a:rPr lang="en-US" altLang="zh-CN" sz="2000"/>
              <a:t> 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test.txt</a:t>
            </a:r>
            <a:r>
              <a:rPr lang="zh-CN" altLang="en-US" sz="2000">
                <a:sym typeface="+mn-ea"/>
              </a:rPr>
              <a:t>中查找包含</a:t>
            </a:r>
            <a:r>
              <a:rPr lang="en-US" altLang="zh-CN" sz="2000">
                <a:sym typeface="+mn-ea"/>
              </a:rPr>
              <a:t>a+</a:t>
            </a:r>
            <a:r>
              <a:rPr lang="zh-CN" altLang="en-US" sz="2000">
                <a:sym typeface="+mn-ea"/>
              </a:rPr>
              <a:t>零到多个</a:t>
            </a:r>
            <a:r>
              <a:rPr lang="en-US" altLang="zh-CN" sz="2000">
                <a:sym typeface="+mn-ea"/>
              </a:rPr>
              <a:t>b</a:t>
            </a:r>
            <a:r>
              <a:rPr lang="zh-CN" altLang="en-US" sz="2000">
                <a:sym typeface="+mn-ea"/>
              </a:rPr>
              <a:t>的行（</a:t>
            </a:r>
            <a:r>
              <a:rPr lang="en-US" altLang="zh-CN" sz="2000">
                <a:sym typeface="+mn-ea"/>
              </a:rPr>
              <a:t>a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ab</a:t>
            </a:r>
            <a:r>
              <a:rPr lang="zh-CN" altLang="en-US" sz="2000">
                <a:sym typeface="+mn-ea"/>
              </a:rPr>
              <a:t>，</a:t>
            </a:r>
            <a:r>
              <a:rPr lang="en-US" altLang="zh-CN" sz="2000">
                <a:sym typeface="+mn-ea"/>
              </a:rPr>
              <a:t>abb...</a:t>
            </a:r>
            <a:r>
              <a:rPr lang="zh-CN" altLang="en-US" sz="2000">
                <a:sym typeface="+mn-ea"/>
              </a:rPr>
              <a:t>）</a:t>
            </a:r>
            <a:endParaRPr lang="zh-CN" altLang="en-US" sz="2000"/>
          </a:p>
          <a:p>
            <a:endParaRPr lang="en-US" altLang="zh-CN" sz="2000">
              <a:sym typeface="+mn-ea"/>
            </a:endParaRPr>
          </a:p>
          <a:p>
            <a:r>
              <a:rPr lang="en-US" altLang="zh-CN" sz="2000">
                <a:sym typeface="+mn-ea"/>
              </a:rPr>
              <a:t>^ </a:t>
            </a:r>
            <a:r>
              <a:rPr lang="zh-CN" altLang="en-US" sz="2000">
                <a:sym typeface="+mn-ea"/>
              </a:rPr>
              <a:t>行的开头</a:t>
            </a:r>
            <a:r>
              <a:rPr lang="en-US" altLang="zh-CN" sz="2000">
                <a:sym typeface="+mn-ea"/>
              </a:rPr>
              <a:t>  ^sh </a:t>
            </a:r>
            <a:r>
              <a:rPr lang="zh-CN" altLang="en-US" sz="2000">
                <a:sym typeface="+mn-ea"/>
              </a:rPr>
              <a:t>就是找出一行开头是</a:t>
            </a:r>
            <a:r>
              <a:rPr lang="en-US" altLang="zh-CN" sz="2000">
                <a:sym typeface="+mn-ea"/>
              </a:rPr>
              <a:t>sh</a:t>
            </a:r>
            <a:r>
              <a:rPr lang="zh-CN" altLang="en-US" sz="2000">
                <a:sym typeface="+mn-ea"/>
              </a:rPr>
              <a:t>的</a:t>
            </a:r>
            <a:endParaRPr lang="zh-CN" altLang="en-US" sz="2000">
              <a:sym typeface="+mn-ea"/>
            </a:endParaRPr>
          </a:p>
          <a:p>
            <a:r>
              <a:rPr lang="zh-CN" altLang="en-US" sz="2000"/>
              <a:t>示例：</a:t>
            </a:r>
            <a:r>
              <a:rPr lang="en-US" altLang="zh-CN" sz="2000"/>
              <a:t>grep “^sh” test.txt    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test.txt</a:t>
            </a:r>
            <a:r>
              <a:rPr lang="zh-CN" altLang="en-US" sz="2000">
                <a:sym typeface="+mn-ea"/>
              </a:rPr>
              <a:t>中查找所有以</a:t>
            </a:r>
            <a:r>
              <a:rPr lang="en-US" altLang="zh-CN" sz="2000">
                <a:sym typeface="+mn-ea"/>
              </a:rPr>
              <a:t>sh</a:t>
            </a:r>
            <a:r>
              <a:rPr lang="zh-CN" altLang="en-US" sz="2000">
                <a:sym typeface="+mn-ea"/>
              </a:rPr>
              <a:t>开头的行</a:t>
            </a:r>
            <a:endParaRPr lang="zh-CN" altLang="en-US" sz="2000">
              <a:sym typeface="+mn-ea"/>
            </a:endParaRPr>
          </a:p>
          <a:p>
            <a:endParaRPr lang="en-US" altLang="zh-CN" sz="2000">
              <a:sym typeface="+mn-ea"/>
            </a:endParaRPr>
          </a:p>
          <a:p>
            <a:r>
              <a:rPr lang="en-US" altLang="zh-CN" sz="2000">
                <a:sym typeface="+mn-ea"/>
              </a:rPr>
              <a:t>$</a:t>
            </a:r>
            <a:r>
              <a:rPr lang="zh-CN" altLang="en-US" sz="2000">
                <a:sym typeface="+mn-ea"/>
              </a:rPr>
              <a:t>行的结尾</a:t>
            </a:r>
            <a:r>
              <a:rPr lang="en-US" altLang="zh-CN" sz="2000">
                <a:sym typeface="+mn-ea"/>
              </a:rPr>
              <a:t>     sh$</a:t>
            </a:r>
            <a:r>
              <a:rPr lang="zh-CN" altLang="en-US" sz="2000">
                <a:sym typeface="+mn-ea"/>
              </a:rPr>
              <a:t>就是找出一行结尾是</a:t>
            </a:r>
            <a:r>
              <a:rPr lang="en-US" altLang="zh-CN" sz="2000">
                <a:sym typeface="+mn-ea"/>
              </a:rPr>
              <a:t>sh</a:t>
            </a:r>
            <a:r>
              <a:rPr lang="zh-CN" altLang="en-US" sz="2000">
                <a:sym typeface="+mn-ea"/>
              </a:rPr>
              <a:t>的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示例：</a:t>
            </a:r>
            <a:r>
              <a:rPr lang="en-US" altLang="zh-CN" sz="2000">
                <a:sym typeface="+mn-ea"/>
              </a:rPr>
              <a:t>grep “sh$” test.txt    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test.txt</a:t>
            </a:r>
            <a:r>
              <a:rPr lang="zh-CN" altLang="en-US" sz="2000">
                <a:sym typeface="+mn-ea"/>
              </a:rPr>
              <a:t>中查找所有以</a:t>
            </a:r>
            <a:r>
              <a:rPr lang="en-US" altLang="zh-CN" sz="2000">
                <a:sym typeface="+mn-ea"/>
              </a:rPr>
              <a:t>sh</a:t>
            </a:r>
            <a:r>
              <a:rPr lang="zh-CN" altLang="en-US" sz="2000">
                <a:sym typeface="+mn-ea"/>
              </a:rPr>
              <a:t>结尾的行</a:t>
            </a:r>
            <a:endParaRPr lang="zh-CN" altLang="en-US" sz="2000">
              <a:sym typeface="+mn-ea"/>
            </a:endParaRPr>
          </a:p>
          <a:p>
            <a:endParaRPr lang="en-US" altLang="zh-CN" sz="2000"/>
          </a:p>
          <a:p>
            <a:r>
              <a:rPr lang="en-US" altLang="zh-CN" sz="2000">
                <a:sym typeface="+mn-ea"/>
              </a:rPr>
              <a:t>[] </a:t>
            </a:r>
            <a:r>
              <a:rPr lang="zh-CN" altLang="en-US" sz="2000">
                <a:sym typeface="+mn-ea"/>
              </a:rPr>
              <a:t>匹配括号里的任意字符</a:t>
            </a:r>
            <a:r>
              <a:rPr lang="en-US" altLang="zh-CN" sz="2000">
                <a:sym typeface="+mn-ea"/>
              </a:rPr>
              <a:t>  </a:t>
            </a:r>
            <a:endParaRPr lang="en-US" altLang="zh-CN" sz="2000">
              <a:sym typeface="+mn-ea"/>
            </a:endParaRPr>
          </a:p>
          <a:p>
            <a:r>
              <a:rPr lang="zh-CN" altLang="en-US" sz="2000">
                <a:sym typeface="+mn-ea"/>
              </a:rPr>
              <a:t>示例：</a:t>
            </a:r>
            <a:r>
              <a:rPr lang="en-US" altLang="zh-CN" sz="2000">
                <a:sym typeface="+mn-ea"/>
              </a:rPr>
              <a:t>grep “[0-9]” test.txt  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test.txt</a:t>
            </a:r>
            <a:r>
              <a:rPr lang="zh-CN" altLang="en-US" sz="2000">
                <a:sym typeface="+mn-ea"/>
              </a:rPr>
              <a:t>中查找包含数字的行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[^...] </a:t>
            </a:r>
            <a:r>
              <a:rPr lang="zh-CN" altLang="en-US" sz="2000">
                <a:sym typeface="+mn-ea"/>
              </a:rPr>
              <a:t>不匹配括号里的任意字符</a:t>
            </a:r>
            <a:endParaRPr lang="zh-CN" altLang="en-US" sz="2000">
              <a:sym typeface="+mn-ea"/>
            </a:endParaRPr>
          </a:p>
          <a:p>
            <a:r>
              <a:rPr lang="zh-CN" altLang="en-US" sz="2000"/>
              <a:t>示例：</a:t>
            </a:r>
            <a:r>
              <a:rPr lang="en-US" altLang="zh-CN" sz="2000"/>
              <a:t>grep “[^a-z]” test.txt  </a:t>
            </a:r>
            <a:r>
              <a:rPr lang="zh-CN" altLang="en-US" sz="2000">
                <a:sym typeface="+mn-ea"/>
              </a:rPr>
              <a:t>在</a:t>
            </a:r>
            <a:r>
              <a:rPr lang="en-US" altLang="zh-CN" sz="2000">
                <a:sym typeface="+mn-ea"/>
              </a:rPr>
              <a:t>test.txt</a:t>
            </a:r>
            <a:r>
              <a:rPr lang="zh-CN" altLang="en-US" sz="2000">
                <a:sym typeface="+mn-ea"/>
              </a:rPr>
              <a:t>中查找不包含小写字母的行</a:t>
            </a:r>
            <a:endParaRPr lang="zh-CN" altLang="en-US" sz="2000">
              <a:sym typeface="+mn-ea"/>
            </a:endParaRPr>
          </a:p>
          <a:p>
            <a:endParaRPr lang="zh-CN" altLang="en-US" sz="2000">
              <a:sym typeface="+mn-ea"/>
            </a:endParaRPr>
          </a:p>
          <a:p>
            <a:r>
              <a:rPr lang="en-US" altLang="zh-CN" sz="2000">
                <a:sym typeface="+mn-ea"/>
              </a:rPr>
              <a:t>\ </a:t>
            </a:r>
            <a:r>
              <a:rPr lang="zh-CN" altLang="en-US" sz="2000">
                <a:sym typeface="+mn-ea"/>
              </a:rPr>
              <a:t>转义</a:t>
            </a:r>
            <a:r>
              <a:rPr lang="en-US" altLang="zh-CN" sz="2000">
                <a:sym typeface="+mn-ea"/>
              </a:rPr>
              <a:t>    grep “\.” </a:t>
            </a:r>
            <a:r>
              <a:rPr lang="zh-CN" altLang="en-US" sz="2000">
                <a:sym typeface="+mn-ea"/>
              </a:rPr>
              <a:t>文件</a:t>
            </a:r>
            <a:endParaRPr lang="zh-CN" altLang="en-US" sz="2000">
              <a:sym typeface="+mn-ea"/>
            </a:endParaRPr>
          </a:p>
          <a:p>
            <a:r>
              <a:rPr lang="zh-CN" altLang="en-US" sz="2000">
                <a:sym typeface="+mn-ea"/>
              </a:rPr>
              <a:t>示例：</a:t>
            </a:r>
            <a:r>
              <a:rPr lang="en-US" altLang="zh-CN" sz="2000">
                <a:sym typeface="+mn-ea"/>
              </a:rPr>
              <a:t>grep “\.” test.txt  </a:t>
            </a:r>
            <a:r>
              <a:rPr lang="zh-CN" altLang="en-US" sz="2000">
                <a:sym typeface="+mn-ea"/>
              </a:rPr>
              <a:t>转义特殊字符，在</a:t>
            </a:r>
            <a:r>
              <a:rPr lang="en-US" altLang="zh-CN" sz="2000">
                <a:sym typeface="+mn-ea"/>
              </a:rPr>
              <a:t>grep</a:t>
            </a:r>
            <a:r>
              <a:rPr lang="zh-CN" altLang="en-US" sz="2000">
                <a:sym typeface="+mn-ea"/>
              </a:rPr>
              <a:t>里</a:t>
            </a:r>
            <a:r>
              <a:rPr lang="en-US" altLang="zh-CN" sz="2000">
                <a:sym typeface="+mn-ea"/>
              </a:rPr>
              <a:t>.</a:t>
            </a:r>
            <a:r>
              <a:rPr lang="zh-CN" altLang="en-US" sz="2000">
                <a:sym typeface="+mn-ea"/>
              </a:rPr>
              <a:t>是任意单个字符，但是就想让</a:t>
            </a:r>
            <a:r>
              <a:rPr lang="en-US" altLang="zh-CN" sz="2000">
                <a:sym typeface="+mn-ea"/>
              </a:rPr>
              <a:t>.</a:t>
            </a:r>
            <a:r>
              <a:rPr lang="zh-CN" altLang="en-US" sz="2000">
                <a:sym typeface="+mn-ea"/>
              </a:rPr>
              <a:t>变回普通的</a:t>
            </a:r>
            <a:r>
              <a:rPr lang="en-US" altLang="zh-CN" sz="2000">
                <a:sym typeface="+mn-ea"/>
              </a:rPr>
              <a:t>.</a:t>
            </a:r>
            <a:r>
              <a:rPr lang="zh-CN" altLang="en-US" sz="2000">
                <a:sym typeface="+mn-ea"/>
              </a:rPr>
              <a:t>，用</a:t>
            </a:r>
            <a:r>
              <a:rPr lang="en-US" altLang="zh-CN" sz="2000">
                <a:sym typeface="+mn-ea"/>
              </a:rPr>
              <a:t>\</a:t>
            </a:r>
            <a:endParaRPr lang="zh-CN" altLang="en-US" sz="2000"/>
          </a:p>
          <a:p>
            <a:endParaRPr lang="zh-CN" altLang="en-US" sz="2000"/>
          </a:p>
          <a:p>
            <a:endParaRPr lang="zh-CN" altLang="en-US" sz="2000">
              <a:sym typeface="+mn-ea"/>
            </a:endParaRPr>
          </a:p>
          <a:p>
            <a:endParaRPr lang="en-US" altLang="zh-CN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9870" y="640715"/>
            <a:ext cx="11453495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ym typeface="+mn-ea"/>
              </a:rPr>
              <a:t>/etc/shadow  </a:t>
            </a:r>
            <a:r>
              <a:rPr lang="zh-CN" altLang="en-US" sz="2800" b="1">
                <a:sym typeface="+mn-ea"/>
              </a:rPr>
              <a:t>文件</a:t>
            </a:r>
            <a:endParaRPr lang="zh-CN" altLang="en-US" sz="2800" b="1"/>
          </a:p>
          <a:p>
            <a:r>
              <a:rPr lang="zh-CN" altLang="en-US" sz="2800">
                <a:sym typeface="+mn-ea"/>
              </a:rPr>
              <a:t>口令的配置文件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每行的含义：登录名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加密口令（</a:t>
            </a:r>
            <a:r>
              <a:rPr lang="en-US" altLang="zh-CN" sz="2800">
                <a:sym typeface="+mn-ea"/>
              </a:rPr>
              <a:t>$6$</a:t>
            </a:r>
            <a:r>
              <a:rPr lang="zh-CN" altLang="en-US" sz="2800">
                <a:sym typeface="+mn-ea"/>
              </a:rPr>
              <a:t>是</a:t>
            </a:r>
            <a:r>
              <a:rPr lang="en-US" altLang="zh-CN" sz="2800">
                <a:sym typeface="+mn-ea"/>
              </a:rPr>
              <a:t>SHA512</a:t>
            </a:r>
            <a:r>
              <a:rPr lang="zh-CN" altLang="en-US" sz="2800">
                <a:sym typeface="+mn-ea"/>
              </a:rPr>
              <a:t>加密算法）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最后一次修改时间（从</a:t>
            </a:r>
            <a:r>
              <a:rPr lang="en-US" altLang="zh-CN" sz="2800">
                <a:sym typeface="+mn-ea"/>
              </a:rPr>
              <a:t>1970.1.1</a:t>
            </a:r>
            <a:r>
              <a:rPr lang="zh-CN" altLang="en-US" sz="2800">
                <a:sym typeface="+mn-ea"/>
              </a:rPr>
              <a:t>开始算多少天）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密码最短使用期限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密码最长使用期限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密码过期前的警告天数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密码过期后的宽限天数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账号过期时间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标志</a:t>
            </a:r>
            <a:endParaRPr lang="zh-CN" altLang="en-US" sz="2800"/>
          </a:p>
          <a:p>
            <a:endParaRPr lang="en-US" altLang="zh-CN" sz="2800" b="1">
              <a:sym typeface="+mn-ea"/>
            </a:endParaRPr>
          </a:p>
          <a:p>
            <a:endParaRPr lang="en-US" altLang="zh-CN" sz="2800" b="1">
              <a:sym typeface="+mn-ea"/>
            </a:endParaRPr>
          </a:p>
          <a:p>
            <a:r>
              <a:rPr lang="en-US" altLang="zh-CN" sz="2800" b="1">
                <a:sym typeface="+mn-ea"/>
              </a:rPr>
              <a:t>/etc/group  </a:t>
            </a:r>
            <a:r>
              <a:rPr lang="zh-CN" altLang="en-US" sz="2800" b="1">
                <a:sym typeface="+mn-ea"/>
              </a:rPr>
              <a:t>文件</a:t>
            </a:r>
            <a:endParaRPr lang="zh-CN" altLang="en-US" sz="2800" b="1"/>
          </a:p>
          <a:p>
            <a:r>
              <a:rPr lang="zh-CN" altLang="en-US" sz="2800">
                <a:sym typeface="+mn-ea"/>
              </a:rPr>
              <a:t>组</a:t>
            </a:r>
            <a:r>
              <a:rPr lang="en-US" altLang="zh-CN" sz="2800">
                <a:sym typeface="+mn-ea"/>
              </a:rPr>
              <a:t>(group)</a:t>
            </a:r>
            <a:r>
              <a:rPr lang="zh-CN" altLang="en-US" sz="2800">
                <a:sym typeface="+mn-ea"/>
              </a:rPr>
              <a:t>的配置文件，记录</a:t>
            </a:r>
            <a:r>
              <a:rPr lang="en-US" altLang="zh-CN" sz="2800">
                <a:sym typeface="+mn-ea"/>
              </a:rPr>
              <a:t> Linux </a:t>
            </a:r>
            <a:r>
              <a:rPr lang="zh-CN" altLang="en-US" sz="2800">
                <a:sym typeface="+mn-ea"/>
              </a:rPr>
              <a:t>包含的组的信息每行含义：</a:t>
            </a:r>
            <a:r>
              <a:rPr lang="zh-CN" altLang="en-US" sz="2800" b="1">
                <a:sym typeface="+mn-ea"/>
              </a:rPr>
              <a:t>组名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口令</a:t>
            </a:r>
            <a:r>
              <a:rPr lang="en-US" altLang="zh-CN" sz="2800">
                <a:sym typeface="+mn-ea"/>
              </a:rPr>
              <a:t>x:</a:t>
            </a:r>
            <a:r>
              <a:rPr lang="zh-CN" altLang="en-US" sz="2800" b="1">
                <a:sym typeface="+mn-ea"/>
              </a:rPr>
              <a:t>组标识号</a:t>
            </a:r>
            <a:r>
              <a:rPr lang="en-US" altLang="zh-CN" sz="2800" b="1">
                <a:sym typeface="+mn-ea"/>
              </a:rPr>
              <a:t>GID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组内用户（附加组用户才会被列出来）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27375" y="2200910"/>
            <a:ext cx="494665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/>
              <a:t>组管理和权限管理</a:t>
            </a:r>
            <a:endParaRPr lang="zh-CN" altLang="en-US" sz="4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0520" y="550545"/>
            <a:ext cx="10197465" cy="2221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600"/>
              <a:t>Linux </a:t>
            </a:r>
            <a:r>
              <a:rPr lang="zh-CN" altLang="en-US" sz="3600"/>
              <a:t>组基本介绍</a:t>
            </a:r>
            <a:endParaRPr lang="zh-CN" altLang="en-US" sz="3600"/>
          </a:p>
          <a:p>
            <a:endParaRPr lang="zh-CN" altLang="en-US" sz="2400"/>
          </a:p>
          <a:p>
            <a:r>
              <a:rPr lang="zh-CN" altLang="en-US" sz="2400"/>
              <a:t>在</a:t>
            </a:r>
            <a:r>
              <a:rPr lang="en-US" altLang="zh-CN" sz="2400"/>
              <a:t> linux </a:t>
            </a:r>
            <a:r>
              <a:rPr lang="zh-CN" altLang="en-US" sz="2400"/>
              <a:t>中的每个用户必须属于一个组，不能独立于组外。在</a:t>
            </a:r>
            <a:r>
              <a:rPr lang="en-US" altLang="zh-CN" sz="2400"/>
              <a:t> linux </a:t>
            </a:r>
            <a:r>
              <a:rPr lang="zh-CN" altLang="en-US" sz="2400"/>
              <a:t>中每个文件</a:t>
            </a:r>
            <a:endParaRPr lang="zh-CN" altLang="en-US" sz="2400"/>
          </a:p>
          <a:p>
            <a:r>
              <a:rPr lang="zh-CN" altLang="en-US" sz="2400"/>
              <a:t>有所有者、所在组、其它组的概念。</a:t>
            </a:r>
            <a:endParaRPr lang="zh-CN" altLang="en-US" sz="2400"/>
          </a:p>
          <a:p>
            <a:endParaRPr lang="en-US" altLang="zh-CN" sz="2800"/>
          </a:p>
          <a:p>
            <a:endParaRPr lang="zh-CN" altLang="en-US" sz="2400"/>
          </a:p>
        </p:txBody>
      </p:sp>
      <p:pic>
        <p:nvPicPr>
          <p:cNvPr id="368" name="IM 368"/>
          <p:cNvPicPr/>
          <p:nvPr/>
        </p:nvPicPr>
        <p:blipFill>
          <a:blip r:embed="rId1"/>
          <a:stretch>
            <a:fillRect/>
          </a:stretch>
        </p:blipFill>
        <p:spPr>
          <a:xfrm>
            <a:off x="7661910" y="3112770"/>
            <a:ext cx="4640580" cy="374523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50520" y="2886075"/>
            <a:ext cx="684085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如图：</a:t>
            </a:r>
            <a:endParaRPr lang="zh-CN" altLang="en-US"/>
          </a:p>
          <a:p>
            <a:r>
              <a:rPr lang="en-US" altLang="zh-CN">
                <a:sym typeface="+mn-ea"/>
              </a:rPr>
              <a:t>tom</a:t>
            </a:r>
            <a:r>
              <a:rPr lang="zh-CN" altLang="en-US">
                <a:sym typeface="+mn-ea"/>
              </a:rPr>
              <a:t>属于组</a:t>
            </a:r>
            <a:r>
              <a:rPr lang="en-US" altLang="zh-CN">
                <a:sym typeface="+mn-ea"/>
              </a:rPr>
              <a:t>1</a:t>
            </a:r>
            <a:endParaRPr lang="en-US" altLang="zh-CN"/>
          </a:p>
          <a:p>
            <a:r>
              <a:rPr lang="en-US" altLang="zh-CN">
                <a:sym typeface="+mn-ea"/>
              </a:rPr>
              <a:t>jack</a:t>
            </a:r>
            <a:r>
              <a:rPr lang="zh-CN" altLang="en-US">
                <a:sym typeface="+mn-ea"/>
              </a:rPr>
              <a:t>属于组</a:t>
            </a:r>
            <a:r>
              <a:rPr lang="en-US" altLang="zh-CN">
                <a:sym typeface="+mn-ea"/>
              </a:rPr>
              <a:t>2</a:t>
            </a:r>
            <a:endParaRPr lang="en-US" altLang="zh-CN"/>
          </a:p>
          <a:p>
            <a:r>
              <a:rPr lang="en-US" altLang="zh-CN">
                <a:sym typeface="+mn-ea"/>
              </a:rPr>
              <a:t>tom</a:t>
            </a:r>
            <a:r>
              <a:rPr lang="zh-CN" altLang="en-US">
                <a:sym typeface="+mn-ea"/>
              </a:rPr>
              <a:t>创建了一个文件</a:t>
            </a:r>
            <a:r>
              <a:rPr lang="en-US" altLang="zh-CN">
                <a:sym typeface="+mn-ea"/>
              </a:rPr>
              <a:t>a.txt</a:t>
            </a:r>
            <a:r>
              <a:rPr lang="zh-CN" altLang="en-US">
                <a:sym typeface="+mn-ea"/>
              </a:rPr>
              <a:t>，对于该文件来说：</a:t>
            </a:r>
            <a:endParaRPr lang="en-US" altLang="zh-CN"/>
          </a:p>
          <a:p>
            <a:r>
              <a:rPr lang="en-US" altLang="zh-CN" b="1">
                <a:sym typeface="+mn-ea"/>
              </a:rPr>
              <a:t>1)   </a:t>
            </a:r>
            <a:r>
              <a:rPr lang="zh-CN" altLang="en-US" b="1">
                <a:sym typeface="+mn-ea"/>
              </a:rPr>
              <a:t>所有者</a:t>
            </a:r>
            <a:endParaRPr lang="zh-CN" altLang="en-US" b="1">
              <a:sym typeface="+mn-ea"/>
            </a:endParaRPr>
          </a:p>
          <a:p>
            <a:r>
              <a:rPr lang="zh-CN" altLang="en-US">
                <a:sym typeface="+mn-ea"/>
              </a:rPr>
              <a:t>文件</a:t>
            </a:r>
            <a:r>
              <a:rPr lang="en-US" altLang="zh-CN">
                <a:sym typeface="+mn-ea"/>
              </a:rPr>
              <a:t>a.txt</a:t>
            </a:r>
            <a:r>
              <a:rPr lang="zh-CN" altLang="en-US">
                <a:sym typeface="+mn-ea"/>
              </a:rPr>
              <a:t>的所有者是</a:t>
            </a:r>
            <a:r>
              <a:rPr lang="en-US" altLang="zh-CN">
                <a:sym typeface="+mn-ea"/>
              </a:rPr>
              <a:t>tom</a:t>
            </a:r>
            <a:r>
              <a:rPr lang="zh-CN" altLang="en-US">
                <a:sym typeface="+mn-ea"/>
              </a:rPr>
              <a:t>，所有者可以变。</a:t>
            </a:r>
            <a:endParaRPr lang="zh-CN" altLang="en-US"/>
          </a:p>
          <a:p>
            <a:r>
              <a:rPr lang="en-US" altLang="zh-CN" b="1">
                <a:sym typeface="+mn-ea"/>
              </a:rPr>
              <a:t>2)   </a:t>
            </a:r>
            <a:r>
              <a:rPr lang="zh-CN" altLang="en-US" b="1">
                <a:sym typeface="+mn-ea"/>
              </a:rPr>
              <a:t>所在组</a:t>
            </a:r>
            <a:endParaRPr lang="zh-CN" altLang="en-US" b="1"/>
          </a:p>
          <a:p>
            <a:r>
              <a:rPr lang="en-US" altLang="zh-CN">
                <a:sym typeface="+mn-ea"/>
              </a:rPr>
              <a:t>a.txt</a:t>
            </a:r>
            <a:r>
              <a:rPr lang="zh-CN" altLang="en-US">
                <a:sym typeface="+mn-ea"/>
              </a:rPr>
              <a:t>是</a:t>
            </a:r>
            <a:r>
              <a:rPr lang="en-US" altLang="zh-CN">
                <a:sym typeface="+mn-ea"/>
              </a:rPr>
              <a:t>tom</a:t>
            </a:r>
            <a:r>
              <a:rPr lang="zh-CN" altLang="en-US">
                <a:sym typeface="+mn-ea"/>
              </a:rPr>
              <a:t>创建，因为</a:t>
            </a:r>
            <a:r>
              <a:rPr lang="en-US" altLang="zh-CN">
                <a:sym typeface="+mn-ea"/>
              </a:rPr>
              <a:t>tom</a:t>
            </a:r>
            <a:r>
              <a:rPr lang="zh-CN" altLang="en-US">
                <a:sym typeface="+mn-ea"/>
              </a:rPr>
              <a:t>属于组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，所以默认</a:t>
            </a:r>
            <a:r>
              <a:rPr lang="en-US" altLang="zh-CN">
                <a:sym typeface="+mn-ea"/>
              </a:rPr>
              <a:t>a.txt</a:t>
            </a:r>
            <a:r>
              <a:rPr lang="zh-CN" altLang="en-US">
                <a:sym typeface="+mn-ea"/>
              </a:rPr>
              <a:t>也属于组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。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假设组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有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个用户，那么除了</a:t>
            </a:r>
            <a:r>
              <a:rPr lang="en-US" altLang="zh-CN">
                <a:sym typeface="+mn-ea"/>
              </a:rPr>
              <a:t>tom</a:t>
            </a:r>
            <a:r>
              <a:rPr lang="zh-CN" altLang="en-US">
                <a:sym typeface="+mn-ea"/>
              </a:rPr>
              <a:t>，该组中其它两个用户也对文件</a:t>
            </a:r>
            <a:r>
              <a:rPr lang="en-US" altLang="zh-CN">
                <a:sym typeface="+mn-ea"/>
              </a:rPr>
              <a:t>a.txt</a:t>
            </a:r>
            <a:r>
              <a:rPr lang="zh-CN" altLang="en-US">
                <a:sym typeface="+mn-ea"/>
              </a:rPr>
              <a:t>有一定的权限</a:t>
            </a:r>
            <a:endParaRPr lang="zh-CN" altLang="en-US"/>
          </a:p>
          <a:p>
            <a:r>
              <a:rPr lang="en-US" altLang="zh-CN" b="1">
                <a:sym typeface="+mn-ea"/>
              </a:rPr>
              <a:t>3)   </a:t>
            </a:r>
            <a:r>
              <a:rPr lang="zh-CN" altLang="en-US" b="1">
                <a:sym typeface="+mn-ea"/>
              </a:rPr>
              <a:t>其它组</a:t>
            </a:r>
            <a:endParaRPr lang="zh-CN" altLang="en-US" b="1">
              <a:sym typeface="+mn-ea"/>
            </a:endParaRPr>
          </a:p>
          <a:p>
            <a:r>
              <a:rPr lang="zh-CN" altLang="en-US">
                <a:sym typeface="+mn-ea"/>
              </a:rPr>
              <a:t>组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组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对于文件</a:t>
            </a:r>
            <a:r>
              <a:rPr lang="en-US" altLang="zh-CN">
                <a:sym typeface="+mn-ea"/>
              </a:rPr>
              <a:t>a.txt</a:t>
            </a:r>
            <a:r>
              <a:rPr lang="zh-CN" altLang="en-US">
                <a:sym typeface="+mn-ea"/>
              </a:rPr>
              <a:t>来说就是其它组。其它组的用户对文件</a:t>
            </a:r>
            <a:r>
              <a:rPr lang="en-US" altLang="zh-CN">
                <a:sym typeface="+mn-ea"/>
              </a:rPr>
              <a:t>a.txt</a:t>
            </a:r>
            <a:r>
              <a:rPr lang="zh-CN" altLang="en-US">
                <a:sym typeface="+mn-ea"/>
              </a:rPr>
              <a:t>也有一定的权限。</a:t>
            </a:r>
            <a:endParaRPr lang="zh-CN" altLang="en-US"/>
          </a:p>
          <a:p>
            <a:endParaRPr lang="zh-CN" altLang="en-US"/>
          </a:p>
        </p:txBody>
      </p:sp>
      <p:cxnSp>
        <p:nvCxnSpPr>
          <p:cNvPr id="4" name="直接箭头连接符 3"/>
          <p:cNvCxnSpPr/>
          <p:nvPr/>
        </p:nvCxnSpPr>
        <p:spPr>
          <a:xfrm flipV="1">
            <a:off x="5017135" y="2635885"/>
            <a:ext cx="2717165" cy="2225675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7974965" y="1913890"/>
            <a:ext cx="40640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提示：用户属于哪个组，该用户创建的文件</a:t>
            </a:r>
            <a:r>
              <a:rPr lang="en-US" altLang="zh-CN" sz="2400" b="1">
                <a:solidFill>
                  <a:srgbClr val="FF0000"/>
                </a:solidFill>
              </a:rPr>
              <a:t>/</a:t>
            </a:r>
            <a:r>
              <a:rPr lang="zh-CN" altLang="en-US" sz="2400" b="1">
                <a:solidFill>
                  <a:srgbClr val="FF0000"/>
                </a:solidFill>
              </a:rPr>
              <a:t>目录就默认属于哪个组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51510" y="589280"/>
            <a:ext cx="9246870" cy="17837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文件</a:t>
            </a:r>
            <a:r>
              <a:rPr lang="en-US" altLang="zh-CN" sz="3600" b="1"/>
              <a:t>/</a:t>
            </a:r>
            <a:r>
              <a:rPr lang="zh-CN" altLang="en-US" sz="3600" b="1"/>
              <a:t>目录的所有者</a:t>
            </a:r>
            <a:endParaRPr lang="zh-CN" altLang="en-US" sz="3600" b="1"/>
          </a:p>
          <a:p>
            <a:endParaRPr lang="zh-CN" altLang="en-US"/>
          </a:p>
          <a:p>
            <a:r>
              <a:rPr lang="zh-CN" altLang="en-US" sz="2800"/>
              <a:t>一般为文件的创建者</a:t>
            </a:r>
            <a:r>
              <a:rPr lang="en-US" altLang="zh-CN" sz="2800"/>
              <a:t>,</a:t>
            </a:r>
            <a:r>
              <a:rPr lang="zh-CN" altLang="en-US" sz="2800"/>
              <a:t>谁创建了该文件，就自然的成为该文件的所有者。</a:t>
            </a:r>
            <a:endParaRPr lang="zh-CN" altLang="en-US" sz="2800"/>
          </a:p>
        </p:txBody>
      </p:sp>
      <p:sp>
        <p:nvSpPr>
          <p:cNvPr id="3" name="文本框 2"/>
          <p:cNvSpPr txBox="1"/>
          <p:nvPr/>
        </p:nvSpPr>
        <p:spPr>
          <a:xfrm>
            <a:off x="811530" y="2686685"/>
            <a:ext cx="10449560" cy="31076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查看文件的所有者</a:t>
            </a:r>
            <a:endParaRPr lang="zh-CN" altLang="en-US" sz="2800"/>
          </a:p>
          <a:p>
            <a:r>
              <a:rPr lang="zh-CN" altLang="en-US" sz="2800"/>
              <a:t>指令：</a:t>
            </a:r>
            <a:r>
              <a:rPr lang="en-US" altLang="zh-CN" sz="2800"/>
              <a:t>ls –ahtl</a:t>
            </a:r>
            <a:r>
              <a:rPr lang="zh-CN" altLang="en-US" sz="2800"/>
              <a:t>（当前目录下全显示包括隐藏文件，大小加上单位，按照修改时间排序，长格式）</a:t>
            </a:r>
            <a:endParaRPr lang="en-US" altLang="zh-CN" sz="2800"/>
          </a:p>
          <a:p>
            <a:endParaRPr lang="zh-CN" altLang="en-US" sz="2800"/>
          </a:p>
          <a:p>
            <a:r>
              <a:rPr lang="zh-CN" altLang="en-US" sz="2800"/>
              <a:t>应用实例</a:t>
            </a:r>
            <a:endParaRPr lang="zh-CN" altLang="en-US" sz="2800"/>
          </a:p>
          <a:p>
            <a:r>
              <a:rPr lang="en-US" altLang="zh-CN" sz="2800"/>
              <a:t>touch 111.txt</a:t>
            </a:r>
            <a:endParaRPr lang="en-US" altLang="zh-CN" sz="2800"/>
          </a:p>
          <a:p>
            <a:r>
              <a:rPr lang="en-US" altLang="zh-CN" sz="2800"/>
              <a:t>ls -l 111.txt</a:t>
            </a:r>
            <a:endParaRPr lang="en-US" altLang="zh-CN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0515" y="4695190"/>
            <a:ext cx="7671435" cy="9664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1010" y="782955"/>
            <a:ext cx="11730990" cy="3507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修改</a:t>
            </a:r>
            <a:r>
              <a:rPr lang="zh-CN" altLang="en-US" sz="3600" b="1"/>
              <a:t>文件</a:t>
            </a:r>
            <a:r>
              <a:rPr lang="zh-CN" altLang="en-US" sz="3600"/>
              <a:t>所有者</a:t>
            </a:r>
            <a:endParaRPr lang="zh-CN" altLang="en-US" sz="3600"/>
          </a:p>
          <a:p>
            <a:endParaRPr lang="zh-CN" altLang="en-US"/>
          </a:p>
          <a:p>
            <a:r>
              <a:rPr lang="zh-CN" altLang="en-US" sz="2800"/>
              <a:t>指令：</a:t>
            </a:r>
            <a:r>
              <a:rPr lang="en-US" altLang="zh-CN" sz="2800"/>
              <a:t>chown  </a:t>
            </a:r>
            <a:r>
              <a:rPr lang="zh-CN" altLang="en-US" sz="2800"/>
              <a:t>新所有者</a:t>
            </a:r>
            <a:r>
              <a:rPr lang="en-US" altLang="zh-CN" sz="2800"/>
              <a:t> </a:t>
            </a:r>
            <a:r>
              <a:rPr lang="zh-CN" altLang="en-US" sz="2800"/>
              <a:t>文件名</a:t>
            </a:r>
            <a:endParaRPr lang="zh-CN" altLang="en-US" sz="2800"/>
          </a:p>
          <a:p>
            <a:r>
              <a:rPr lang="en-US" altLang="zh-CN" sz="2800"/>
              <a:t>chown</a:t>
            </a:r>
            <a:r>
              <a:rPr lang="zh-CN" altLang="en-US" sz="2800"/>
              <a:t>也可以同时修改所有者和所在组</a:t>
            </a:r>
            <a:r>
              <a:rPr lang="en-US" altLang="zh-CN" sz="2800">
                <a:sym typeface="+mn-ea"/>
              </a:rPr>
              <a:t>chown  </a:t>
            </a:r>
            <a:r>
              <a:rPr lang="zh-CN" altLang="en-US" sz="2800">
                <a:sym typeface="+mn-ea"/>
              </a:rPr>
              <a:t>新所有者</a:t>
            </a:r>
            <a:r>
              <a:rPr lang="en-US" altLang="zh-CN" sz="2800">
                <a:sym typeface="+mn-ea"/>
              </a:rPr>
              <a:t>:</a:t>
            </a:r>
            <a:r>
              <a:rPr lang="zh-CN" altLang="en-US" sz="2800">
                <a:sym typeface="+mn-ea"/>
              </a:rPr>
              <a:t>新组</a:t>
            </a:r>
            <a:r>
              <a:rPr lang="en-US" altLang="zh-CN" sz="2800">
                <a:sym typeface="+mn-ea"/>
              </a:rPr>
              <a:t>  </a:t>
            </a:r>
            <a:r>
              <a:rPr lang="zh-CN" altLang="en-US" sz="2800">
                <a:sym typeface="+mn-ea"/>
              </a:rPr>
              <a:t>文件</a:t>
            </a:r>
            <a:r>
              <a:rPr lang="en-US" altLang="zh-CN" sz="2800">
                <a:sym typeface="+mn-ea"/>
              </a:rPr>
              <a:t>/</a:t>
            </a:r>
            <a:r>
              <a:rPr lang="zh-CN" altLang="en-US" sz="2800">
                <a:sym typeface="+mn-ea"/>
              </a:rPr>
              <a:t>目录</a:t>
            </a:r>
            <a:endParaRPr lang="zh-CN" altLang="en-US" sz="2800"/>
          </a:p>
          <a:p>
            <a:r>
              <a:rPr lang="zh-CN" altLang="en-US" sz="2800"/>
              <a:t>应用案例</a:t>
            </a:r>
            <a:endParaRPr lang="zh-CN" altLang="en-US" sz="2800"/>
          </a:p>
          <a:p>
            <a:r>
              <a:rPr lang="zh-CN" altLang="en-US" sz="2800"/>
              <a:t>要求：使用</a:t>
            </a:r>
            <a:r>
              <a:rPr lang="en-US" altLang="zh-CN" sz="2800"/>
              <a:t> root  </a:t>
            </a:r>
            <a:r>
              <a:rPr lang="zh-CN" altLang="en-US" sz="2800"/>
              <a:t>创建一个文件</a:t>
            </a:r>
            <a:r>
              <a:rPr lang="en-US" altLang="zh-CN" sz="2800"/>
              <a:t> apple.txt  </a:t>
            </a:r>
            <a:r>
              <a:rPr lang="zh-CN" altLang="en-US" sz="2800"/>
              <a:t>，然后将其所有者修改成</a:t>
            </a:r>
            <a:r>
              <a:rPr lang="en-US" altLang="zh-CN" sz="2800"/>
              <a:t> tom </a:t>
            </a:r>
            <a:r>
              <a:rPr lang="zh-CN" altLang="en-US" sz="2800"/>
              <a:t>。</a:t>
            </a:r>
            <a:endParaRPr lang="zh-CN" altLang="en-US" sz="2800"/>
          </a:p>
          <a:p>
            <a:endParaRPr lang="zh-CN" altLang="en-US" sz="2800"/>
          </a:p>
          <a:p>
            <a:endParaRPr lang="en-US" altLang="zh-CN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4154170"/>
            <a:ext cx="8073390" cy="17684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0690" y="680720"/>
            <a:ext cx="9728200" cy="6013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600"/>
              <a:t>组的创建</a:t>
            </a:r>
            <a:endParaRPr lang="zh-CN" altLang="en-US" sz="3600"/>
          </a:p>
          <a:p>
            <a:endParaRPr lang="zh-CN" altLang="en-US"/>
          </a:p>
          <a:p>
            <a:r>
              <a:rPr lang="zh-CN" altLang="en-US" sz="2800"/>
              <a:t>基本指令</a:t>
            </a:r>
            <a:endParaRPr lang="zh-CN" altLang="en-US" sz="2800"/>
          </a:p>
          <a:p>
            <a:r>
              <a:rPr lang="en-US" altLang="zh-CN" sz="2800"/>
              <a:t>groupadd  </a:t>
            </a:r>
            <a:r>
              <a:rPr lang="zh-CN" altLang="en-US" sz="2800"/>
              <a:t>组名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应用实例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创建一个组</a:t>
            </a:r>
            <a:r>
              <a:rPr lang="en-US" altLang="zh-CN" sz="2800"/>
              <a:t>monster </a:t>
            </a:r>
            <a:endParaRPr lang="en-US" altLang="zh-CN" sz="2800"/>
          </a:p>
          <a:p>
            <a:r>
              <a:rPr lang="en-US" altLang="zh-CN" sz="2800"/>
              <a:t>groupadd monster</a:t>
            </a:r>
            <a:endParaRPr lang="en-US" altLang="zh-CN" sz="2800"/>
          </a:p>
          <a:p>
            <a:r>
              <a:rPr lang="zh-CN" altLang="en-US" sz="2800"/>
              <a:t>创建一个用户</a:t>
            </a:r>
            <a:r>
              <a:rPr lang="en-US" altLang="zh-CN" sz="2800"/>
              <a:t> fox  </a:t>
            </a:r>
            <a:r>
              <a:rPr lang="zh-CN" altLang="en-US" sz="2800"/>
              <a:t>，并放入到</a:t>
            </a:r>
            <a:r>
              <a:rPr lang="en-US" altLang="zh-CN" sz="2800"/>
              <a:t>  monster </a:t>
            </a:r>
            <a:r>
              <a:rPr lang="zh-CN" altLang="en-US" sz="2800"/>
              <a:t>组中</a:t>
            </a:r>
            <a:endParaRPr lang="zh-CN" altLang="en-US" sz="2800"/>
          </a:p>
          <a:p>
            <a:r>
              <a:rPr lang="en-US" altLang="zh-CN" sz="2800"/>
              <a:t>useradd -g monster fox</a:t>
            </a:r>
            <a:endParaRPr lang="en-US" altLang="zh-CN" sz="2800"/>
          </a:p>
          <a:p>
            <a:endParaRPr lang="zh-CN" altLang="en-US" sz="2800"/>
          </a:p>
          <a:p>
            <a:r>
              <a:rPr lang="zh-CN" altLang="en-US" sz="2800"/>
              <a:t>提示：如果</a:t>
            </a:r>
            <a:r>
              <a:rPr lang="en-US" altLang="zh-CN" sz="2800"/>
              <a:t>useradd fox </a:t>
            </a:r>
            <a:r>
              <a:rPr lang="zh-CN" altLang="en-US" sz="2800"/>
              <a:t>就会创建一个与用户名同名的组，然后把新用户</a:t>
            </a:r>
            <a:r>
              <a:rPr lang="en-US" altLang="zh-CN" sz="2800"/>
              <a:t>fox</a:t>
            </a:r>
            <a:r>
              <a:rPr lang="zh-CN" altLang="en-US" sz="2800"/>
              <a:t>放入到同名的</a:t>
            </a:r>
            <a:r>
              <a:rPr lang="en-US" altLang="zh-CN" sz="2800"/>
              <a:t>fox</a:t>
            </a:r>
            <a:r>
              <a:rPr lang="zh-CN" altLang="en-US" sz="2800"/>
              <a:t>组中</a:t>
            </a:r>
            <a:endParaRPr lang="en-US" altLang="zh-CN" sz="2800"/>
          </a:p>
          <a:p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2830" y="3745230"/>
            <a:ext cx="5306060" cy="6616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74005" y="161290"/>
            <a:ext cx="6817995" cy="18434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zh-CN" sz="2000" b="1"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41300" y="108585"/>
            <a:ext cx="11830685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ym typeface="+mn-ea"/>
              </a:rPr>
              <a:t>添加新组</a:t>
            </a:r>
            <a:r>
              <a:rPr lang="en-US" altLang="zh-CN" sz="2000" b="1">
                <a:sym typeface="+mn-ea"/>
              </a:rPr>
              <a:t>group1</a:t>
            </a:r>
            <a:endParaRPr lang="en-US" altLang="zh-CN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groupadd group1</a:t>
            </a:r>
            <a:endParaRPr lang="en-US" altLang="zh-CN" sz="2000" b="1">
              <a:sym typeface="+mn-ea"/>
            </a:endParaRPr>
          </a:p>
          <a:p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修改组的</a:t>
            </a:r>
            <a:r>
              <a:rPr lang="en-US" altLang="zh-CN" sz="2000" b="1">
                <a:sym typeface="+mn-ea"/>
              </a:rPr>
              <a:t>GID</a:t>
            </a:r>
            <a:endParaRPr lang="en-US" altLang="zh-CN" sz="2000" b="1"/>
          </a:p>
          <a:p>
            <a:r>
              <a:rPr lang="zh-CN" altLang="en-US" sz="2000" b="1">
                <a:sym typeface="+mn-ea"/>
              </a:rPr>
              <a:t>指令：</a:t>
            </a:r>
            <a:r>
              <a:rPr lang="en-US" altLang="zh-CN" sz="2000" b="1">
                <a:sym typeface="+mn-ea"/>
              </a:rPr>
              <a:t>gruopmod -g </a:t>
            </a:r>
            <a:r>
              <a:rPr lang="zh-CN" altLang="en-US" sz="2000" b="1">
                <a:sym typeface="+mn-ea"/>
              </a:rPr>
              <a:t>组号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组名</a:t>
            </a:r>
            <a:endParaRPr lang="zh-CN" altLang="en-US" sz="2000" b="1"/>
          </a:p>
          <a:p>
            <a:r>
              <a:rPr lang="zh-CN" altLang="en-US" sz="2000" b="1">
                <a:sym typeface="+mn-ea"/>
              </a:rPr>
              <a:t>修改组群</a:t>
            </a:r>
            <a:r>
              <a:rPr lang="en-US" altLang="zh-CN" sz="2000" b="1">
                <a:sym typeface="+mn-ea"/>
              </a:rPr>
              <a:t>group1</a:t>
            </a:r>
            <a:r>
              <a:rPr lang="zh-CN" altLang="en-US" sz="2000" b="1">
                <a:sym typeface="+mn-ea"/>
              </a:rPr>
              <a:t>的新的</a:t>
            </a:r>
            <a:r>
              <a:rPr lang="en-US" altLang="zh-CN" sz="2000" b="1">
                <a:sym typeface="+mn-ea"/>
              </a:rPr>
              <a:t>GID</a:t>
            </a:r>
            <a:r>
              <a:rPr lang="zh-CN" altLang="en-US" sz="2000" b="1">
                <a:sym typeface="+mn-ea"/>
              </a:rPr>
              <a:t>为</a:t>
            </a:r>
            <a:r>
              <a:rPr lang="en-US" altLang="zh-CN" sz="2000" b="1">
                <a:sym typeface="+mn-ea"/>
              </a:rPr>
              <a:t>900</a:t>
            </a:r>
            <a:r>
              <a:rPr lang="zh-CN" altLang="en-US" sz="2000" b="1">
                <a:sym typeface="+mn-ea"/>
              </a:rPr>
              <a:t>。</a:t>
            </a:r>
            <a:endParaRPr lang="zh-CN" altLang="en-US" sz="2000" b="1"/>
          </a:p>
          <a:p>
            <a:r>
              <a:rPr lang="en-US" altLang="zh-CN" sz="2000" b="1">
                <a:sym typeface="+mn-ea"/>
              </a:rPr>
              <a:t>groupmod -g 900 group1</a:t>
            </a:r>
            <a:endParaRPr lang="en-US" altLang="zh-CN" sz="2000" b="1">
              <a:sym typeface="+mn-ea"/>
            </a:endParaRPr>
          </a:p>
          <a:p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修改组的组名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指令：</a:t>
            </a:r>
            <a:r>
              <a:rPr lang="en-US" altLang="zh-CN" sz="2000" b="1">
                <a:sym typeface="+mn-ea"/>
              </a:rPr>
              <a:t>groupmod -n </a:t>
            </a:r>
            <a:r>
              <a:rPr lang="zh-CN" altLang="en-US" sz="2000" b="1">
                <a:sym typeface="+mn-ea"/>
              </a:rPr>
              <a:t>新组名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旧组名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例子：使用命令修改组群</a:t>
            </a:r>
            <a:r>
              <a:rPr lang="en-US" altLang="zh-CN" sz="2000" b="1">
                <a:sym typeface="+mn-ea"/>
              </a:rPr>
              <a:t>group1</a:t>
            </a:r>
            <a:r>
              <a:rPr lang="zh-CN" altLang="en-US" sz="2000" b="1">
                <a:sym typeface="+mn-ea"/>
              </a:rPr>
              <a:t>的新组群名称为</a:t>
            </a:r>
            <a:r>
              <a:rPr lang="en-US" altLang="zh-CN" sz="2000" b="1">
                <a:sym typeface="+mn-ea"/>
              </a:rPr>
              <a:t>newgroup</a:t>
            </a:r>
            <a:endParaRPr lang="en-US" altLang="zh-CN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groupmod -n newgroup group1</a:t>
            </a:r>
            <a:endParaRPr lang="en-US" altLang="zh-CN" sz="2000" b="1">
              <a:sym typeface="+mn-ea"/>
            </a:endParaRPr>
          </a:p>
          <a:p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设置组的口令（密码）</a:t>
            </a:r>
            <a:endParaRPr lang="en-US" altLang="zh-CN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gpasswd </a:t>
            </a:r>
            <a:r>
              <a:rPr lang="zh-CN" altLang="en-US" sz="2000" b="1">
                <a:sym typeface="+mn-ea"/>
              </a:rPr>
              <a:t>组名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例子：设置组群</a:t>
            </a:r>
            <a:r>
              <a:rPr lang="en-US" altLang="zh-CN" sz="2000" b="1">
                <a:sym typeface="+mn-ea"/>
              </a:rPr>
              <a:t>newgroup</a:t>
            </a:r>
            <a:r>
              <a:rPr lang="zh-CN" altLang="en-US" sz="2000" b="1">
                <a:sym typeface="+mn-ea"/>
              </a:rPr>
              <a:t>的口令为</a:t>
            </a:r>
            <a:r>
              <a:rPr lang="en-US" altLang="zh-CN" sz="2000" b="1">
                <a:sym typeface="+mn-ea"/>
              </a:rPr>
              <a:t>222222</a:t>
            </a:r>
            <a:r>
              <a:rPr lang="zh-CN" altLang="en-US" sz="2000" b="1">
                <a:sym typeface="+mn-ea"/>
              </a:rPr>
              <a:t>。</a:t>
            </a:r>
            <a:endParaRPr lang="zh-CN" altLang="en-US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gpasswd newgroup</a:t>
            </a:r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按提示输入密码：</a:t>
            </a:r>
            <a:r>
              <a:rPr lang="en-US" altLang="zh-CN" sz="2000" b="1">
                <a:sym typeface="+mn-ea"/>
              </a:rPr>
              <a:t>222222</a:t>
            </a:r>
            <a:r>
              <a:rPr lang="zh-CN" altLang="en-US" sz="2000" b="1">
                <a:sym typeface="+mn-ea"/>
              </a:rPr>
              <a:t>，确认密码。</a:t>
            </a:r>
            <a:endParaRPr lang="zh-CN" altLang="en-US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组密码的作用：本来不属于该组的当前用户通过指令     newgrp 组名</a:t>
            </a:r>
            <a:r>
              <a:rPr lang="zh-CN" altLang="en-US" sz="2000" b="1">
                <a:sym typeface="+mn-ea"/>
              </a:rPr>
              <a:t>并输入密码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临时切换到指定组</a:t>
            </a:r>
            <a:endParaRPr lang="en-US" altLang="zh-CN" sz="2000" b="1">
              <a:sym typeface="+mn-ea"/>
            </a:endParaRPr>
          </a:p>
          <a:p>
            <a:endParaRPr lang="zh-CN" altLang="en-US" sz="2000" b="1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02910" y="108585"/>
            <a:ext cx="6096000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ym typeface="+mn-ea"/>
              </a:rPr>
              <a:t>新增组时设置组号：</a:t>
            </a:r>
            <a:endParaRPr lang="en-US" altLang="zh-CN" sz="2000" b="1"/>
          </a:p>
          <a:p>
            <a:r>
              <a:rPr lang="zh-CN" altLang="en-US" sz="2000" b="1">
                <a:sym typeface="+mn-ea"/>
              </a:rPr>
              <a:t>指令：</a:t>
            </a:r>
            <a:r>
              <a:rPr lang="en-US" altLang="zh-CN" sz="2000" b="1">
                <a:sym typeface="+mn-ea"/>
              </a:rPr>
              <a:t>groupadd -g </a:t>
            </a:r>
            <a:r>
              <a:rPr lang="zh-CN" altLang="en-US" sz="2000" b="1">
                <a:sym typeface="+mn-ea"/>
              </a:rPr>
              <a:t>组号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组名</a:t>
            </a:r>
            <a:endParaRPr lang="zh-CN" altLang="en-US" sz="2000" b="1"/>
          </a:p>
          <a:p>
            <a:r>
              <a:rPr lang="zh-CN" altLang="en-US" sz="2000" b="1">
                <a:sym typeface="+mn-ea"/>
              </a:rPr>
              <a:t>例子：使用命令创建组群</a:t>
            </a:r>
            <a:r>
              <a:rPr lang="en-US" altLang="zh-CN" sz="2000" b="1">
                <a:sym typeface="+mn-ea"/>
              </a:rPr>
              <a:t>group1</a:t>
            </a:r>
            <a:r>
              <a:rPr lang="zh-CN" altLang="en-US" sz="2000" b="1">
                <a:sym typeface="+mn-ea"/>
              </a:rPr>
              <a:t>，并且在创建时设置其</a:t>
            </a:r>
            <a:r>
              <a:rPr lang="en-US" altLang="zh-CN" sz="2000" b="1">
                <a:sym typeface="+mn-ea"/>
              </a:rPr>
              <a:t>GID</a:t>
            </a:r>
            <a:r>
              <a:rPr lang="zh-CN" altLang="en-US" sz="2000" b="1">
                <a:sym typeface="+mn-ea"/>
              </a:rPr>
              <a:t>为</a:t>
            </a:r>
            <a:r>
              <a:rPr lang="en-US" altLang="zh-CN" sz="2000" b="1">
                <a:sym typeface="+mn-ea"/>
              </a:rPr>
              <a:t>800</a:t>
            </a:r>
            <a:r>
              <a:rPr lang="zh-CN" altLang="en-US" sz="2000" b="1">
                <a:sym typeface="+mn-ea"/>
              </a:rPr>
              <a:t>。</a:t>
            </a:r>
            <a:endParaRPr lang="zh-CN" altLang="en-US" sz="2000" b="1"/>
          </a:p>
          <a:p>
            <a:r>
              <a:rPr lang="en-US" altLang="zh-CN" sz="2000" b="1">
                <a:sym typeface="+mn-ea"/>
              </a:rPr>
              <a:t>groupadd -g 800 group1</a:t>
            </a:r>
            <a:endParaRPr lang="en-US" altLang="zh-CN" sz="2000" b="1">
              <a:sym typeface="+mn-ea"/>
            </a:endParaRPr>
          </a:p>
          <a:p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删除组：</a:t>
            </a:r>
            <a:endParaRPr lang="zh-CN" altLang="en-US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指令：</a:t>
            </a:r>
            <a:r>
              <a:rPr lang="en-US" altLang="zh-CN" sz="2000" b="1">
                <a:sym typeface="+mn-ea"/>
              </a:rPr>
              <a:t>groupdel </a:t>
            </a:r>
            <a:r>
              <a:rPr lang="zh-CN" altLang="en-US" sz="2000" b="1">
                <a:sym typeface="+mn-ea"/>
              </a:rPr>
              <a:t>组名</a:t>
            </a:r>
            <a:endParaRPr lang="en-US" altLang="zh-CN" sz="2000" b="1">
              <a:sym typeface="+mn-ea"/>
            </a:endParaRPr>
          </a:p>
          <a:p>
            <a:r>
              <a:rPr lang="zh-CN" altLang="en-US" sz="2000" b="1">
                <a:sym typeface="+mn-ea"/>
              </a:rPr>
              <a:t>例子：删除组群</a:t>
            </a:r>
            <a:r>
              <a:rPr lang="en-US" altLang="zh-CN" sz="2000" b="1">
                <a:sym typeface="+mn-ea"/>
              </a:rPr>
              <a:t>newgroup</a:t>
            </a:r>
            <a:endParaRPr lang="zh-CN" altLang="en-US" sz="2000" b="1">
              <a:sym typeface="+mn-ea"/>
            </a:endParaRPr>
          </a:p>
          <a:p>
            <a:r>
              <a:rPr lang="en-US" altLang="zh-CN" sz="2000" b="1">
                <a:sym typeface="+mn-ea"/>
              </a:rPr>
              <a:t>groupdel newgroup</a:t>
            </a:r>
            <a:endParaRPr lang="en-US" altLang="zh-CN" sz="2000" b="1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21780" y="4138295"/>
            <a:ext cx="52419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groups:</a:t>
            </a:r>
            <a:r>
              <a:rPr lang="zh-CN" altLang="en-US" sz="2400" b="1"/>
              <a:t>查看当前回话用户所有的组，包括临时加入的组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541020" y="590550"/>
            <a:ext cx="1099121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文件</a:t>
            </a:r>
            <a:r>
              <a:rPr lang="en-US" altLang="zh-CN" sz="3600"/>
              <a:t>/</a:t>
            </a:r>
            <a:r>
              <a:rPr lang="zh-CN" altLang="en-US" sz="3600"/>
              <a:t>目录所在组</a:t>
            </a:r>
            <a:endParaRPr lang="zh-CN" altLang="en-US" sz="3600"/>
          </a:p>
          <a:p>
            <a:r>
              <a:rPr lang="zh-CN" altLang="en-US" sz="2800"/>
              <a:t>当某个用户创建了一个文件后，这个文件的所在组就是该用户所在的组</a:t>
            </a:r>
            <a:r>
              <a:rPr lang="en-US" altLang="zh-CN" sz="2800"/>
              <a:t>(</a:t>
            </a:r>
            <a:r>
              <a:rPr lang="zh-CN" altLang="en-US" sz="2800"/>
              <a:t>默认</a:t>
            </a:r>
            <a:r>
              <a:rPr lang="en-US" altLang="zh-CN" sz="2800"/>
              <a:t>)</a:t>
            </a:r>
            <a:r>
              <a:rPr lang="zh-CN" altLang="en-US" sz="2800"/>
              <a:t>。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查看文件的所在组（</a:t>
            </a:r>
            <a:r>
              <a:rPr lang="en-US" altLang="zh-CN" sz="2800"/>
              <a:t>ls -l</a:t>
            </a:r>
            <a:r>
              <a:rPr lang="zh-CN" altLang="en-US" sz="2800"/>
              <a:t>长格式信息就包括改文件的所有者和所在组）</a:t>
            </a:r>
            <a:endParaRPr lang="zh-CN" altLang="en-US" sz="2800"/>
          </a:p>
          <a:p>
            <a:r>
              <a:rPr lang="zh-CN" altLang="en-US" sz="2800">
                <a:sym typeface="+mn-ea"/>
              </a:rPr>
              <a:t>指令：</a:t>
            </a:r>
            <a:r>
              <a:rPr lang="en-US" altLang="zh-CN" sz="2800">
                <a:sym typeface="+mn-ea"/>
              </a:rPr>
              <a:t>ls –ahtl</a:t>
            </a:r>
            <a:r>
              <a:rPr lang="zh-CN" altLang="en-US" sz="2800">
                <a:sym typeface="+mn-ea"/>
              </a:rPr>
              <a:t>（当前目录下全显示包括隐藏文件，大小加上单位，按照修改时间排序，长格式）</a:t>
            </a:r>
            <a:endParaRPr lang="en-US" altLang="zh-CN" sz="2800"/>
          </a:p>
          <a:p>
            <a:endParaRPr lang="zh-CN" altLang="en-US" sz="2800"/>
          </a:p>
          <a:p>
            <a:r>
              <a:rPr lang="zh-CN" altLang="en-US" sz="2800">
                <a:sym typeface="+mn-ea"/>
              </a:rPr>
              <a:t>用</a:t>
            </a:r>
            <a:r>
              <a:rPr lang="en-US" altLang="zh-CN" sz="2800">
                <a:sym typeface="+mn-ea"/>
              </a:rPr>
              <a:t>fox</a:t>
            </a:r>
            <a:r>
              <a:rPr lang="zh-CN" altLang="en-US" sz="2800">
                <a:sym typeface="+mn-ea"/>
              </a:rPr>
              <a:t>用户创建一个新文件，看看新文件所在组？</a:t>
            </a:r>
            <a:endParaRPr lang="zh-CN" altLang="en-US" sz="2800"/>
          </a:p>
          <a:p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4744085"/>
            <a:ext cx="5835015" cy="13652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0365" y="640715"/>
            <a:ext cx="1011999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修改</a:t>
            </a:r>
            <a:r>
              <a:rPr lang="zh-CN" altLang="en-US" sz="3600" b="1"/>
              <a:t>文件</a:t>
            </a:r>
            <a:r>
              <a:rPr lang="en-US" altLang="zh-CN" sz="3600" b="1"/>
              <a:t>/</a:t>
            </a:r>
            <a:r>
              <a:rPr lang="zh-CN" altLang="en-US" sz="3600" b="1"/>
              <a:t>目录</a:t>
            </a:r>
            <a:r>
              <a:rPr lang="zh-CN" altLang="en-US" sz="3600"/>
              <a:t>的所在组</a:t>
            </a:r>
            <a:endParaRPr lang="zh-CN" altLang="en-US" sz="3600"/>
          </a:p>
          <a:p>
            <a:endParaRPr lang="zh-CN" altLang="en-US" sz="2400"/>
          </a:p>
          <a:p>
            <a:r>
              <a:rPr lang="zh-CN" altLang="en-US" sz="2400"/>
              <a:t>基本指令</a:t>
            </a:r>
            <a:endParaRPr lang="zh-CN" altLang="en-US" sz="2400"/>
          </a:p>
          <a:p>
            <a:r>
              <a:rPr lang="en-US" altLang="zh-CN" sz="2400" b="1"/>
              <a:t>chgrp</a:t>
            </a:r>
            <a:r>
              <a:rPr lang="en-US" altLang="zh-CN" sz="2400"/>
              <a:t>  </a:t>
            </a:r>
            <a:r>
              <a:rPr lang="zh-CN" altLang="en-US" sz="2400"/>
              <a:t>组名</a:t>
            </a:r>
            <a:r>
              <a:rPr lang="en-US" altLang="zh-CN" sz="2400"/>
              <a:t> </a:t>
            </a:r>
            <a:r>
              <a:rPr lang="zh-CN" altLang="en-US" sz="2400"/>
              <a:t>文件名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应用实例</a:t>
            </a:r>
            <a:endParaRPr lang="zh-CN" altLang="en-US" sz="2400"/>
          </a:p>
          <a:p>
            <a:r>
              <a:rPr lang="zh-CN" altLang="en-US" sz="2400"/>
              <a:t>使用</a:t>
            </a:r>
            <a:r>
              <a:rPr lang="en-US" altLang="zh-CN" sz="2400"/>
              <a:t> root </a:t>
            </a:r>
            <a:r>
              <a:rPr lang="zh-CN" altLang="en-US" sz="2400"/>
              <a:t>用户创建文件</a:t>
            </a:r>
            <a:r>
              <a:rPr lang="en-US" altLang="zh-CN" sz="2400"/>
              <a:t> orange.txt ,</a:t>
            </a:r>
            <a:r>
              <a:rPr lang="zh-CN" altLang="en-US" sz="2400"/>
              <a:t>看看当前这个文件属于哪个组，然后将这个文件所在组，修改到</a:t>
            </a:r>
            <a:r>
              <a:rPr lang="en-US" altLang="zh-CN" sz="2400"/>
              <a:t> fruit </a:t>
            </a:r>
            <a:r>
              <a:rPr lang="zh-CN" altLang="en-US" sz="2400"/>
              <a:t>组。</a:t>
            </a:r>
            <a:endParaRPr lang="zh-CN" altLang="en-US" sz="2400"/>
          </a:p>
          <a:p>
            <a:r>
              <a:rPr lang="en-US" altLang="zh-CN" sz="2400"/>
              <a:t>1. groupadd fruit</a:t>
            </a:r>
            <a:endParaRPr lang="en-US" altLang="zh-CN" sz="2400"/>
          </a:p>
          <a:p>
            <a:r>
              <a:rPr lang="en-US" altLang="zh-CN" sz="2400"/>
              <a:t>2. touch orange.txt</a:t>
            </a:r>
            <a:endParaRPr lang="en-US" altLang="zh-CN" sz="2400"/>
          </a:p>
          <a:p>
            <a:r>
              <a:rPr lang="en-US" altLang="zh-CN" sz="2400"/>
              <a:t>3.  </a:t>
            </a:r>
            <a:r>
              <a:rPr lang="zh-CN" altLang="en-US" sz="2400"/>
              <a:t>看看当前这个文件属于哪个组</a:t>
            </a:r>
            <a:r>
              <a:rPr lang="en-US" altLang="zh-CN" sz="2400"/>
              <a:t> -&gt; root </a:t>
            </a:r>
            <a:r>
              <a:rPr lang="zh-CN" altLang="en-US" sz="2400"/>
              <a:t>组</a:t>
            </a:r>
            <a:endParaRPr lang="zh-CN" altLang="en-US" sz="2400"/>
          </a:p>
          <a:p>
            <a:r>
              <a:rPr lang="en-US" altLang="zh-CN" sz="2400"/>
              <a:t>4. chgrp fruit orange.txt</a:t>
            </a:r>
            <a:endParaRPr lang="en-US" altLang="zh-CN" sz="2400"/>
          </a:p>
          <a:p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4349750"/>
            <a:ext cx="5783580" cy="163004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61010" y="751205"/>
            <a:ext cx="1051052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其它组</a:t>
            </a:r>
            <a:endParaRPr lang="zh-CN" altLang="en-US" sz="3200"/>
          </a:p>
          <a:p>
            <a:endParaRPr lang="zh-CN" altLang="en-US" sz="3200"/>
          </a:p>
          <a:p>
            <a:r>
              <a:rPr lang="zh-CN" altLang="en-US" sz="2800"/>
              <a:t>除文件的所有者和所在组的用户外，系统的其它用户都属于文件的其它组</a:t>
            </a:r>
            <a:endParaRPr lang="zh-CN" altLang="en-US" sz="2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40690" y="680720"/>
            <a:ext cx="1038923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查询</a:t>
            </a:r>
            <a:r>
              <a:rPr lang="zh-CN" altLang="en-US" sz="3600" b="1"/>
              <a:t>用户</a:t>
            </a:r>
            <a:r>
              <a:rPr lang="zh-CN" altLang="en-US" sz="3600"/>
              <a:t>信息指令</a:t>
            </a:r>
            <a:endParaRPr lang="zh-CN" altLang="en-US" sz="2800"/>
          </a:p>
          <a:p>
            <a:r>
              <a:rPr lang="zh-CN" altLang="en-US" sz="2800"/>
              <a:t>基本语法</a:t>
            </a:r>
            <a:endParaRPr lang="zh-CN" altLang="en-US" sz="2800"/>
          </a:p>
          <a:p>
            <a:r>
              <a:rPr lang="en-US" altLang="zh-CN" sz="2800"/>
              <a:t>id    </a:t>
            </a:r>
            <a:r>
              <a:rPr lang="zh-CN" altLang="en-US" sz="2800"/>
              <a:t>用户名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应用实例</a:t>
            </a:r>
            <a:endParaRPr lang="zh-CN" altLang="en-US" sz="2800"/>
          </a:p>
          <a:p>
            <a:r>
              <a:rPr lang="zh-CN" altLang="en-US" sz="2800"/>
              <a:t>案例：请查询</a:t>
            </a:r>
            <a:r>
              <a:rPr lang="en-US" altLang="zh-CN" sz="2800"/>
              <a:t> root    </a:t>
            </a:r>
            <a:r>
              <a:rPr lang="zh-CN" altLang="en-US" sz="2800"/>
              <a:t>信息</a:t>
            </a:r>
            <a:endParaRPr lang="zh-CN" altLang="en-US" sz="2800"/>
          </a:p>
          <a:p>
            <a:r>
              <a:rPr lang="en-US" altLang="zh-CN" sz="2800"/>
              <a:t>id root</a:t>
            </a:r>
            <a:endParaRPr lang="en-US" altLang="zh-CN" sz="2800"/>
          </a:p>
          <a:p>
            <a:endParaRPr lang="zh-CN" altLang="en-US" sz="2800"/>
          </a:p>
          <a:p>
            <a:r>
              <a:rPr lang="zh-CN" altLang="en-US" sz="2800"/>
              <a:t>细节说明</a:t>
            </a:r>
            <a:endParaRPr lang="zh-CN" altLang="en-US" sz="2800"/>
          </a:p>
          <a:p>
            <a:r>
              <a:rPr lang="zh-CN" altLang="en-US" sz="2800"/>
              <a:t>当用户不存在时，返回无此用户</a:t>
            </a:r>
            <a:endParaRPr lang="zh-CN" altLang="en-US" sz="2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2400" y="228600"/>
            <a:ext cx="11715750" cy="62471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改变</a:t>
            </a:r>
            <a:r>
              <a:rPr lang="zh-CN" altLang="en-US" sz="3600" b="1"/>
              <a:t>用户</a:t>
            </a:r>
            <a:r>
              <a:rPr lang="zh-CN" altLang="en-US" sz="3600"/>
              <a:t>所在组（主组）</a:t>
            </a:r>
            <a:endParaRPr lang="zh-CN" altLang="en-US" sz="3600"/>
          </a:p>
          <a:p>
            <a:r>
              <a:rPr lang="zh-CN" altLang="en-US" sz="2800"/>
              <a:t>在添加用户时，可以指定将该用户添加到哪个组中，同样的用</a:t>
            </a:r>
            <a:r>
              <a:rPr lang="en-US" altLang="zh-CN" sz="2800"/>
              <a:t> root </a:t>
            </a:r>
            <a:r>
              <a:rPr lang="zh-CN" altLang="en-US" sz="2800"/>
              <a:t>的管理权限可以改变某个用户所在的组。</a:t>
            </a:r>
            <a:endParaRPr lang="en-US" altLang="zh-CN" sz="2800"/>
          </a:p>
          <a:p>
            <a:r>
              <a:rPr lang="en-US" altLang="zh-CN" sz="2800"/>
              <a:t>usermod       –g      </a:t>
            </a:r>
            <a:r>
              <a:rPr lang="zh-CN" altLang="en-US" sz="2800"/>
              <a:t>新组名</a:t>
            </a:r>
            <a:r>
              <a:rPr lang="en-US" altLang="zh-CN" sz="2800"/>
              <a:t>  </a:t>
            </a:r>
            <a:r>
              <a:rPr lang="zh-CN" altLang="en-US" sz="2800"/>
              <a:t>用户名</a:t>
            </a:r>
            <a:r>
              <a:rPr lang="en-US" altLang="zh-CN" sz="2800"/>
              <a:t>               </a:t>
            </a:r>
            <a:r>
              <a:rPr lang="zh-CN" altLang="en-US" sz="2800"/>
              <a:t>作用：修改</a:t>
            </a:r>
            <a:r>
              <a:rPr lang="zh-CN" altLang="en-US" sz="2800"/>
              <a:t>用户所在组</a:t>
            </a:r>
            <a:endParaRPr lang="zh-CN" altLang="en-US" sz="2800"/>
          </a:p>
          <a:p>
            <a:r>
              <a:rPr lang="en-US" altLang="zh-CN" sz="2800"/>
              <a:t>usermod       –d      </a:t>
            </a:r>
            <a:r>
              <a:rPr lang="zh-CN" altLang="en-US" sz="2800"/>
              <a:t>目录名</a:t>
            </a:r>
            <a:r>
              <a:rPr lang="en-US" altLang="zh-CN" sz="2800"/>
              <a:t>  </a:t>
            </a:r>
            <a:r>
              <a:rPr lang="zh-CN" altLang="en-US" sz="2800"/>
              <a:t>用户名</a:t>
            </a:r>
            <a:r>
              <a:rPr lang="en-US" altLang="zh-CN" sz="2800"/>
              <a:t>               </a:t>
            </a:r>
            <a:endParaRPr lang="en-US" altLang="zh-CN" sz="2800"/>
          </a:p>
          <a:p>
            <a:r>
              <a:rPr lang="zh-CN" altLang="en-US" sz="2800"/>
              <a:t>作用：改变该用户的家目录。但是</a:t>
            </a:r>
            <a:r>
              <a:rPr lang="zh-CN" altLang="en-US" sz="2800" b="1">
                <a:solidFill>
                  <a:srgbClr val="FF0000"/>
                </a:solidFill>
              </a:rPr>
              <a:t>新的家目录需要提前创建好</a:t>
            </a:r>
            <a:r>
              <a:rPr lang="zh-CN" altLang="en-US" sz="2800"/>
              <a:t>，</a:t>
            </a:r>
            <a:r>
              <a:rPr lang="zh-CN" altLang="en-US" sz="2800">
                <a:solidFill>
                  <a:srgbClr val="FF0000"/>
                </a:solidFill>
              </a:rPr>
              <a:t>旧目录内容不会挪到新目录</a:t>
            </a:r>
            <a:r>
              <a:rPr lang="zh-CN" altLang="en-US" sz="2800"/>
              <a:t>，且</a:t>
            </a:r>
            <a:r>
              <a:rPr lang="zh-CN" altLang="en-US" sz="2800">
                <a:solidFill>
                  <a:srgbClr val="FF0000"/>
                </a:solidFill>
              </a:rPr>
              <a:t>用户需要有进入到新目录的权限</a:t>
            </a:r>
            <a:r>
              <a:rPr lang="zh-CN" altLang="en-US" sz="2800"/>
              <a:t>。（通常不用这个命令）</a:t>
            </a:r>
            <a:endParaRPr lang="zh-CN" altLang="en-US" sz="2800"/>
          </a:p>
          <a:p>
            <a:endParaRPr lang="zh-CN" altLang="en-US" sz="2800"/>
          </a:p>
          <a:p>
            <a:r>
              <a:rPr lang="zh-CN" altLang="en-US" sz="2800"/>
              <a:t>我们通常加上</a:t>
            </a:r>
            <a:r>
              <a:rPr lang="en-US" altLang="zh-CN" sz="2800"/>
              <a:t>-m</a:t>
            </a:r>
            <a:r>
              <a:rPr lang="zh-CN" altLang="en-US" sz="2800"/>
              <a:t>来使用这条命令。</a:t>
            </a:r>
            <a:endParaRPr lang="zh-CN" altLang="en-US" sz="2800"/>
          </a:p>
          <a:p>
            <a:r>
              <a:rPr lang="en-US" altLang="zh-CN" sz="2800">
                <a:sym typeface="+mn-ea"/>
              </a:rPr>
              <a:t>usermod       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–d</a:t>
            </a:r>
            <a:r>
              <a:rPr lang="en-US" altLang="zh-CN" sz="2800">
                <a:sym typeface="+mn-ea"/>
              </a:rPr>
              <a:t>     </a:t>
            </a:r>
            <a:r>
              <a:rPr lang="zh-CN" altLang="en-US" sz="2800">
                <a:sym typeface="+mn-ea"/>
              </a:rPr>
              <a:t>目录名</a:t>
            </a:r>
            <a:r>
              <a:rPr lang="en-US" altLang="zh-CN" sz="2800">
                <a:sym typeface="+mn-ea"/>
              </a:rPr>
              <a:t>  </a:t>
            </a:r>
            <a:r>
              <a:rPr lang="en-US" altLang="zh-CN" sz="2800">
                <a:solidFill>
                  <a:srgbClr val="FF0000"/>
                </a:solidFill>
                <a:sym typeface="+mn-ea"/>
              </a:rPr>
              <a:t>-m</a:t>
            </a:r>
            <a:r>
              <a:rPr lang="en-US" altLang="zh-CN" sz="2800">
                <a:sym typeface="+mn-ea"/>
              </a:rPr>
              <a:t> </a:t>
            </a:r>
            <a:r>
              <a:rPr lang="zh-CN" altLang="en-US" sz="2800">
                <a:sym typeface="+mn-ea"/>
              </a:rPr>
              <a:t>用户名</a:t>
            </a:r>
            <a:r>
              <a:rPr lang="en-US" altLang="zh-CN" sz="2800">
                <a:sym typeface="+mn-ea"/>
              </a:rPr>
              <a:t> </a:t>
            </a:r>
            <a:endParaRPr lang="en-US" altLang="zh-CN" sz="2800">
              <a:sym typeface="+mn-ea"/>
            </a:endParaRPr>
          </a:p>
          <a:p>
            <a:r>
              <a:rPr lang="zh-CN" altLang="en-US" sz="2800">
                <a:sym typeface="+mn-ea"/>
              </a:rPr>
              <a:t>加上</a:t>
            </a:r>
            <a:r>
              <a:rPr lang="en-US" altLang="zh-CN" sz="2800">
                <a:sym typeface="+mn-ea"/>
              </a:rPr>
              <a:t>-m</a:t>
            </a:r>
            <a:r>
              <a:rPr lang="zh-CN" altLang="en-US" sz="2800">
                <a:sym typeface="+mn-ea"/>
              </a:rPr>
              <a:t>后，会自动创建指定的目录，并把该目录设为家目录，并把旧的家目录内容挪到新目录，新的家目录会自动继承旧的家目录的权限</a:t>
            </a:r>
            <a:endParaRPr lang="en-US" altLang="zh-CN" sz="2800"/>
          </a:p>
          <a:p>
            <a:endParaRPr lang="en-US" altLang="zh-CN"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740410"/>
            <a:ext cx="10515600" cy="4351338"/>
          </a:xfrm>
        </p:spPr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应用实例</a:t>
            </a: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+mn-ea"/>
              </a:rPr>
              <a:t>将</a:t>
            </a:r>
            <a:r>
              <a:rPr lang="en-US" altLang="zh-CN">
                <a:sym typeface="+mn-ea"/>
              </a:rPr>
              <a:t> zwj  </a:t>
            </a:r>
            <a:r>
              <a:rPr lang="zh-CN" altLang="en-US">
                <a:sym typeface="+mn-ea"/>
              </a:rPr>
              <a:t>这个用户从原来所在组，修改到</a:t>
            </a:r>
            <a:r>
              <a:rPr lang="en-US" altLang="zh-CN">
                <a:sym typeface="+mn-ea"/>
              </a:rPr>
              <a:t> wudang  </a:t>
            </a:r>
            <a:r>
              <a:rPr lang="zh-CN" altLang="en-US">
                <a:sym typeface="+mn-ea"/>
              </a:rPr>
              <a:t>组</a:t>
            </a:r>
            <a:endParaRPr lang="zh-CN" altLang="en-US"/>
          </a:p>
          <a:p>
            <a:pPr marL="0" indent="0">
              <a:buNone/>
            </a:pPr>
            <a:r>
              <a:rPr lang="en-US" altLang="zh-CN">
                <a:sym typeface="+mn-ea"/>
              </a:rPr>
              <a:t>usermod -g wudang zwj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050" y="2574290"/>
            <a:ext cx="8821420" cy="227393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10845" y="460375"/>
            <a:ext cx="7021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 b="1"/>
              <a:t>用户</a:t>
            </a:r>
            <a:r>
              <a:rPr lang="zh-CN" altLang="en-US" sz="3600"/>
              <a:t>的</a:t>
            </a:r>
            <a:r>
              <a:rPr lang="en-US" altLang="zh-CN" sz="3600"/>
              <a:t>   </a:t>
            </a:r>
            <a:r>
              <a:rPr lang="zh-CN" altLang="en-US" sz="3600"/>
              <a:t>主组与附加组</a:t>
            </a:r>
            <a:endParaRPr lang="zh-CN" altLang="en-US" sz="3600"/>
          </a:p>
        </p:txBody>
      </p:sp>
      <p:sp>
        <p:nvSpPr>
          <p:cNvPr id="5" name="文本框 4"/>
          <p:cNvSpPr txBox="1"/>
          <p:nvPr/>
        </p:nvSpPr>
        <p:spPr>
          <a:xfrm>
            <a:off x="340360" y="1282700"/>
            <a:ext cx="10109200" cy="2381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08000"/>
              </a:lnSpc>
              <a:buClr>
                <a:srgbClr val="333333"/>
              </a:buClr>
              <a:buNone/>
              <a:defRPr/>
            </a:pPr>
            <a:r>
              <a:rPr lang="zh-CN" altLang="en-US" sz="28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主组</a:t>
            </a:r>
            <a:endParaRPr lang="en-US" sz="28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333333"/>
              </a:buClr>
              <a:buChar char="•"/>
              <a:defRPr/>
            </a:pP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每个用户必须有且只有一个主组</a:t>
            </a:r>
            <a:endParaRPr lang="en-US" sz="2800"/>
          </a:p>
          <a:p>
            <a:pPr marL="228600" indent="-2286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创建文件时，默认</a:t>
            </a:r>
            <a:r>
              <a:rPr lang="zh-CN" alt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文件的</a:t>
            </a: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所属组为主组</a:t>
            </a:r>
            <a:endParaRPr lang="en-US" sz="28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en-US" altLang="zh-CN" sz="2800">
                <a:sym typeface="+mn-ea"/>
              </a:rPr>
              <a:t>  usermod       –g      </a:t>
            </a:r>
            <a:r>
              <a:rPr lang="zh-CN" altLang="en-US" sz="2800">
                <a:sym typeface="+mn-ea"/>
              </a:rPr>
              <a:t>新组名</a:t>
            </a:r>
            <a:r>
              <a:rPr lang="en-US" altLang="zh-CN" sz="2800">
                <a:sym typeface="+mn-ea"/>
              </a:rPr>
              <a:t>  </a:t>
            </a:r>
            <a:r>
              <a:rPr lang="zh-CN" altLang="en-US" sz="2800">
                <a:sym typeface="+mn-ea"/>
              </a:rPr>
              <a:t>用户名</a:t>
            </a:r>
            <a:r>
              <a:rPr lang="en-US" altLang="zh-CN" sz="2800">
                <a:sym typeface="+mn-ea"/>
              </a:rPr>
              <a:t>    </a:t>
            </a:r>
            <a:r>
              <a:rPr lang="zh-CN" altLang="en-US" sz="2800">
                <a:sym typeface="+mn-ea"/>
              </a:rPr>
              <a:t>是更改用户的主组</a:t>
            </a:r>
            <a:endParaRPr lang="en-US" sz="28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340360" y="3664585"/>
            <a:ext cx="11219815" cy="2635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附加组</a:t>
            </a:r>
            <a:endParaRPr lang="zh-CN" altLang="en-US" sz="28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333333"/>
              </a:buClr>
              <a:buChar char="•"/>
              <a:defRPr/>
            </a:pPr>
            <a:r>
              <a:rPr lang="zh-CN" alt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除了主组以外，</a:t>
            </a: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用户可以属于零个或多个附加组</a:t>
            </a:r>
            <a:endParaRPr lang="en-US" sz="2800"/>
          </a:p>
          <a:p>
            <a:pPr marL="228600" indent="-2286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zh-CN" alt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附加组</a:t>
            </a: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用于让用户继承额外的组权限</a:t>
            </a:r>
            <a:endParaRPr lang="en-US" sz="28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usermod -G  组名1</a:t>
            </a:r>
            <a:r>
              <a:rPr lang="en-US" altLang="zh-CN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,</a:t>
            </a:r>
            <a:r>
              <a:rPr lang="zh-CN" alt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组名</a:t>
            </a:r>
            <a:r>
              <a:rPr lang="en-US" altLang="zh-CN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用户名             </a:t>
            </a:r>
            <a:r>
              <a:rPr lang="zh-CN" alt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给用户添加附加组</a:t>
            </a:r>
            <a:endParaRPr lang="en-US" sz="280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333333"/>
              </a:buClr>
              <a:buChar char="•"/>
            </a:pP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usermod -aG  组名1,</a:t>
            </a:r>
            <a:r>
              <a:rPr lang="zh-CN" alt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组名</a:t>
            </a:r>
            <a:r>
              <a:rPr lang="en-US" altLang="zh-CN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r>
              <a:rPr lang="en-US" sz="280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用户名</a:t>
            </a:r>
            <a:r>
              <a:rPr lang="en-US" sz="28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</a:t>
            </a:r>
            <a:r>
              <a:rPr lang="zh-CN" altLang="en-US" sz="28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给用户追加附加组</a:t>
            </a:r>
            <a:endParaRPr lang="en-US" sz="2800" b="1" i="0" u="none" strike="noStrike">
              <a:solidFill>
                <a:srgbClr val="4A90E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333333"/>
              </a:buClr>
              <a:buChar char="•"/>
            </a:pPr>
            <a:endParaRPr lang="en-US" sz="24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endParaRPr lang="zh-CN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015" y="602615"/>
            <a:ext cx="8648065" cy="21977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" y="3716020"/>
            <a:ext cx="10055225" cy="14884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9735185" y="3909060"/>
            <a:ext cx="20885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注意追加与添加</a:t>
            </a:r>
            <a:endParaRPr lang="zh-CN" altLang="en-US" b="1"/>
          </a:p>
          <a:p>
            <a:r>
              <a:rPr lang="zh-CN" altLang="en-US" b="1"/>
              <a:t>添加会覆盖</a:t>
            </a:r>
            <a:endParaRPr lang="zh-CN" altLang="en-US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60350" y="710565"/>
            <a:ext cx="11653520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/>
              <a:t>权限的基本介绍</a:t>
            </a:r>
            <a:endParaRPr lang="zh-CN" altLang="en-US" sz="3600"/>
          </a:p>
          <a:p>
            <a:r>
              <a:rPr lang="en-US" altLang="zh-CN" sz="2800"/>
              <a:t>ls    -l  </a:t>
            </a:r>
            <a:r>
              <a:rPr lang="zh-CN" altLang="en-US" sz="2800"/>
              <a:t>中显示的内容如下：</a:t>
            </a:r>
            <a:endParaRPr lang="zh-CN" altLang="en-US" sz="2800"/>
          </a:p>
          <a:p>
            <a:r>
              <a:rPr lang="en-US" altLang="zh-CN" sz="2800"/>
              <a:t>-</a:t>
            </a:r>
            <a:r>
              <a:rPr lang="en-US" altLang="zh-CN" sz="2800">
                <a:solidFill>
                  <a:srgbClr val="FF0000"/>
                </a:solidFill>
              </a:rPr>
              <a:t>rw-</a:t>
            </a:r>
            <a:r>
              <a:rPr lang="en-US" altLang="zh-CN" sz="2800">
                <a:solidFill>
                  <a:schemeClr val="bg2">
                    <a:lumMod val="25000"/>
                  </a:schemeClr>
                </a:solidFill>
              </a:rPr>
              <a:t>r--</a:t>
            </a:r>
            <a:r>
              <a:rPr lang="en-US" altLang="zh-CN" sz="2800">
                <a:solidFill>
                  <a:srgbClr val="0070C0"/>
                </a:solidFill>
              </a:rPr>
              <a:t>r--</a:t>
            </a:r>
            <a:r>
              <a:rPr lang="en-US" altLang="zh-CN" sz="2800"/>
              <a:t>. 1 tom root 0 3</a:t>
            </a:r>
            <a:r>
              <a:rPr lang="zh-CN" altLang="en-US" sz="2800"/>
              <a:t>月</a:t>
            </a:r>
            <a:r>
              <a:rPr lang="en-US" altLang="zh-CN" sz="2800"/>
              <a:t>  29 15:24 apple.txt</a:t>
            </a:r>
            <a:endParaRPr lang="en-US" altLang="zh-CN" sz="2800"/>
          </a:p>
          <a:p>
            <a:r>
              <a:rPr lang="en-US" altLang="zh-CN" sz="2800"/>
              <a:t>0-9 </a:t>
            </a:r>
            <a:r>
              <a:rPr lang="zh-CN" altLang="en-US" sz="2800"/>
              <a:t>位说明</a:t>
            </a:r>
            <a:endParaRPr lang="zh-CN" altLang="en-US" sz="2800"/>
          </a:p>
          <a:p>
            <a:r>
              <a:rPr lang="zh-CN" altLang="en-US" sz="2800"/>
              <a:t>第</a:t>
            </a:r>
            <a:r>
              <a:rPr lang="en-US" altLang="zh-CN" sz="2800"/>
              <a:t> 0 </a:t>
            </a:r>
            <a:r>
              <a:rPr lang="zh-CN" altLang="en-US" sz="2800"/>
              <a:t>位确定文件类型</a:t>
            </a:r>
            <a:r>
              <a:rPr lang="en-US" altLang="zh-CN" sz="2800"/>
              <a:t>(d, - , l , c , b)</a:t>
            </a:r>
            <a:endParaRPr lang="en-US" altLang="zh-CN" sz="2800"/>
          </a:p>
          <a:p>
            <a:r>
              <a:rPr lang="en-US" altLang="zh-CN" sz="2800"/>
              <a:t>-</a:t>
            </a:r>
            <a:r>
              <a:rPr lang="zh-CN" altLang="en-US" sz="2800"/>
              <a:t>是普通文件</a:t>
            </a:r>
            <a:endParaRPr lang="en-US" altLang="zh-CN" sz="2800"/>
          </a:p>
          <a:p>
            <a:r>
              <a:rPr lang="en-US" altLang="zh-CN" sz="2800"/>
              <a:t>l </a:t>
            </a:r>
            <a:r>
              <a:rPr lang="zh-CN" altLang="en-US" sz="2800"/>
              <a:t>是软链接，相当于</a:t>
            </a:r>
            <a:r>
              <a:rPr lang="en-US" altLang="zh-CN" sz="2800"/>
              <a:t> windows </a:t>
            </a:r>
            <a:r>
              <a:rPr lang="zh-CN" altLang="en-US" sz="2800"/>
              <a:t>的快捷方式：例：</a:t>
            </a:r>
            <a:r>
              <a:rPr lang="en-US" altLang="zh-CN" sz="2800"/>
              <a:t>ln -s /root myroot</a:t>
            </a:r>
            <a:endParaRPr lang="zh-CN" altLang="en-US" sz="2800"/>
          </a:p>
          <a:p>
            <a:r>
              <a:rPr lang="en-US" altLang="zh-CN" sz="2800"/>
              <a:t>d </a:t>
            </a:r>
            <a:r>
              <a:rPr lang="zh-CN" altLang="en-US" sz="2800"/>
              <a:t>是目录，相当于</a:t>
            </a:r>
            <a:r>
              <a:rPr lang="en-US" altLang="zh-CN" sz="2800"/>
              <a:t> windows </a:t>
            </a:r>
            <a:r>
              <a:rPr lang="zh-CN" altLang="en-US" sz="2800"/>
              <a:t>的文件夹</a:t>
            </a:r>
            <a:endParaRPr lang="zh-CN" altLang="en-US" sz="2800"/>
          </a:p>
          <a:p>
            <a:r>
              <a:rPr lang="en-US" altLang="zh-CN" sz="2800"/>
              <a:t>c </a:t>
            </a:r>
            <a:r>
              <a:rPr lang="zh-CN" altLang="en-US" sz="2800"/>
              <a:t>是字符设备文件，鼠标，键盘</a:t>
            </a:r>
            <a:r>
              <a:rPr lang="en-US" altLang="zh-CN" sz="2800"/>
              <a:t>   </a:t>
            </a:r>
            <a:r>
              <a:rPr lang="zh-CN" altLang="en-US" sz="2800"/>
              <a:t>例：</a:t>
            </a:r>
            <a:r>
              <a:rPr lang="en-US" altLang="zh-CN" sz="2800"/>
              <a:t>cd /dev   </a:t>
            </a:r>
            <a:r>
              <a:rPr lang="zh-CN" altLang="en-US" sz="2800"/>
              <a:t>（设备文件）</a:t>
            </a:r>
            <a:r>
              <a:rPr lang="en-US" altLang="zh-CN" sz="2800"/>
              <a:t>   ls -l</a:t>
            </a:r>
            <a:endParaRPr lang="zh-CN" altLang="en-US" sz="2800"/>
          </a:p>
          <a:p>
            <a:r>
              <a:rPr lang="en-US" altLang="zh-CN" sz="2800"/>
              <a:t>b </a:t>
            </a:r>
            <a:r>
              <a:rPr lang="zh-CN" altLang="en-US" sz="2800"/>
              <a:t>是块设备，比如硬盘</a:t>
            </a:r>
            <a:endParaRPr lang="zh-CN" altLang="en-US" sz="2800"/>
          </a:p>
          <a:p>
            <a:r>
              <a:rPr lang="zh-CN" altLang="en-US" sz="2800"/>
              <a:t>第</a:t>
            </a:r>
            <a:r>
              <a:rPr lang="en-US" altLang="zh-CN" sz="2800"/>
              <a:t> 1-3</a:t>
            </a:r>
            <a:r>
              <a:rPr lang="zh-CN" altLang="en-US" sz="2800"/>
              <a:t>位是所有者（该文件的所有者）拥有该文件的权限。</a:t>
            </a:r>
            <a:r>
              <a:rPr lang="en-US" altLang="zh-CN" sz="2800"/>
              <a:t>---User</a:t>
            </a:r>
            <a:endParaRPr lang="en-US" altLang="zh-CN" sz="2800"/>
          </a:p>
          <a:p>
            <a:r>
              <a:rPr lang="zh-CN" altLang="en-US" sz="2800"/>
              <a:t>第</a:t>
            </a:r>
            <a:r>
              <a:rPr lang="en-US" altLang="zh-CN" sz="2800"/>
              <a:t> 4-6 </a:t>
            </a:r>
            <a:r>
              <a:rPr lang="zh-CN" altLang="en-US" sz="2800"/>
              <a:t>位是所在组（同组的用户）拥有该文件的权限，</a:t>
            </a:r>
            <a:r>
              <a:rPr lang="en-US" altLang="zh-CN" sz="2800"/>
              <a:t>---Group</a:t>
            </a:r>
            <a:endParaRPr lang="en-US" altLang="zh-CN" sz="2800"/>
          </a:p>
          <a:p>
            <a:r>
              <a:rPr lang="zh-CN" altLang="en-US" sz="2800"/>
              <a:t>第</a:t>
            </a:r>
            <a:r>
              <a:rPr lang="en-US" altLang="zh-CN" sz="2800"/>
              <a:t> 7-9 </a:t>
            </a:r>
            <a:r>
              <a:rPr lang="zh-CN" altLang="en-US" sz="2800"/>
              <a:t>位是其他组的用户拥有该文件的权限</a:t>
            </a:r>
            <a:r>
              <a:rPr lang="en-US" altLang="zh-CN" sz="2800"/>
              <a:t> ---Other</a:t>
            </a:r>
            <a:endParaRPr lang="en-US" altLang="zh-CN"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0020" y="139700"/>
            <a:ext cx="11082020" cy="6123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/>
              <a:t> rwx </a:t>
            </a:r>
            <a:r>
              <a:rPr lang="zh-CN" altLang="en-US" sz="2800" b="1"/>
              <a:t>作用到文件</a:t>
            </a:r>
            <a:endParaRPr lang="en-US" altLang="zh-CN" sz="2800" b="1"/>
          </a:p>
          <a:p>
            <a:r>
              <a:rPr lang="en-US" altLang="zh-CN" sz="2800"/>
              <a:t>1)    [ r ]</a:t>
            </a:r>
            <a:r>
              <a:rPr lang="zh-CN" altLang="en-US" sz="2800"/>
              <a:t>代表可读</a:t>
            </a:r>
            <a:r>
              <a:rPr lang="en-US" altLang="zh-CN" sz="2800"/>
              <a:t>(read):  </a:t>
            </a:r>
            <a:r>
              <a:rPr lang="zh-CN" altLang="en-US" sz="2800"/>
              <a:t>可以读取</a:t>
            </a:r>
            <a:r>
              <a:rPr lang="en-US" altLang="zh-CN" sz="2800"/>
              <a:t>,</a:t>
            </a:r>
            <a:r>
              <a:rPr lang="zh-CN" altLang="en-US" sz="2800"/>
              <a:t>查看。</a:t>
            </a:r>
            <a:r>
              <a:rPr lang="zh-CN" altLang="en-US" sz="2800">
                <a:solidFill>
                  <a:srgbClr val="C00000"/>
                </a:solidFill>
              </a:rPr>
              <a:t>比如</a:t>
            </a:r>
            <a:r>
              <a:rPr lang="zh-CN" altLang="en-US" sz="2800"/>
              <a:t>文件所有者是</a:t>
            </a:r>
            <a:r>
              <a:rPr lang="en-US" altLang="zh-CN" sz="2800"/>
              <a:t>tom</a:t>
            </a:r>
            <a:r>
              <a:rPr lang="zh-CN" altLang="en-US" sz="2800"/>
              <a:t>，如果所有者具有读</a:t>
            </a:r>
            <a:r>
              <a:rPr lang="en-US" altLang="zh-CN" sz="2800">
                <a:sym typeface="+mn-ea"/>
              </a:rPr>
              <a:t> [ r ]</a:t>
            </a:r>
            <a:r>
              <a:rPr lang="zh-CN" altLang="en-US" sz="2800"/>
              <a:t>的权限，</a:t>
            </a:r>
            <a:r>
              <a:rPr lang="en-US" altLang="zh-CN" sz="2800"/>
              <a:t>tom</a:t>
            </a:r>
            <a:r>
              <a:rPr lang="zh-CN" altLang="en-US" sz="2800"/>
              <a:t>就可以读取查看文件</a:t>
            </a:r>
            <a:endParaRPr lang="zh-CN" altLang="en-US" sz="2800"/>
          </a:p>
          <a:p>
            <a:r>
              <a:rPr lang="en-US" altLang="zh-CN" sz="2800"/>
              <a:t>2)   [ w ]</a:t>
            </a:r>
            <a:r>
              <a:rPr lang="zh-CN" altLang="en-US" sz="2800"/>
              <a:t>代表可写</a:t>
            </a:r>
            <a:r>
              <a:rPr lang="en-US" altLang="zh-CN" sz="2800"/>
              <a:t>(write):  </a:t>
            </a:r>
            <a:r>
              <a:rPr lang="zh-CN" altLang="en-US" sz="2800"/>
              <a:t>可以修改</a:t>
            </a:r>
            <a:r>
              <a:rPr lang="en-US" altLang="zh-CN" sz="2800"/>
              <a:t>,</a:t>
            </a:r>
            <a:r>
              <a:rPr lang="zh-CN" altLang="en-US" sz="2800"/>
              <a:t>但是不代表可以删除该文件。</a:t>
            </a:r>
            <a:endParaRPr lang="zh-CN" altLang="en-US" sz="2800"/>
          </a:p>
          <a:p>
            <a:r>
              <a:rPr lang="zh-CN" altLang="en-US" sz="2800"/>
              <a:t>删除一个文件的前提条件是对该文件所在的目录有写权限，才能删除该文件</a:t>
            </a:r>
            <a:r>
              <a:rPr lang="en-US" altLang="zh-CN" sz="2800"/>
              <a:t>.</a:t>
            </a:r>
            <a:r>
              <a:rPr lang="zh-CN" altLang="en-US" sz="2800">
                <a:solidFill>
                  <a:srgbClr val="C00000"/>
                </a:solidFill>
              </a:rPr>
              <a:t>（修改文件只能改内容，修改目录才能删目录中的文件）</a:t>
            </a:r>
            <a:endParaRPr lang="en-US" altLang="zh-CN" sz="2800">
              <a:solidFill>
                <a:srgbClr val="C00000"/>
              </a:solidFill>
            </a:endParaRPr>
          </a:p>
          <a:p>
            <a:r>
              <a:rPr lang="en-US" altLang="zh-CN" sz="2800"/>
              <a:t>3)    [ x ]</a:t>
            </a:r>
            <a:r>
              <a:rPr lang="zh-CN" altLang="en-US" sz="2800"/>
              <a:t>代表可执行</a:t>
            </a:r>
            <a:r>
              <a:rPr lang="en-US" altLang="zh-CN" sz="2800"/>
              <a:t>(execute):</a:t>
            </a:r>
            <a:r>
              <a:rPr lang="zh-CN" altLang="en-US" sz="2800"/>
              <a:t>可以被执行，前提该文件是可执行文件。</a:t>
            </a:r>
            <a:endParaRPr lang="zh-CN" altLang="en-US" sz="2800"/>
          </a:p>
          <a:p>
            <a:r>
              <a:rPr lang="en-US" altLang="zh-CN" sz="2800"/>
              <a:t> </a:t>
            </a:r>
            <a:endParaRPr lang="en-US" altLang="zh-CN" sz="2800"/>
          </a:p>
          <a:p>
            <a:r>
              <a:rPr lang="en-US" altLang="zh-CN" sz="2800" b="1"/>
              <a:t>rwx </a:t>
            </a:r>
            <a:r>
              <a:rPr lang="zh-CN" altLang="en-US" sz="2800" b="1"/>
              <a:t>作用到目录</a:t>
            </a:r>
            <a:endParaRPr lang="en-US" altLang="zh-CN" sz="2800" b="1"/>
          </a:p>
          <a:p>
            <a:r>
              <a:rPr lang="en-US" altLang="zh-CN" sz="2800"/>
              <a:t>1)    [ r ]</a:t>
            </a:r>
            <a:r>
              <a:rPr lang="zh-CN" altLang="en-US" sz="2800"/>
              <a:t>代表可读</a:t>
            </a:r>
            <a:r>
              <a:rPr lang="en-US" altLang="zh-CN" sz="2800"/>
              <a:t>(read):  </a:t>
            </a:r>
            <a:r>
              <a:rPr lang="zh-CN" altLang="en-US" sz="2800"/>
              <a:t>可以读取，</a:t>
            </a:r>
            <a:r>
              <a:rPr lang="en-US" altLang="zh-CN" sz="2800"/>
              <a:t>ls </a:t>
            </a:r>
            <a:r>
              <a:rPr lang="zh-CN" altLang="en-US" sz="2800"/>
              <a:t>查看目录内容。</a:t>
            </a:r>
            <a:r>
              <a:rPr lang="zh-CN" altLang="en-US" sz="2800">
                <a:solidFill>
                  <a:srgbClr val="C00000"/>
                </a:solidFill>
              </a:rPr>
              <a:t>比如</a:t>
            </a:r>
            <a:r>
              <a:rPr lang="en-US" altLang="zh-CN" sz="2800"/>
              <a:t>tom</a:t>
            </a:r>
            <a:r>
              <a:rPr lang="zh-CN" altLang="en-US" sz="2800"/>
              <a:t>是目录所有者。如果所有者具有读的权限，</a:t>
            </a:r>
            <a:r>
              <a:rPr lang="en-US" altLang="zh-CN" sz="2800"/>
              <a:t>tom</a:t>
            </a:r>
            <a:r>
              <a:rPr lang="zh-CN" altLang="en-US" sz="2800"/>
              <a:t>可以</a:t>
            </a:r>
            <a:r>
              <a:rPr lang="en-US" altLang="zh-CN" sz="2800"/>
              <a:t>ls</a:t>
            </a:r>
            <a:r>
              <a:rPr lang="zh-CN" altLang="en-US" sz="2800"/>
              <a:t>查看目录。</a:t>
            </a:r>
            <a:endParaRPr lang="zh-CN" altLang="en-US" sz="2800"/>
          </a:p>
          <a:p>
            <a:r>
              <a:rPr lang="en-US" altLang="zh-CN" sz="2800"/>
              <a:t>2)    [ w ]</a:t>
            </a:r>
            <a:r>
              <a:rPr lang="zh-CN" altLang="en-US" sz="2800"/>
              <a:t>代表可写</a:t>
            </a:r>
            <a:r>
              <a:rPr lang="en-US" altLang="zh-CN" sz="2800"/>
              <a:t>(write):  </a:t>
            </a:r>
            <a:r>
              <a:rPr lang="zh-CN" altLang="en-US" sz="2800"/>
              <a:t>可以修改</a:t>
            </a:r>
            <a:r>
              <a:rPr lang="en-US" altLang="zh-CN" sz="2800"/>
              <a:t>,  </a:t>
            </a:r>
            <a:r>
              <a:rPr lang="zh-CN" altLang="en-US" sz="2800"/>
              <a:t>对目录内文件</a:t>
            </a:r>
            <a:r>
              <a:rPr lang="en-US" altLang="zh-CN" sz="2800"/>
              <a:t>/</a:t>
            </a:r>
            <a:r>
              <a:rPr lang="zh-CN" altLang="en-US" sz="2800"/>
              <a:t>目录创建、删除</a:t>
            </a:r>
            <a:r>
              <a:rPr lang="zh-CN" sz="2800"/>
              <a:t>、</a:t>
            </a:r>
            <a:r>
              <a:rPr lang="zh-CN" altLang="en-US" sz="2800">
                <a:sym typeface="+mn-ea"/>
              </a:rPr>
              <a:t>重命名</a:t>
            </a:r>
            <a:endParaRPr lang="zh-CN" altLang="en-US" sz="2800"/>
          </a:p>
          <a:p>
            <a:r>
              <a:rPr lang="en-US" altLang="zh-CN" sz="2800"/>
              <a:t>3)    [ x ]</a:t>
            </a:r>
            <a:r>
              <a:rPr lang="zh-CN" altLang="en-US" sz="2800"/>
              <a:t>代表可执行</a:t>
            </a:r>
            <a:r>
              <a:rPr lang="en-US" altLang="zh-CN" sz="2800"/>
              <a:t>(execute):</a:t>
            </a:r>
            <a:r>
              <a:rPr lang="zh-CN" altLang="en-US" sz="2800"/>
              <a:t>可以进入该目录</a:t>
            </a:r>
            <a:endParaRPr lang="zh-CN" altLang="en-US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20370" y="640715"/>
            <a:ext cx="11583670" cy="3157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/>
              <a:t>ls    -l  </a:t>
            </a:r>
            <a:r>
              <a:rPr lang="zh-CN" altLang="en-US" sz="3200" b="1"/>
              <a:t>中显示的内容如下：</a:t>
            </a:r>
            <a:endParaRPr lang="zh-CN" altLang="en-US" sz="3200" b="1"/>
          </a:p>
          <a:p>
            <a:r>
              <a:rPr lang="en-US" altLang="zh-CN" sz="2400">
                <a:sym typeface="+mn-ea"/>
              </a:rPr>
              <a:t>-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rw-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sym typeface="+mn-ea"/>
              </a:rPr>
              <a:t>r--</a:t>
            </a:r>
            <a:r>
              <a:rPr lang="en-US" altLang="zh-CN" sz="2400">
                <a:solidFill>
                  <a:srgbClr val="0070C0"/>
                </a:solidFill>
                <a:sym typeface="+mn-ea"/>
              </a:rPr>
              <a:t>r--</a:t>
            </a:r>
            <a:r>
              <a:rPr lang="en-US" altLang="zh-CN" sz="2400">
                <a:sym typeface="+mn-ea"/>
              </a:rPr>
              <a:t>. 1 tom root 0 3</a:t>
            </a:r>
            <a:r>
              <a:rPr lang="zh-CN" altLang="en-US" sz="2400">
                <a:sym typeface="+mn-ea"/>
              </a:rPr>
              <a:t>月</a:t>
            </a:r>
            <a:r>
              <a:rPr lang="en-US" altLang="zh-CN" sz="2400">
                <a:sym typeface="+mn-ea"/>
              </a:rPr>
              <a:t>  29 15:24 apple.txt</a:t>
            </a:r>
            <a:endParaRPr lang="en-US" altLang="zh-CN" sz="2400"/>
          </a:p>
          <a:p>
            <a:r>
              <a:rPr lang="zh-CN" altLang="en-US" sz="2400"/>
              <a:t>第一个字符代表文件类型：</a:t>
            </a:r>
            <a:r>
              <a:rPr lang="en-US" altLang="zh-CN" sz="2400"/>
              <a:t> - ld c b</a:t>
            </a:r>
            <a:endParaRPr lang="en-US" altLang="zh-CN" sz="2400"/>
          </a:p>
          <a:p>
            <a:r>
              <a:rPr lang="zh-CN" altLang="en-US" sz="2400"/>
              <a:t>其余字符每</a:t>
            </a:r>
            <a:r>
              <a:rPr lang="en-US" altLang="zh-CN" sz="2400"/>
              <a:t> 3 </a:t>
            </a:r>
            <a:r>
              <a:rPr lang="zh-CN" altLang="en-US" sz="2400"/>
              <a:t>个一组</a:t>
            </a:r>
            <a:r>
              <a:rPr lang="en-US" altLang="zh-CN" sz="2400"/>
              <a:t>(rwx)  </a:t>
            </a:r>
            <a:r>
              <a:rPr lang="zh-CN" altLang="en-US" sz="2400"/>
              <a:t>读</a:t>
            </a:r>
            <a:r>
              <a:rPr lang="en-US" altLang="zh-CN" sz="2400"/>
              <a:t>(r)  </a:t>
            </a:r>
            <a:r>
              <a:rPr lang="zh-CN" altLang="en-US" sz="2400"/>
              <a:t>写</a:t>
            </a:r>
            <a:r>
              <a:rPr lang="en-US" altLang="zh-CN" sz="2400"/>
              <a:t>(w)  </a:t>
            </a:r>
            <a:r>
              <a:rPr lang="zh-CN" altLang="en-US" sz="2400"/>
              <a:t>执行</a:t>
            </a:r>
            <a:r>
              <a:rPr lang="en-US" altLang="zh-CN" sz="2400"/>
              <a:t>(x)</a:t>
            </a:r>
            <a:endParaRPr lang="en-US" altLang="zh-CN" sz="2400"/>
          </a:p>
          <a:p>
            <a:r>
              <a:rPr lang="zh-CN" altLang="en-US" sz="2400"/>
              <a:t>第一组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FF0000"/>
                </a:solidFill>
                <a:sym typeface="+mn-ea"/>
              </a:rPr>
              <a:t>rw-</a:t>
            </a:r>
            <a:r>
              <a:rPr lang="en-US" altLang="zh-CN" sz="2400"/>
              <a:t> :  </a:t>
            </a:r>
            <a:r>
              <a:rPr lang="zh-CN" altLang="en-US" sz="2400"/>
              <a:t>文件拥有者的权限是读、写但不能执行</a:t>
            </a:r>
            <a:endParaRPr lang="zh-CN" altLang="en-US" sz="2400"/>
          </a:p>
          <a:p>
            <a:r>
              <a:rPr lang="zh-CN" altLang="en-US" sz="2400"/>
              <a:t>第二组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sym typeface="+mn-ea"/>
              </a:rPr>
              <a:t>r--</a:t>
            </a:r>
            <a:r>
              <a:rPr lang="en-US" altLang="zh-CN" sz="2400"/>
              <a:t> :  </a:t>
            </a:r>
            <a:r>
              <a:rPr lang="zh-CN" altLang="en-US" sz="2400"/>
              <a:t>与文件拥有者同一组的其它用户的权限是读但不能写不能执行</a:t>
            </a:r>
            <a:endParaRPr lang="zh-CN" altLang="en-US" sz="2400"/>
          </a:p>
          <a:p>
            <a:r>
              <a:rPr lang="zh-CN" altLang="en-US" sz="2400"/>
              <a:t>第三组</a:t>
            </a:r>
            <a:r>
              <a:rPr lang="en-US" altLang="zh-CN" sz="2400"/>
              <a:t> </a:t>
            </a:r>
            <a:r>
              <a:rPr lang="en-US" altLang="zh-CN" sz="2400">
                <a:solidFill>
                  <a:srgbClr val="0070C0"/>
                </a:solidFill>
                <a:sym typeface="+mn-ea"/>
              </a:rPr>
              <a:t>r--</a:t>
            </a:r>
            <a:r>
              <a:rPr lang="en-US" altLang="zh-CN" sz="2400"/>
              <a:t> :  </a:t>
            </a:r>
            <a:r>
              <a:rPr lang="zh-CN" altLang="en-US" sz="2400"/>
              <a:t>没有与文件拥有者同组的其他用户的权限是读</a:t>
            </a:r>
            <a:r>
              <a:rPr lang="zh-CN" altLang="en-US" sz="2400">
                <a:sym typeface="+mn-ea"/>
              </a:rPr>
              <a:t>但不能写不能执行</a:t>
            </a:r>
            <a:endParaRPr lang="zh-CN" altLang="en-US" sz="2400">
              <a:sym typeface="+mn-ea"/>
            </a:endParaRPr>
          </a:p>
          <a:p>
            <a:r>
              <a:rPr lang="zh-CN" altLang="en-US" sz="2400"/>
              <a:t>可用数字表示为</a:t>
            </a:r>
            <a:r>
              <a:rPr lang="en-US" altLang="zh-CN" sz="2400"/>
              <a:t>: r=4,w=2,x=1  </a:t>
            </a:r>
            <a:r>
              <a:rPr lang="zh-CN" altLang="en-US" sz="2400"/>
              <a:t>因此</a:t>
            </a:r>
            <a:r>
              <a:rPr lang="en-US" altLang="zh-CN" sz="2400"/>
              <a:t>rwx=4+2+ 1=7 ,  </a:t>
            </a:r>
            <a:r>
              <a:rPr lang="zh-CN" altLang="en-US" sz="2400"/>
              <a:t>数字可以进行组合</a:t>
            </a:r>
            <a:endParaRPr lang="zh-CN" altLang="en-US" sz="2400"/>
          </a:p>
          <a:p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360680" y="3990340"/>
            <a:ext cx="8936355" cy="24161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/>
              <a:t>1 </a:t>
            </a:r>
            <a:r>
              <a:rPr lang="zh-CN" altLang="en-US" sz="2400"/>
              <a:t>：硬连接数或</a:t>
            </a:r>
            <a:r>
              <a:rPr lang="en-US" altLang="zh-CN" sz="2400"/>
              <a:t>  </a:t>
            </a:r>
            <a:r>
              <a:rPr lang="zh-CN" altLang="en-US" sz="2400"/>
              <a:t>目录的子目录数</a:t>
            </a:r>
            <a:endParaRPr lang="zh-CN" altLang="en-US" sz="2400"/>
          </a:p>
          <a:p>
            <a:r>
              <a:rPr lang="en-US" altLang="zh-CN" sz="2400"/>
              <a:t>tom              </a:t>
            </a:r>
            <a:r>
              <a:rPr lang="zh-CN" altLang="en-US" sz="2400"/>
              <a:t>文件</a:t>
            </a:r>
            <a:r>
              <a:rPr lang="en-US" altLang="zh-CN" sz="2400"/>
              <a:t>/</a:t>
            </a:r>
            <a:r>
              <a:rPr lang="zh-CN" altLang="en-US" sz="2400"/>
              <a:t>目录的所有者</a:t>
            </a:r>
            <a:endParaRPr lang="zh-CN" altLang="en-US" sz="2400"/>
          </a:p>
          <a:p>
            <a:r>
              <a:rPr lang="en-US" altLang="zh-CN" sz="2400"/>
              <a:t>root              </a:t>
            </a:r>
            <a:r>
              <a:rPr lang="zh-CN" altLang="en-US" sz="2400"/>
              <a:t>文件</a:t>
            </a:r>
            <a:r>
              <a:rPr lang="en-US" altLang="zh-CN" sz="2400"/>
              <a:t>/</a:t>
            </a:r>
            <a:r>
              <a:rPr lang="zh-CN" altLang="en-US" sz="2400"/>
              <a:t>目录的所在组</a:t>
            </a:r>
            <a:endParaRPr lang="zh-CN" altLang="en-US" sz="2400"/>
          </a:p>
          <a:p>
            <a:r>
              <a:rPr lang="en-US" altLang="zh-CN" sz="2400"/>
              <a:t>0                   </a:t>
            </a:r>
            <a:r>
              <a:rPr lang="zh-CN" altLang="en-US" sz="2400"/>
              <a:t>文件大小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3</a:t>
            </a:r>
            <a:r>
              <a:rPr lang="zh-CN" altLang="en-US" sz="2400">
                <a:sym typeface="+mn-ea"/>
              </a:rPr>
              <a:t>月</a:t>
            </a:r>
            <a:r>
              <a:rPr lang="en-US" altLang="zh-CN" sz="2400">
                <a:sym typeface="+mn-ea"/>
              </a:rPr>
              <a:t>  29 15:24</a:t>
            </a:r>
            <a:r>
              <a:rPr lang="zh-CN" altLang="en-US" sz="2400"/>
              <a:t>：最后修改日期</a:t>
            </a:r>
            <a:endParaRPr lang="zh-CN" altLang="en-US" sz="2400"/>
          </a:p>
          <a:p>
            <a:r>
              <a:rPr lang="en-US" altLang="zh-CN" sz="2400">
                <a:sym typeface="+mn-ea"/>
              </a:rPr>
              <a:t>apple.txt</a:t>
            </a:r>
            <a:r>
              <a:rPr lang="zh-CN" altLang="en-US" sz="2400"/>
              <a:t> </a:t>
            </a:r>
            <a:r>
              <a:rPr lang="en-US" altLang="zh-CN" sz="2400"/>
              <a:t>           </a:t>
            </a:r>
            <a:r>
              <a:rPr lang="zh-CN" altLang="en-US" sz="2400"/>
              <a:t>文件名</a:t>
            </a:r>
            <a:endParaRPr lang="zh-CN" altLang="en-US" sz="2400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5280" y="280035"/>
            <a:ext cx="10974070" cy="5754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修改权限</a:t>
            </a:r>
            <a:r>
              <a:rPr lang="en-US" altLang="zh-CN" sz="3200"/>
              <a:t>-chmod</a:t>
            </a:r>
            <a:endParaRPr lang="en-US" altLang="zh-CN" sz="3200"/>
          </a:p>
          <a:p>
            <a:r>
              <a:rPr lang="zh-CN" altLang="en-US" sz="2400"/>
              <a:t>基本说明：</a:t>
            </a:r>
            <a:endParaRPr lang="zh-CN" altLang="en-US" sz="2400"/>
          </a:p>
          <a:p>
            <a:r>
              <a:rPr lang="zh-CN" altLang="en-US" sz="2400"/>
              <a:t>通过</a:t>
            </a:r>
            <a:r>
              <a:rPr lang="en-US" altLang="zh-CN" sz="2400"/>
              <a:t> chmod </a:t>
            </a:r>
            <a:r>
              <a:rPr lang="zh-CN" altLang="en-US" sz="2400"/>
              <a:t>指令，可以修改文件或者目录的权限。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2400"/>
              <a:t>第一种方式：</a:t>
            </a:r>
            <a:r>
              <a:rPr lang="en-US" altLang="zh-CN" sz="2400"/>
              <a:t>+  </a:t>
            </a:r>
            <a:r>
              <a:rPr lang="zh-CN" altLang="en-US" sz="2400"/>
              <a:t>、</a:t>
            </a:r>
            <a:r>
              <a:rPr lang="en-US" altLang="zh-CN" sz="2400"/>
              <a:t>- </a:t>
            </a:r>
            <a:r>
              <a:rPr lang="zh-CN" altLang="en-US" sz="2400"/>
              <a:t>、</a:t>
            </a:r>
            <a:r>
              <a:rPr lang="en-US" altLang="zh-CN" sz="2400"/>
              <a:t>=  </a:t>
            </a:r>
            <a:r>
              <a:rPr lang="zh-CN" altLang="en-US" sz="2400"/>
              <a:t>变更权限</a:t>
            </a:r>
            <a:endParaRPr lang="zh-CN" altLang="en-US" sz="2400"/>
          </a:p>
          <a:p>
            <a:r>
              <a:rPr lang="en-US" altLang="zh-CN" sz="2400"/>
              <a:t>   u:</a:t>
            </a:r>
            <a:r>
              <a:rPr lang="zh-CN" altLang="en-US" sz="2400"/>
              <a:t>所有者</a:t>
            </a:r>
            <a:r>
              <a:rPr lang="en-US" altLang="zh-CN" sz="2400"/>
              <a:t>  g:</a:t>
            </a:r>
            <a:r>
              <a:rPr lang="zh-CN" altLang="en-US" sz="2400"/>
              <a:t>所在组</a:t>
            </a:r>
            <a:r>
              <a:rPr lang="en-US" altLang="zh-CN" sz="2400"/>
              <a:t>  o:</a:t>
            </a:r>
            <a:r>
              <a:rPr lang="zh-CN" altLang="en-US" sz="2400"/>
              <a:t>其他人</a:t>
            </a:r>
            <a:r>
              <a:rPr lang="en-US" altLang="zh-CN" sz="2400"/>
              <a:t>  a:</a:t>
            </a:r>
            <a:r>
              <a:rPr lang="zh-CN" altLang="en-US" sz="2400"/>
              <a:t>所有人</a:t>
            </a:r>
            <a:r>
              <a:rPr lang="en-US" altLang="zh-CN" sz="2400"/>
              <a:t>(</a:t>
            </a:r>
            <a:r>
              <a:rPr lang="zh-CN" altLang="en-US" sz="2400"/>
              <a:t>即</a:t>
            </a:r>
            <a:r>
              <a:rPr lang="en-US" altLang="zh-CN" sz="2400"/>
              <a:t>u </a:t>
            </a:r>
            <a:r>
              <a:rPr lang="zh-CN" altLang="en-US" sz="2400"/>
              <a:t>、</a:t>
            </a:r>
            <a:r>
              <a:rPr lang="en-US" altLang="zh-CN" sz="2400"/>
              <a:t>g </a:t>
            </a:r>
            <a:r>
              <a:rPr lang="zh-CN" altLang="en-US" sz="2400"/>
              <a:t>、</a:t>
            </a:r>
            <a:r>
              <a:rPr lang="en-US" altLang="zh-CN" sz="2400"/>
              <a:t>o </a:t>
            </a:r>
            <a:r>
              <a:rPr lang="zh-CN" altLang="en-US" sz="2400"/>
              <a:t>的总和</a:t>
            </a:r>
            <a:r>
              <a:rPr lang="en-US" altLang="zh-CN" sz="2400"/>
              <a:t>)</a:t>
            </a:r>
            <a:endParaRPr lang="en-US" altLang="zh-CN" sz="2400"/>
          </a:p>
          <a:p>
            <a:r>
              <a:rPr lang="en-US" altLang="zh-CN" sz="2400"/>
              <a:t>1) chmod      u=rwx,g=rx,o=x      </a:t>
            </a:r>
            <a:r>
              <a:rPr lang="zh-CN" altLang="en-US" sz="2400"/>
              <a:t>文件</a:t>
            </a:r>
            <a:r>
              <a:rPr lang="en-US" altLang="zh-CN" sz="2400"/>
              <a:t>/</a:t>
            </a:r>
            <a:r>
              <a:rPr lang="zh-CN" altLang="en-US" sz="2400"/>
              <a:t>目录名</a:t>
            </a:r>
            <a:endParaRPr lang="zh-CN" altLang="en-US" sz="2400"/>
          </a:p>
          <a:p>
            <a:r>
              <a:rPr lang="en-US" altLang="zh-CN" sz="2400"/>
              <a:t>2) chmod      o+w        </a:t>
            </a:r>
            <a:r>
              <a:rPr lang="zh-CN" altLang="en-US" sz="2400"/>
              <a:t>文件</a:t>
            </a:r>
            <a:r>
              <a:rPr lang="en-US" altLang="zh-CN" sz="2400"/>
              <a:t>/</a:t>
            </a:r>
            <a:r>
              <a:rPr lang="zh-CN" altLang="en-US" sz="2400"/>
              <a:t>目录名</a:t>
            </a:r>
            <a:endParaRPr lang="zh-CN" altLang="en-US" sz="2400"/>
          </a:p>
          <a:p>
            <a:r>
              <a:rPr lang="en-US" altLang="zh-CN" sz="2400"/>
              <a:t>3) chmod      a-x        </a:t>
            </a:r>
            <a:r>
              <a:rPr lang="zh-CN" altLang="en-US" sz="2400"/>
              <a:t>文件</a:t>
            </a:r>
            <a:r>
              <a:rPr lang="en-US" altLang="zh-CN" sz="2400"/>
              <a:t>/</a:t>
            </a:r>
            <a:r>
              <a:rPr lang="zh-CN" altLang="en-US" sz="2400"/>
              <a:t>目录名</a:t>
            </a:r>
            <a:endParaRPr lang="zh-CN" altLang="en-US" sz="2400"/>
          </a:p>
          <a:p>
            <a:r>
              <a:rPr lang="en-US" altLang="zh-CN" sz="2400"/>
              <a:t>  </a:t>
            </a:r>
            <a:r>
              <a:rPr lang="zh-CN" altLang="en-US" sz="2400"/>
              <a:t>案例</a:t>
            </a:r>
            <a:endParaRPr lang="zh-CN" altLang="en-US" sz="2400"/>
          </a:p>
          <a:p>
            <a:r>
              <a:rPr lang="en-US" altLang="zh-CN" sz="2400"/>
              <a:t>touch abc</a:t>
            </a:r>
            <a:endParaRPr lang="zh-CN" altLang="en-US" sz="2400"/>
          </a:p>
          <a:p>
            <a:r>
              <a:rPr lang="en-US" altLang="zh-CN" sz="2400"/>
              <a:t>1)  </a:t>
            </a:r>
            <a:r>
              <a:rPr lang="zh-CN" altLang="en-US" sz="2400"/>
              <a:t>给</a:t>
            </a:r>
            <a:r>
              <a:rPr lang="en-US" altLang="zh-CN" sz="2400"/>
              <a:t> abc </a:t>
            </a:r>
            <a:r>
              <a:rPr lang="zh-CN" altLang="en-US" sz="2400"/>
              <a:t>文件</a:t>
            </a:r>
            <a:r>
              <a:rPr lang="en-US" altLang="zh-CN" sz="2400"/>
              <a:t> </a:t>
            </a:r>
            <a:r>
              <a:rPr lang="zh-CN" altLang="en-US" sz="2400"/>
              <a:t>的所有者读写执行的权限，给所在组读执行权限，给其它组读执行权限。</a:t>
            </a:r>
            <a:r>
              <a:rPr lang="en-US" altLang="zh-CN" sz="2400"/>
              <a:t> chmod u=rwx,g=rx,o=rx abc</a:t>
            </a:r>
            <a:endParaRPr lang="en-US" altLang="zh-CN" sz="2400"/>
          </a:p>
          <a:p>
            <a:r>
              <a:rPr lang="en-US" altLang="zh-CN" sz="2400"/>
              <a:t>2)  </a:t>
            </a:r>
            <a:r>
              <a:rPr lang="zh-CN" altLang="en-US" sz="2400"/>
              <a:t>给</a:t>
            </a:r>
            <a:r>
              <a:rPr lang="en-US" altLang="zh-CN" sz="2400"/>
              <a:t> abc </a:t>
            </a:r>
            <a:r>
              <a:rPr lang="zh-CN" altLang="en-US" sz="2400"/>
              <a:t>文件的所有者除去执行的权限，增加所在组写的权限</a:t>
            </a:r>
            <a:r>
              <a:rPr lang="en-US" altLang="zh-CN" sz="2400"/>
              <a:t>chmod u-x,g+w abc</a:t>
            </a:r>
            <a:endParaRPr lang="en-US" altLang="zh-CN" sz="2400"/>
          </a:p>
          <a:p>
            <a:r>
              <a:rPr lang="en-US" altLang="zh-CN" sz="2400"/>
              <a:t>3)  </a:t>
            </a:r>
            <a:r>
              <a:rPr lang="zh-CN" altLang="en-US" sz="2400"/>
              <a:t>给</a:t>
            </a:r>
            <a:r>
              <a:rPr lang="en-US" altLang="zh-CN" sz="2400"/>
              <a:t> abc </a:t>
            </a:r>
            <a:r>
              <a:rPr lang="zh-CN" altLang="en-US" sz="2400"/>
              <a:t>文件的所有用户添加读的权限</a:t>
            </a:r>
            <a:r>
              <a:rPr lang="en-US" altLang="zh-CN" sz="2400"/>
              <a:t>          chmod a+r abc</a:t>
            </a:r>
            <a:endParaRPr lang="en-US" altLang="zh-CN" sz="24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35610" y="1122045"/>
            <a:ext cx="9667875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第二种方式：通过数字变更权限</a:t>
            </a:r>
            <a:endParaRPr lang="en-US" altLang="zh-CN" sz="2800"/>
          </a:p>
          <a:p>
            <a:r>
              <a:rPr lang="en-US" altLang="zh-CN" sz="2800"/>
              <a:t>r=4 w=2 x=1                rwx=4+2+ 1=7</a:t>
            </a:r>
            <a:endParaRPr lang="en-US" altLang="zh-CN" sz="2800"/>
          </a:p>
          <a:p>
            <a:r>
              <a:rPr lang="en-US" altLang="zh-CN" sz="2800"/>
              <a:t>chmod u=rwx,g=rx,o=x        </a:t>
            </a:r>
            <a:r>
              <a:rPr lang="zh-CN" altLang="en-US" sz="2800"/>
              <a:t>文件目录名</a:t>
            </a:r>
            <a:endParaRPr lang="zh-CN" altLang="en-US" sz="2800"/>
          </a:p>
          <a:p>
            <a:r>
              <a:rPr lang="zh-CN" altLang="en-US" sz="2800"/>
              <a:t>相当于</a:t>
            </a:r>
            <a:r>
              <a:rPr lang="en-US" altLang="zh-CN" sz="2800"/>
              <a:t> </a:t>
            </a:r>
            <a:endParaRPr lang="en-US" altLang="zh-CN" sz="2800"/>
          </a:p>
          <a:p>
            <a:r>
              <a:rPr lang="en-US" altLang="zh-CN" sz="2800"/>
              <a:t>chmod      751    </a:t>
            </a:r>
            <a:r>
              <a:rPr lang="zh-CN" altLang="en-US" sz="2800"/>
              <a:t>文件</a:t>
            </a:r>
            <a:r>
              <a:rPr lang="en-US" altLang="zh-CN" sz="2800"/>
              <a:t>/</a:t>
            </a:r>
            <a:r>
              <a:rPr lang="zh-CN" altLang="en-US" sz="2800"/>
              <a:t>目录名</a:t>
            </a:r>
            <a:endParaRPr lang="zh-CN" altLang="en-US" sz="2800"/>
          </a:p>
          <a:p>
            <a:r>
              <a:rPr lang="en-US" altLang="zh-CN" sz="2800"/>
              <a:t> </a:t>
            </a:r>
            <a:endParaRPr lang="en-US" altLang="zh-CN" sz="2800"/>
          </a:p>
          <a:p>
            <a:r>
              <a:rPr lang="zh-CN" altLang="en-US" sz="2800"/>
              <a:t>案例</a:t>
            </a:r>
            <a:endParaRPr lang="zh-CN" altLang="en-US" sz="2800"/>
          </a:p>
          <a:p>
            <a:r>
              <a:rPr lang="zh-CN" altLang="en-US" sz="2800"/>
              <a:t>要求：将</a:t>
            </a:r>
            <a:r>
              <a:rPr lang="en-US" altLang="zh-CN" sz="2800"/>
              <a:t> abc.txt  </a:t>
            </a:r>
            <a:r>
              <a:rPr lang="zh-CN" altLang="en-US" sz="2800"/>
              <a:t>文件的权限修改成</a:t>
            </a:r>
            <a:r>
              <a:rPr lang="en-US" altLang="zh-CN" sz="2800"/>
              <a:t>  rwxr-xr-x,  </a:t>
            </a:r>
            <a:r>
              <a:rPr lang="zh-CN" altLang="en-US" sz="2800"/>
              <a:t>使用给数字的方式实现：</a:t>
            </a:r>
            <a:endParaRPr lang="zh-CN" altLang="en-US" sz="2800"/>
          </a:p>
          <a:p>
            <a:r>
              <a:rPr lang="en-US" altLang="zh-CN" sz="2800"/>
              <a:t>chmod    755 abc.txt</a:t>
            </a:r>
            <a:endParaRPr lang="en-US" altLang="zh-CN" sz="2800"/>
          </a:p>
        </p:txBody>
      </p:sp>
      <p:sp>
        <p:nvSpPr>
          <p:cNvPr id="3" name="文本框 2"/>
          <p:cNvSpPr txBox="1"/>
          <p:nvPr/>
        </p:nvSpPr>
        <p:spPr>
          <a:xfrm>
            <a:off x="160655" y="2692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>
                <a:sym typeface="+mn-ea"/>
              </a:rPr>
              <a:t>修改权限</a:t>
            </a:r>
            <a:r>
              <a:rPr lang="en-US" altLang="zh-CN" sz="3200">
                <a:sym typeface="+mn-ea"/>
              </a:rPr>
              <a:t>-chmod</a:t>
            </a:r>
            <a:endParaRPr lang="en-US" altLang="zh-CN" sz="32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r="13719" b="11493"/>
          <a:stretch>
            <a:fillRect/>
          </a:stretch>
        </p:blipFill>
        <p:spPr>
          <a:xfrm>
            <a:off x="5624830" y="2614930"/>
            <a:ext cx="6351270" cy="114681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5440" y="290195"/>
            <a:ext cx="788606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修改</a:t>
            </a:r>
            <a:r>
              <a:rPr lang="zh-CN" altLang="en-US" sz="3200" b="1"/>
              <a:t>文件</a:t>
            </a:r>
            <a:r>
              <a:rPr lang="en-US" altLang="zh-CN" sz="3200" b="1"/>
              <a:t>/</a:t>
            </a:r>
            <a:r>
              <a:rPr lang="zh-CN" altLang="en-US" sz="3200" b="1"/>
              <a:t>目录</a:t>
            </a:r>
            <a:r>
              <a:rPr lang="zh-CN" altLang="en-US" sz="3200"/>
              <a:t>所有者</a:t>
            </a:r>
            <a:r>
              <a:rPr lang="en-US" altLang="zh-CN" sz="3200"/>
              <a:t>-chown</a:t>
            </a:r>
            <a:endParaRPr lang="zh-CN" altLang="en-US" sz="2400"/>
          </a:p>
          <a:p>
            <a:r>
              <a:rPr lang="zh-CN" altLang="en-US" sz="2000"/>
              <a:t>基本介绍</a:t>
            </a:r>
            <a:endParaRPr lang="zh-CN" altLang="en-US" sz="2000"/>
          </a:p>
          <a:p>
            <a:r>
              <a:rPr lang="en-US" altLang="zh-CN" sz="2000"/>
              <a:t>chown    </a:t>
            </a:r>
            <a:r>
              <a:rPr lang="zh-CN" altLang="en-US" sz="2000"/>
              <a:t>新的所有者</a:t>
            </a:r>
            <a:r>
              <a:rPr lang="en-US" altLang="zh-CN" sz="2000"/>
              <a:t>         </a:t>
            </a:r>
            <a:r>
              <a:rPr lang="zh-CN" altLang="en-US" sz="2000"/>
              <a:t>文件</a:t>
            </a:r>
            <a:r>
              <a:rPr lang="en-US" altLang="zh-CN" sz="2000"/>
              <a:t>/</a:t>
            </a:r>
            <a:r>
              <a:rPr lang="zh-CN" altLang="en-US" sz="2000"/>
              <a:t>目录</a:t>
            </a:r>
            <a:r>
              <a:rPr lang="en-US" altLang="zh-CN" sz="2000"/>
              <a:t>       </a:t>
            </a:r>
            <a:r>
              <a:rPr lang="zh-CN" altLang="en-US" sz="2000"/>
              <a:t>作用：改变所有者</a:t>
            </a:r>
            <a:endParaRPr lang="zh-CN" altLang="en-US" sz="2000"/>
          </a:p>
          <a:p>
            <a:r>
              <a:rPr lang="en-US" altLang="zh-CN" sz="2000"/>
              <a:t>chown    </a:t>
            </a:r>
            <a:r>
              <a:rPr lang="zh-CN" altLang="en-US" sz="2000"/>
              <a:t>新所有者</a:t>
            </a:r>
            <a:r>
              <a:rPr lang="en-US" altLang="zh-CN" sz="2000"/>
              <a:t>:</a:t>
            </a:r>
            <a:r>
              <a:rPr lang="zh-CN" altLang="en-US" sz="2000"/>
              <a:t>新组</a:t>
            </a:r>
            <a:r>
              <a:rPr lang="en-US" altLang="zh-CN" sz="2000"/>
              <a:t>    </a:t>
            </a:r>
            <a:r>
              <a:rPr lang="zh-CN" altLang="en-US" sz="2000"/>
              <a:t>文件</a:t>
            </a:r>
            <a:r>
              <a:rPr lang="en-US" altLang="zh-CN" sz="2000"/>
              <a:t>/</a:t>
            </a:r>
            <a:r>
              <a:rPr lang="zh-CN" altLang="en-US" sz="2000"/>
              <a:t>目录</a:t>
            </a:r>
            <a:r>
              <a:rPr lang="en-US" altLang="zh-CN" sz="2000"/>
              <a:t>      </a:t>
            </a:r>
            <a:r>
              <a:rPr lang="zh-CN" altLang="en-US" sz="2000"/>
              <a:t>作用：改变所有者和所在组</a:t>
            </a:r>
            <a:endParaRPr lang="zh-CN" altLang="en-US" sz="2000"/>
          </a:p>
          <a:p>
            <a:r>
              <a:rPr lang="en-US" altLang="zh-CN" sz="2000"/>
              <a:t>-R      </a:t>
            </a:r>
            <a:r>
              <a:rPr lang="zh-CN" altLang="en-US" sz="2000"/>
              <a:t>如果是目录</a:t>
            </a:r>
            <a:r>
              <a:rPr lang="en-US" altLang="zh-CN" sz="2000"/>
              <a:t> </a:t>
            </a:r>
            <a:r>
              <a:rPr lang="zh-CN" altLang="en-US" sz="2000"/>
              <a:t>则使其下所有子文件或目录递归生效</a:t>
            </a:r>
            <a:endParaRPr lang="en-US" altLang="zh-CN" sz="2000"/>
          </a:p>
          <a:p>
            <a:r>
              <a:rPr lang="zh-CN" altLang="en-US" sz="2000"/>
              <a:t>案例</a:t>
            </a:r>
            <a:endParaRPr lang="zh-CN" altLang="en-US" sz="2000"/>
          </a:p>
          <a:p>
            <a:r>
              <a:rPr lang="en-US" altLang="zh-CN" sz="2000"/>
              <a:t>1)   </a:t>
            </a:r>
            <a:r>
              <a:rPr lang="zh-CN" altLang="en-US" sz="2000"/>
              <a:t>请将</a:t>
            </a:r>
            <a:r>
              <a:rPr lang="en-US" altLang="zh-CN" sz="2000"/>
              <a:t> abc.txt  </a:t>
            </a:r>
            <a:r>
              <a:rPr lang="zh-CN" altLang="en-US" sz="2000"/>
              <a:t>文件的所有者修改成</a:t>
            </a:r>
            <a:r>
              <a:rPr lang="en-US" altLang="zh-CN" sz="2000"/>
              <a:t> tom</a:t>
            </a:r>
            <a:endParaRPr lang="en-US" altLang="zh-CN" sz="2000"/>
          </a:p>
          <a:p>
            <a:r>
              <a:rPr lang="en-US" altLang="zh-CN" sz="2000"/>
              <a:t> chown tom abc.txt</a:t>
            </a:r>
            <a:endParaRPr lang="en-US" altLang="zh-CN" sz="2000"/>
          </a:p>
          <a:p>
            <a:r>
              <a:rPr lang="en-US" altLang="zh-CN" sz="2000"/>
              <a:t>2)   </a:t>
            </a:r>
            <a:r>
              <a:rPr lang="zh-CN" altLang="en-US" sz="2000"/>
              <a:t>请将</a:t>
            </a:r>
            <a:r>
              <a:rPr lang="en-US" altLang="zh-CN" sz="2000"/>
              <a:t> /home/test  </a:t>
            </a:r>
            <a:r>
              <a:rPr lang="zh-CN" altLang="en-US" sz="2000"/>
              <a:t>目录下所有的文件和目录的所有者都修改成</a:t>
            </a:r>
            <a:r>
              <a:rPr lang="en-US" altLang="zh-CN" sz="2000"/>
              <a:t> tom</a:t>
            </a:r>
            <a:endParaRPr lang="en-US" altLang="zh-CN" sz="2000"/>
          </a:p>
          <a:p>
            <a:r>
              <a:rPr lang="en-US" altLang="zh-CN" sz="2000"/>
              <a:t>       mkdir -p /home/test/testdir</a:t>
            </a:r>
            <a:endParaRPr lang="en-US" altLang="zh-CN" sz="2000"/>
          </a:p>
          <a:p>
            <a:r>
              <a:rPr lang="en-US" altLang="zh-CN" sz="2000"/>
              <a:t>       touch /home/test/111.txt</a:t>
            </a:r>
            <a:endParaRPr lang="en-US" altLang="zh-CN" sz="2000"/>
          </a:p>
          <a:p>
            <a:r>
              <a:rPr lang="en-US" altLang="zh-CN" sz="2000"/>
              <a:t>       chown -R tom /home/test</a:t>
            </a:r>
            <a:endParaRPr lang="en-US" altLang="zh-CN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b="2243"/>
          <a:stretch>
            <a:fillRect/>
          </a:stretch>
        </p:blipFill>
        <p:spPr>
          <a:xfrm>
            <a:off x="6570345" y="3306445"/>
            <a:ext cx="5621655" cy="335407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06120" y="470535"/>
            <a:ext cx="95688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修改</a:t>
            </a:r>
            <a:r>
              <a:rPr lang="zh-CN" altLang="en-US" sz="3200" b="1"/>
              <a:t>文件</a:t>
            </a:r>
            <a:r>
              <a:rPr lang="en-US" altLang="zh-CN" sz="3200" b="1"/>
              <a:t>/</a:t>
            </a:r>
            <a:r>
              <a:rPr lang="zh-CN" altLang="en-US" sz="3200" b="1"/>
              <a:t>目录</a:t>
            </a:r>
            <a:r>
              <a:rPr lang="zh-CN" altLang="en-US" sz="3200"/>
              <a:t>所在组</a:t>
            </a:r>
            <a:r>
              <a:rPr lang="en-US" altLang="zh-CN" sz="3200"/>
              <a:t>-chgrp</a:t>
            </a:r>
            <a:endParaRPr lang="en-US" altLang="zh-CN" sz="3200"/>
          </a:p>
          <a:p>
            <a:endParaRPr lang="zh-CN" altLang="en-US" sz="2800"/>
          </a:p>
          <a:p>
            <a:r>
              <a:rPr lang="zh-CN" altLang="en-US" sz="2000"/>
              <a:t>基本介绍</a:t>
            </a:r>
            <a:endParaRPr lang="zh-CN" altLang="en-US" sz="2000"/>
          </a:p>
          <a:p>
            <a:r>
              <a:rPr lang="en-US" altLang="zh-CN" sz="2000"/>
              <a:t>chgrp </a:t>
            </a:r>
            <a:r>
              <a:rPr lang="zh-CN" altLang="en-US" sz="2000"/>
              <a:t>组名</a:t>
            </a:r>
            <a:r>
              <a:rPr lang="en-US" altLang="zh-CN" sz="2000"/>
              <a:t>  </a:t>
            </a:r>
            <a:r>
              <a:rPr lang="zh-CN" altLang="en-US" sz="2000"/>
              <a:t>文件</a:t>
            </a:r>
            <a:r>
              <a:rPr lang="en-US" altLang="zh-CN" sz="2000"/>
              <a:t>/</a:t>
            </a:r>
            <a:r>
              <a:rPr lang="zh-CN" altLang="en-US" sz="2000"/>
              <a:t>目录名</a:t>
            </a:r>
            <a:r>
              <a:rPr lang="en-US" altLang="zh-CN" sz="2000"/>
              <a:t>    </a:t>
            </a:r>
            <a:r>
              <a:rPr lang="zh-CN" altLang="en-US" sz="2000"/>
              <a:t>【</a:t>
            </a:r>
            <a:r>
              <a:rPr lang="en-US" altLang="zh-CN" sz="2000"/>
              <a:t> </a:t>
            </a:r>
            <a:r>
              <a:rPr lang="zh-CN" altLang="en-US" sz="2000"/>
              <a:t>改变文件</a:t>
            </a:r>
            <a:r>
              <a:rPr lang="en-US" altLang="zh-CN" sz="2000"/>
              <a:t>/</a:t>
            </a:r>
            <a:r>
              <a:rPr lang="zh-CN" altLang="en-US" sz="2000"/>
              <a:t>目录的所在组】</a:t>
            </a:r>
            <a:endParaRPr lang="zh-CN" altLang="en-US" sz="2000"/>
          </a:p>
          <a:p>
            <a:endParaRPr lang="en-US" altLang="zh-CN" sz="2000"/>
          </a:p>
          <a:p>
            <a:r>
              <a:rPr lang="en-US" altLang="zh-CN" sz="2000"/>
              <a:t> </a:t>
            </a:r>
            <a:r>
              <a:rPr lang="zh-CN" altLang="en-US" sz="2000"/>
              <a:t>案例</a:t>
            </a:r>
            <a:endParaRPr lang="zh-CN" altLang="en-US" sz="2000"/>
          </a:p>
          <a:p>
            <a:r>
              <a:rPr lang="zh-CN" altLang="en-US" sz="2000"/>
              <a:t>请将</a:t>
            </a:r>
            <a:r>
              <a:rPr lang="en-US" altLang="zh-CN" sz="2000"/>
              <a:t> abc .txt  </a:t>
            </a:r>
            <a:r>
              <a:rPr lang="zh-CN" altLang="en-US" sz="2000"/>
              <a:t>文件的所在组修改成</a:t>
            </a:r>
            <a:r>
              <a:rPr lang="en-US" altLang="zh-CN" sz="2000"/>
              <a:t> shaolin (</a:t>
            </a:r>
            <a:r>
              <a:rPr lang="zh-CN" altLang="en-US" sz="2000"/>
              <a:t>少林</a:t>
            </a:r>
            <a:r>
              <a:rPr lang="en-US" altLang="zh-CN" sz="2000"/>
              <a:t>)</a:t>
            </a:r>
            <a:endParaRPr lang="en-US" altLang="zh-CN" sz="2000"/>
          </a:p>
          <a:p>
            <a:r>
              <a:rPr lang="en-US" altLang="zh-CN" sz="2000"/>
              <a:t>groupadd shaolin</a:t>
            </a:r>
            <a:endParaRPr lang="en-US" altLang="zh-CN" sz="2000"/>
          </a:p>
          <a:p>
            <a:r>
              <a:rPr lang="en-US" altLang="zh-CN" sz="2000"/>
              <a:t>chgrp shaolin abc.txt</a:t>
            </a:r>
            <a:endParaRPr lang="en-US" altLang="zh-CN" sz="2000"/>
          </a:p>
          <a:p>
            <a:r>
              <a:rPr lang="zh-CN" altLang="en-US" sz="2000"/>
              <a:t>请将</a:t>
            </a:r>
            <a:r>
              <a:rPr lang="en-US" altLang="zh-CN" sz="2000"/>
              <a:t> /home/test  </a:t>
            </a:r>
            <a:r>
              <a:rPr lang="zh-CN" altLang="en-US" sz="2000"/>
              <a:t>目录下所有的文件和目录的所在组都修改成</a:t>
            </a:r>
            <a:r>
              <a:rPr lang="en-US" altLang="zh-CN" sz="2000"/>
              <a:t> shaolin(</a:t>
            </a:r>
            <a:r>
              <a:rPr lang="zh-CN" altLang="en-US" sz="2000"/>
              <a:t>少林</a:t>
            </a:r>
            <a:r>
              <a:rPr lang="en-US" altLang="zh-CN" sz="2000"/>
              <a:t>) </a:t>
            </a:r>
            <a:endParaRPr lang="en-US" altLang="zh-CN" sz="2000"/>
          </a:p>
          <a:p>
            <a:r>
              <a:rPr lang="en-US" altLang="zh-CN" sz="2000"/>
              <a:t>chgrp -R shaolin /home/test</a:t>
            </a:r>
            <a:endParaRPr lang="en-US" altLang="zh-CN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4490" y="3968115"/>
            <a:ext cx="6408420" cy="265874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53365" y="480695"/>
            <a:ext cx="11684000" cy="61353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ym typeface="+mn-ea"/>
              </a:rPr>
              <a:t>usermod       –d      </a:t>
            </a:r>
            <a:r>
              <a:rPr lang="zh-CN" altLang="en-US" sz="2400">
                <a:sym typeface="+mn-ea"/>
              </a:rPr>
              <a:t>目录名</a:t>
            </a:r>
            <a:r>
              <a:rPr lang="en-US" altLang="zh-CN" sz="2400">
                <a:sym typeface="+mn-ea"/>
              </a:rPr>
              <a:t>  </a:t>
            </a:r>
            <a:r>
              <a:rPr lang="zh-CN" altLang="en-US" sz="2400">
                <a:sym typeface="+mn-ea"/>
              </a:rPr>
              <a:t>用户名</a:t>
            </a:r>
            <a:r>
              <a:rPr lang="en-US" altLang="zh-CN" sz="2400">
                <a:sym typeface="+mn-ea"/>
              </a:rPr>
              <a:t>          </a:t>
            </a:r>
            <a:endParaRPr lang="en-US" altLang="zh-CN" sz="2400">
              <a:sym typeface="+mn-ea"/>
            </a:endParaRPr>
          </a:p>
          <a:p>
            <a:r>
              <a:rPr lang="zh-CN" altLang="en-US" sz="2400">
                <a:sym typeface="+mn-ea"/>
              </a:rPr>
              <a:t>作用：改变该用户登录的家目录。这个命令我们通常不用，而是与</a:t>
            </a:r>
            <a:r>
              <a:rPr lang="en-US" altLang="zh-CN" sz="2400">
                <a:sym typeface="+mn-ea"/>
              </a:rPr>
              <a:t>-m</a:t>
            </a:r>
            <a:r>
              <a:rPr lang="zh-CN" altLang="en-US" sz="2400">
                <a:sym typeface="+mn-ea"/>
              </a:rPr>
              <a:t>搭配使用。因为这个命令的新的家目录需要我们提前创建，旧目录内容还不会挪到新目录，并且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用户需要有进入到新目录的权限</a:t>
            </a:r>
            <a:r>
              <a:rPr lang="zh-CN" altLang="en-US" sz="2400">
                <a:sym typeface="+mn-ea"/>
              </a:rPr>
              <a:t>。但是一旦使用了呢？</a:t>
            </a:r>
            <a:endParaRPr lang="zh-CN" altLang="en-US" sz="2400">
              <a:sym typeface="+mn-ea"/>
            </a:endParaRPr>
          </a:p>
          <a:p>
            <a:r>
              <a:rPr lang="zh-CN" altLang="en-US" sz="2400" b="1">
                <a:sym typeface="+mn-ea"/>
              </a:rPr>
              <a:t>比如说我</a:t>
            </a:r>
            <a:r>
              <a:rPr lang="zh-CN" altLang="en-US" sz="2400" b="1">
                <a:sym typeface="+mn-ea"/>
              </a:rPr>
              <a:t>想把用户</a:t>
            </a:r>
            <a:r>
              <a:rPr lang="en-US" altLang="zh-CN" sz="2400" b="1">
                <a:sym typeface="+mn-ea"/>
              </a:rPr>
              <a:t>jack</a:t>
            </a:r>
            <a:r>
              <a:rPr lang="zh-CN" altLang="en-US" sz="2400" b="1">
                <a:sym typeface="+mn-ea"/>
              </a:rPr>
              <a:t>的家目录修改为</a:t>
            </a:r>
            <a:r>
              <a:rPr lang="en-US" altLang="zh-CN" sz="2400" b="1">
                <a:sym typeface="+mn-ea"/>
              </a:rPr>
              <a:t>/home/uuu</a:t>
            </a:r>
            <a:r>
              <a:rPr lang="zh-CN" altLang="en-US" sz="2400" b="1">
                <a:sym typeface="+mn-ea"/>
              </a:rPr>
              <a:t>，使用了不带</a:t>
            </a:r>
            <a:r>
              <a:rPr lang="en-US" altLang="zh-CN" sz="2400" b="1">
                <a:sym typeface="+mn-ea"/>
              </a:rPr>
              <a:t>-m</a:t>
            </a:r>
            <a:r>
              <a:rPr lang="zh-CN" altLang="en-US" sz="2400" b="1">
                <a:sym typeface="+mn-ea"/>
              </a:rPr>
              <a:t>的指令。</a:t>
            </a:r>
            <a:endParaRPr lang="en-US" altLang="zh-CN" sz="2400">
              <a:sym typeface="+mn-ea"/>
            </a:endParaRPr>
          </a:p>
          <a:p>
            <a:r>
              <a:rPr lang="zh-CN" altLang="en-US" sz="2400">
                <a:sym typeface="+mn-ea"/>
              </a:rPr>
              <a:t>要做的第一步就是在</a:t>
            </a:r>
            <a:r>
              <a:rPr lang="en-US" altLang="zh-CN" sz="2400">
                <a:sym typeface="+mn-ea"/>
              </a:rPr>
              <a:t>root</a:t>
            </a:r>
            <a:r>
              <a:rPr lang="zh-CN" altLang="en-US" sz="2400">
                <a:sym typeface="+mn-ea"/>
              </a:rPr>
              <a:t>账号下创建新目录</a:t>
            </a:r>
            <a:r>
              <a:rPr lang="en-US" altLang="zh-CN" sz="2400" b="1">
                <a:sym typeface="+mn-ea"/>
              </a:rPr>
              <a:t>/home/uuu</a:t>
            </a:r>
            <a:r>
              <a:rPr lang="zh-CN" altLang="en-US" sz="2400">
                <a:sym typeface="+mn-ea"/>
              </a:rPr>
              <a:t>，这时候用户对该目录通常是没有权限的。</a:t>
            </a:r>
            <a:endParaRPr lang="zh-CN" altLang="en-US" sz="2400">
              <a:sym typeface="+mn-ea"/>
            </a:endParaRPr>
          </a:p>
          <a:p>
            <a:endParaRPr lang="zh-CN" altLang="en-US" sz="2400">
              <a:sym typeface="+mn-ea"/>
            </a:endParaRPr>
          </a:p>
          <a:p>
            <a:endParaRPr lang="zh-CN" altLang="en-US" sz="2400">
              <a:sym typeface="+mn-ea"/>
            </a:endParaRPr>
          </a:p>
          <a:p>
            <a:endParaRPr lang="zh-CN" altLang="en-US" sz="2400">
              <a:sym typeface="+mn-ea"/>
            </a:endParaRPr>
          </a:p>
          <a:p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我们可以看到，</a:t>
            </a:r>
            <a:r>
              <a:rPr lang="en-US" altLang="zh-CN" sz="2400">
                <a:sym typeface="+mn-ea"/>
              </a:rPr>
              <a:t>root</a:t>
            </a:r>
            <a:r>
              <a:rPr lang="zh-CN" altLang="en-US" sz="2400">
                <a:sym typeface="+mn-ea"/>
              </a:rPr>
              <a:t>创建的目录</a:t>
            </a:r>
            <a:r>
              <a:rPr lang="en-US" altLang="zh-CN" sz="2400" b="1">
                <a:sym typeface="+mn-ea"/>
              </a:rPr>
              <a:t>uuu</a:t>
            </a:r>
            <a:r>
              <a:rPr lang="zh-CN" altLang="en-US" sz="2400">
                <a:sym typeface="+mn-ea"/>
              </a:rPr>
              <a:t>的所有者是</a:t>
            </a:r>
            <a:r>
              <a:rPr lang="en-US" altLang="zh-CN" sz="2400">
                <a:sym typeface="+mn-ea"/>
              </a:rPr>
              <a:t>root</a:t>
            </a:r>
            <a:r>
              <a:rPr lang="zh-CN" altLang="en-US" sz="2400">
                <a:sym typeface="+mn-ea"/>
              </a:rPr>
              <a:t>，所属组是</a:t>
            </a:r>
            <a:r>
              <a:rPr lang="en-US" altLang="zh-CN" sz="2400">
                <a:sym typeface="+mn-ea"/>
              </a:rPr>
              <a:t>root</a:t>
            </a:r>
            <a:r>
              <a:rPr lang="zh-CN" altLang="en-US" sz="2400">
                <a:sym typeface="+mn-ea"/>
              </a:rPr>
              <a:t>组。我们是要</a:t>
            </a:r>
            <a:r>
              <a:rPr lang="zh-CN" altLang="en-US" sz="2400">
                <a:sym typeface="+mn-ea"/>
              </a:rPr>
              <a:t>更改</a:t>
            </a:r>
            <a:r>
              <a:rPr lang="en-US" altLang="zh-CN" sz="2400">
                <a:sym typeface="+mn-ea"/>
              </a:rPr>
              <a:t>jack</a:t>
            </a:r>
            <a:r>
              <a:rPr lang="zh-CN" altLang="en-US" sz="2400">
                <a:sym typeface="+mn-ea"/>
              </a:rPr>
              <a:t>的家目录改为</a:t>
            </a:r>
            <a:r>
              <a:rPr lang="en-US" altLang="zh-CN" sz="2400">
                <a:sym typeface="+mn-ea"/>
              </a:rPr>
              <a:t>uuu</a:t>
            </a:r>
            <a:r>
              <a:rPr lang="zh-CN" altLang="en-US" sz="2400">
                <a:sym typeface="+mn-ea"/>
              </a:rPr>
              <a:t>，由于</a:t>
            </a:r>
            <a:r>
              <a:rPr lang="en-US" altLang="zh-CN" sz="2400">
                <a:sym typeface="+mn-ea"/>
              </a:rPr>
              <a:t>uuu</a:t>
            </a:r>
            <a:r>
              <a:rPr lang="zh-CN" altLang="en-US" sz="2400">
                <a:sym typeface="+mn-ea"/>
              </a:rPr>
              <a:t>的所有者是</a:t>
            </a:r>
            <a:r>
              <a:rPr lang="en-US" altLang="zh-CN" sz="2400">
                <a:sym typeface="+mn-ea"/>
              </a:rPr>
              <a:t>root</a:t>
            </a:r>
            <a:r>
              <a:rPr lang="zh-CN" altLang="en-US" sz="2400">
                <a:sym typeface="+mn-ea"/>
              </a:rPr>
              <a:t>，所属组是</a:t>
            </a:r>
            <a:r>
              <a:rPr lang="en-US" altLang="zh-CN" sz="2400">
                <a:sym typeface="+mn-ea"/>
              </a:rPr>
              <a:t>root</a:t>
            </a:r>
            <a:r>
              <a:rPr lang="zh-CN" altLang="en-US" sz="2400">
                <a:sym typeface="+mn-ea"/>
              </a:rPr>
              <a:t>组，而</a:t>
            </a:r>
            <a:r>
              <a:rPr lang="en-US" altLang="zh-CN" sz="2400">
                <a:sym typeface="+mn-ea"/>
              </a:rPr>
              <a:t>jack</a:t>
            </a:r>
            <a:r>
              <a:rPr lang="zh-CN" altLang="en-US" sz="2400">
                <a:sym typeface="+mn-ea"/>
              </a:rPr>
              <a:t>不在</a:t>
            </a:r>
            <a:r>
              <a:rPr lang="en-US" altLang="zh-CN" sz="2400">
                <a:sym typeface="+mn-ea"/>
              </a:rPr>
              <a:t>root</a:t>
            </a:r>
            <a:r>
              <a:rPr lang="zh-CN" altLang="en-US" sz="2400">
                <a:sym typeface="+mn-ea"/>
              </a:rPr>
              <a:t>组中，所以</a:t>
            </a:r>
            <a:r>
              <a:rPr lang="zh-CN" altLang="en-US" sz="2400">
                <a:sym typeface="+mn-ea"/>
              </a:rPr>
              <a:t>用户</a:t>
            </a:r>
            <a:r>
              <a:rPr lang="en-US" altLang="zh-CN" sz="2400">
                <a:sym typeface="+mn-ea"/>
              </a:rPr>
              <a:t>jack</a:t>
            </a:r>
            <a:r>
              <a:rPr lang="zh-CN" altLang="en-US" sz="2400">
                <a:sym typeface="+mn-ea"/>
              </a:rPr>
              <a:t>对于</a:t>
            </a:r>
            <a:r>
              <a:rPr lang="en-US" altLang="zh-CN" sz="2400">
                <a:sym typeface="+mn-ea"/>
              </a:rPr>
              <a:t>root</a:t>
            </a:r>
            <a:r>
              <a:rPr lang="zh-CN" altLang="en-US" sz="2400">
                <a:sym typeface="+mn-ea"/>
              </a:rPr>
              <a:t>创建的目录</a:t>
            </a:r>
            <a:r>
              <a:rPr lang="en-US" altLang="zh-CN" sz="2400">
                <a:sym typeface="+mn-ea"/>
              </a:rPr>
              <a:t>uuu</a:t>
            </a:r>
            <a:r>
              <a:rPr lang="zh-CN" altLang="en-US" sz="2400">
                <a:sym typeface="+mn-ea"/>
              </a:rPr>
              <a:t>来说就是</a:t>
            </a:r>
            <a:r>
              <a:rPr lang="zh-CN" altLang="en-US" sz="2400" b="1">
                <a:sym typeface="+mn-ea"/>
              </a:rPr>
              <a:t>其他组</a:t>
            </a:r>
            <a:r>
              <a:rPr lang="zh-CN" altLang="en-US" sz="2400">
                <a:sym typeface="+mn-ea"/>
              </a:rPr>
              <a:t>的用户。</a:t>
            </a:r>
            <a:endParaRPr lang="zh-CN" altLang="en-US" sz="2400">
              <a:sym typeface="+mn-ea"/>
            </a:endParaRPr>
          </a:p>
          <a:p>
            <a:r>
              <a:rPr lang="zh-CN" altLang="en-US" sz="2400">
                <a:sym typeface="+mn-ea"/>
              </a:rPr>
              <a:t>从图中我们能看到该目录对于其他组权限是可读可执行，但是不可写，也就是其他组的用户（</a:t>
            </a:r>
            <a:r>
              <a:rPr lang="en-US" altLang="zh-CN" sz="2400">
                <a:sym typeface="+mn-ea"/>
              </a:rPr>
              <a:t>jack</a:t>
            </a:r>
            <a:r>
              <a:rPr lang="zh-CN" altLang="en-US" sz="2400">
                <a:sym typeface="+mn-ea"/>
              </a:rPr>
              <a:t>）</a:t>
            </a:r>
            <a:r>
              <a:rPr lang="zh-CN" altLang="en-US" sz="2400">
                <a:sym typeface="+mn-ea"/>
              </a:rPr>
              <a:t>不能在该目录下创建</a:t>
            </a:r>
            <a:r>
              <a:rPr lang="en-US" altLang="zh-CN" sz="2400">
                <a:sym typeface="+mn-ea"/>
              </a:rPr>
              <a:t>/</a:t>
            </a:r>
            <a:r>
              <a:rPr lang="zh-CN" altLang="en-US" sz="2400">
                <a:sym typeface="+mn-ea"/>
              </a:rPr>
              <a:t>删除</a:t>
            </a:r>
            <a:r>
              <a:rPr lang="en-US" altLang="zh-CN" sz="2400">
                <a:sym typeface="+mn-ea"/>
              </a:rPr>
              <a:t>/</a:t>
            </a:r>
            <a:r>
              <a:rPr lang="zh-CN" altLang="en-US" sz="2400">
                <a:sym typeface="+mn-ea"/>
              </a:rPr>
              <a:t>重命名</a:t>
            </a:r>
            <a:r>
              <a:rPr lang="en-US" altLang="zh-CN" sz="2400">
                <a:sym typeface="+mn-ea"/>
              </a:rPr>
              <a:t> </a:t>
            </a:r>
            <a:r>
              <a:rPr lang="zh-CN" altLang="en-US" sz="2400">
                <a:sym typeface="+mn-ea"/>
              </a:rPr>
              <a:t>文件</a:t>
            </a:r>
            <a:r>
              <a:rPr lang="en-US" altLang="zh-CN" sz="2400">
                <a:sym typeface="+mn-ea"/>
              </a:rPr>
              <a:t>/</a:t>
            </a:r>
            <a:r>
              <a:rPr lang="zh-CN" altLang="en-US" sz="2400">
                <a:sym typeface="+mn-ea"/>
              </a:rPr>
              <a:t>目录。因此作为家目录来说什么都干不了！！！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322580" y="100330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前边的小问题</a:t>
            </a:r>
            <a:endParaRPr lang="zh-CN" altLang="en-US" sz="24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165" y="3162300"/>
            <a:ext cx="8930005" cy="124269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634365" y="761365"/>
            <a:ext cx="10632440" cy="5539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ym typeface="+mn-ea"/>
              </a:rPr>
              <a:t>此时我只需要两步，就解决了这个问题</a:t>
            </a:r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①</a:t>
            </a:r>
            <a:r>
              <a:rPr lang="en-US" altLang="zh-CN" sz="2800">
                <a:sym typeface="+mn-ea"/>
              </a:rPr>
              <a:t>chown jack:jack /home/uuu     </a:t>
            </a:r>
            <a:endParaRPr lang="en-US" altLang="zh-CN" sz="2800">
              <a:sym typeface="+mn-ea"/>
            </a:endParaRPr>
          </a:p>
          <a:p>
            <a:r>
              <a:rPr lang="zh-CN" altLang="en-US" sz="2800">
                <a:sym typeface="+mn-ea"/>
              </a:rPr>
              <a:t>把该目录的所有者改为</a:t>
            </a:r>
            <a:r>
              <a:rPr lang="en-US" altLang="zh-CN" sz="2800">
                <a:sym typeface="+mn-ea"/>
              </a:rPr>
              <a:t>jack</a:t>
            </a:r>
            <a:r>
              <a:rPr lang="zh-CN" altLang="en-US" sz="2800">
                <a:sym typeface="+mn-ea"/>
              </a:rPr>
              <a:t>，所属组同样改为</a:t>
            </a:r>
            <a:r>
              <a:rPr lang="en-US" altLang="zh-CN" sz="2800">
                <a:sym typeface="+mn-ea"/>
              </a:rPr>
              <a:t>jack</a:t>
            </a:r>
            <a:r>
              <a:rPr lang="zh-CN" altLang="en-US" sz="2800">
                <a:sym typeface="+mn-ea"/>
              </a:rPr>
              <a:t>（所属组可以不改，但为了管理规范，建议改为</a:t>
            </a:r>
            <a:r>
              <a:rPr lang="en-US" altLang="zh-CN" sz="2800">
                <a:sym typeface="+mn-ea"/>
              </a:rPr>
              <a:t>jack</a:t>
            </a:r>
            <a:r>
              <a:rPr lang="zh-CN" altLang="en-US" sz="2800">
                <a:sym typeface="+mn-ea"/>
              </a:rPr>
              <a:t>）</a:t>
            </a:r>
            <a:endParaRPr lang="en-US" altLang="zh-CN" sz="2800">
              <a:sym typeface="+mn-ea"/>
            </a:endParaRPr>
          </a:p>
          <a:p>
            <a:endParaRPr lang="zh-CN" altLang="en-US" sz="2800">
              <a:sym typeface="+mn-ea"/>
            </a:endParaRPr>
          </a:p>
          <a:p>
            <a:r>
              <a:rPr lang="zh-CN" altLang="en-US" sz="2800">
                <a:sym typeface="+mn-ea"/>
              </a:rPr>
              <a:t>②</a:t>
            </a:r>
            <a:r>
              <a:rPr lang="en-US" altLang="zh-CN" sz="2800">
                <a:sym typeface="+mn-ea"/>
              </a:rPr>
              <a:t>chmod 700 /home/uuu             </a:t>
            </a:r>
            <a:endParaRPr lang="en-US" altLang="zh-CN" sz="2800">
              <a:sym typeface="+mn-ea"/>
            </a:endParaRPr>
          </a:p>
          <a:p>
            <a:r>
              <a:rPr lang="zh-CN" altLang="en-US" sz="2800">
                <a:sym typeface="+mn-ea"/>
              </a:rPr>
              <a:t>修改该目录</a:t>
            </a:r>
            <a:r>
              <a:rPr lang="en-US" altLang="zh-CN" sz="2800">
                <a:sym typeface="+mn-ea"/>
              </a:rPr>
              <a:t>/home/uuu</a:t>
            </a:r>
            <a:r>
              <a:rPr lang="zh-CN" altLang="en-US" sz="2800">
                <a:sym typeface="+mn-ea"/>
              </a:rPr>
              <a:t>的权限，所有者可读可写可执行，同组的其它用户和其他组的用户不可读不可写不可执行，为了安全。那么此时对于这个目录</a:t>
            </a:r>
            <a:r>
              <a:rPr lang="en-US" altLang="zh-CN" sz="2800">
                <a:sym typeface="+mn-ea"/>
              </a:rPr>
              <a:t>/home/uuu</a:t>
            </a:r>
            <a:r>
              <a:rPr lang="zh-CN" altLang="en-US" sz="2800">
                <a:sym typeface="+mn-ea"/>
              </a:rPr>
              <a:t>，只有</a:t>
            </a:r>
            <a:r>
              <a:rPr lang="en-US" altLang="zh-CN" sz="2800">
                <a:sym typeface="+mn-ea"/>
              </a:rPr>
              <a:t>jack</a:t>
            </a:r>
            <a:r>
              <a:rPr lang="zh-CN" altLang="en-US" sz="2800">
                <a:sym typeface="+mn-ea"/>
              </a:rPr>
              <a:t>可以进行读写执行的操作。</a:t>
            </a:r>
            <a:endParaRPr lang="zh-CN" altLang="en-US" sz="2800">
              <a:sym typeface="+mn-ea"/>
            </a:endParaRPr>
          </a:p>
          <a:p>
            <a:endParaRPr lang="zh-CN" altLang="en-US"/>
          </a:p>
          <a:p>
            <a:r>
              <a:rPr lang="zh-CN" altLang="en-US" sz="2800"/>
              <a:t>这时我们修改家目录，使用这条指令：</a:t>
            </a:r>
            <a:r>
              <a:rPr lang="en-US" altLang="zh-CN" sz="2800"/>
              <a:t>usermod -d /home/uuu jack </a:t>
            </a:r>
            <a:r>
              <a:rPr lang="zh-CN" altLang="en-US" sz="2800"/>
              <a:t>，就完成了修改。</a:t>
            </a:r>
            <a:r>
              <a:rPr lang="en-US" altLang="zh-CN" sz="2800"/>
              <a:t>jack</a:t>
            </a:r>
            <a:r>
              <a:rPr lang="zh-CN" altLang="en-US" sz="2800"/>
              <a:t>登录后就可以使用新的家目录了。</a:t>
            </a:r>
            <a:endParaRPr lang="zh-CN" altLang="en-US" sz="2800"/>
          </a:p>
          <a:p>
            <a:r>
              <a:rPr lang="zh-CN" altLang="en-US" sz="2800" b="1"/>
              <a:t>建议：</a:t>
            </a:r>
            <a:r>
              <a:rPr lang="en-US" altLang="zh-CN" sz="2800" b="1"/>
              <a:t>usermod</a:t>
            </a:r>
            <a:r>
              <a:rPr lang="zh-CN" altLang="en-US" sz="2800" b="1"/>
              <a:t>使用</a:t>
            </a:r>
            <a:r>
              <a:rPr lang="en-US" altLang="zh-CN" sz="2800" b="1"/>
              <a:t>-d</a:t>
            </a:r>
            <a:r>
              <a:rPr lang="zh-CN" altLang="en-US" sz="2800" b="1"/>
              <a:t>一定要与</a:t>
            </a:r>
            <a:r>
              <a:rPr lang="en-US" altLang="zh-CN" sz="2800" b="1"/>
              <a:t>-m</a:t>
            </a:r>
            <a:r>
              <a:rPr lang="zh-CN" altLang="en-US" sz="2800" b="1"/>
              <a:t>一起使用，省去这些麻烦事！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0205" y="218440"/>
            <a:ext cx="166878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4000"/>
              <a:t>sudo</a:t>
            </a:r>
            <a:endParaRPr lang="en-US" altLang="zh-CN" sz="4000"/>
          </a:p>
        </p:txBody>
      </p:sp>
      <p:sp>
        <p:nvSpPr>
          <p:cNvPr id="3" name="文本框 2"/>
          <p:cNvSpPr txBox="1"/>
          <p:nvPr/>
        </p:nvSpPr>
        <p:spPr>
          <a:xfrm>
            <a:off x="501015" y="1002030"/>
            <a:ext cx="11342370" cy="29273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我们之前讲过</a:t>
            </a:r>
            <a:r>
              <a:rPr lang="en-US" altLang="zh-CN" sz="2800"/>
              <a:t>su - root</a:t>
            </a:r>
            <a:r>
              <a:rPr lang="en-US" altLang="en-US" sz="2800"/>
              <a:t> </a:t>
            </a:r>
            <a:r>
              <a:rPr lang="zh-CN" altLang="en-US" sz="2800"/>
              <a:t>可以切换用户，但是这种方式需要输</a:t>
            </a:r>
            <a:r>
              <a:rPr lang="en-US" altLang="zh-CN" sz="2800"/>
              <a:t> root </a:t>
            </a:r>
            <a:r>
              <a:rPr lang="zh-CN" altLang="en-US" sz="2800"/>
              <a:t>密码。所有人想要使用</a:t>
            </a:r>
            <a:r>
              <a:rPr lang="en-US" altLang="zh-CN" sz="2800"/>
              <a:t>root</a:t>
            </a:r>
            <a:r>
              <a:rPr lang="zh-CN" altLang="en-US" sz="2800"/>
              <a:t>权限就都要知道密码，不安全。</a:t>
            </a:r>
            <a:endParaRPr lang="zh-CN" altLang="en-US" sz="2800"/>
          </a:p>
          <a:p>
            <a:r>
              <a:rPr lang="zh-CN" altLang="en-US" sz="2800"/>
              <a:t>而这次我们来学习一种临时借权限的办法：</a:t>
            </a:r>
            <a:r>
              <a:rPr lang="en-US" altLang="zh-CN" sz="2800"/>
              <a:t>sudo</a:t>
            </a:r>
            <a:endParaRPr lang="en-US" altLang="zh-CN" sz="2800"/>
          </a:p>
          <a:p>
            <a:r>
              <a:rPr lang="en-US" altLang="zh-CN" sz="2800"/>
              <a:t>sudo</a:t>
            </a:r>
            <a:r>
              <a:rPr lang="en-US" altLang="en-US" sz="2800"/>
              <a:t> </a:t>
            </a:r>
            <a:r>
              <a:rPr lang="en-US" altLang="zh-CN" sz="2800"/>
              <a:t> </a:t>
            </a:r>
            <a:r>
              <a:rPr lang="zh-CN" altLang="en-US" sz="2800"/>
              <a:t>是</a:t>
            </a:r>
            <a:r>
              <a:rPr lang="en-US" altLang="zh-CN" sz="2800"/>
              <a:t> superuser do </a:t>
            </a:r>
            <a:r>
              <a:rPr lang="zh-CN" altLang="en-US" sz="2800"/>
              <a:t>的缩写，作用是让普通用户以管理员（</a:t>
            </a:r>
            <a:r>
              <a:rPr lang="en-US" altLang="zh-CN" sz="2800"/>
              <a:t>root</a:t>
            </a:r>
            <a:r>
              <a:rPr lang="zh-CN" altLang="en-US" sz="2800"/>
              <a:t>）或其他用户的身份，临时执行一条命令，只需要输入普通用户自己的密码而不需要直接登录</a:t>
            </a:r>
            <a:r>
              <a:rPr lang="en-US" altLang="zh-CN" sz="2800"/>
              <a:t> root </a:t>
            </a:r>
            <a:r>
              <a:rPr lang="zh-CN" altLang="en-US" sz="2800"/>
              <a:t>账号。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530860" y="379730"/>
            <a:ext cx="54368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sudo</a:t>
            </a:r>
            <a:r>
              <a:rPr lang="en-US" altLang="en-US" sz="2800"/>
              <a:t> </a:t>
            </a:r>
            <a:r>
              <a:rPr lang="en-US" altLang="zh-CN" sz="2800"/>
              <a:t> </a:t>
            </a:r>
            <a:r>
              <a:rPr lang="zh-CN" altLang="en-US" sz="2800"/>
              <a:t>和</a:t>
            </a:r>
            <a:r>
              <a:rPr lang="en-US" altLang="zh-CN" sz="2800"/>
              <a:t> </a:t>
            </a:r>
            <a:r>
              <a:rPr lang="en-US" altLang="en-US" sz="2800"/>
              <a:t> </a:t>
            </a:r>
            <a:r>
              <a:rPr lang="en-US" altLang="zh-CN" sz="2800"/>
              <a:t>su - root</a:t>
            </a:r>
            <a:r>
              <a:rPr lang="en-US" altLang="en-US" sz="2800"/>
              <a:t> </a:t>
            </a:r>
            <a:r>
              <a:rPr lang="en-US" altLang="zh-CN" sz="2800"/>
              <a:t> </a:t>
            </a:r>
            <a:r>
              <a:rPr lang="zh-CN" altLang="en-US" sz="2800"/>
              <a:t>的核心区别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0" y="1446530"/>
            <a:ext cx="10025380" cy="39941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984250" y="5584190"/>
            <a:ext cx="99695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su - root</a:t>
            </a:r>
            <a:r>
              <a:rPr lang="en-US" altLang="en-US"/>
              <a:t> </a:t>
            </a:r>
            <a:r>
              <a:rPr lang="en-US" altLang="zh-CN"/>
              <a:t> </a:t>
            </a:r>
            <a:r>
              <a:rPr lang="zh-CN" altLang="en-US"/>
              <a:t>相当于</a:t>
            </a:r>
            <a:r>
              <a:rPr lang="en-US" altLang="zh-CN"/>
              <a:t> </a:t>
            </a:r>
            <a:r>
              <a:rPr lang="zh-CN" altLang="en-US"/>
              <a:t>直接变成</a:t>
            </a:r>
            <a:r>
              <a:rPr lang="en-US" altLang="zh-CN"/>
              <a:t> root</a:t>
            </a:r>
            <a:r>
              <a:rPr lang="zh-CN" altLang="en-US"/>
              <a:t>（要知道</a:t>
            </a:r>
            <a:r>
              <a:rPr lang="en-US" altLang="zh-CN"/>
              <a:t> root </a:t>
            </a:r>
            <a:r>
              <a:rPr lang="zh-CN" altLang="en-US"/>
              <a:t>密码）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sudo</a:t>
            </a:r>
            <a:r>
              <a:rPr lang="en-US" altLang="en-US"/>
              <a:t> </a:t>
            </a:r>
            <a:r>
              <a:rPr lang="en-US" altLang="zh-CN"/>
              <a:t> </a:t>
            </a:r>
            <a:r>
              <a:rPr lang="zh-CN" altLang="en-US"/>
              <a:t>相当于</a:t>
            </a:r>
            <a:r>
              <a:rPr lang="en-US" altLang="zh-CN"/>
              <a:t> </a:t>
            </a:r>
            <a:r>
              <a:rPr lang="zh-CN" altLang="en-US"/>
              <a:t>借</a:t>
            </a:r>
            <a:r>
              <a:rPr lang="en-US" altLang="zh-CN"/>
              <a:t> root </a:t>
            </a:r>
            <a:r>
              <a:rPr lang="zh-CN" altLang="en-US"/>
              <a:t>的权限干一件事（不需要知道</a:t>
            </a:r>
            <a:r>
              <a:rPr lang="en-US" altLang="zh-CN"/>
              <a:t>root</a:t>
            </a:r>
            <a:r>
              <a:rPr lang="zh-CN" altLang="en-US"/>
              <a:t>密码）</a:t>
            </a:r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0685" y="259080"/>
            <a:ext cx="12674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例子</a:t>
            </a:r>
            <a:endParaRPr lang="zh-CN" altLang="en-US" sz="3200"/>
          </a:p>
        </p:txBody>
      </p:sp>
      <p:sp>
        <p:nvSpPr>
          <p:cNvPr id="3" name="文本框 2"/>
          <p:cNvSpPr txBox="1"/>
          <p:nvPr/>
        </p:nvSpPr>
        <p:spPr>
          <a:xfrm>
            <a:off x="400685" y="842645"/>
            <a:ext cx="11493500" cy="5939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用</a:t>
            </a:r>
            <a:r>
              <a:rPr lang="en-US" altLang="zh-CN" sz="2000"/>
              <a:t> root </a:t>
            </a:r>
            <a:r>
              <a:rPr lang="zh-CN" altLang="en-US" sz="2000"/>
              <a:t>创建一个普通用户（</a:t>
            </a:r>
            <a:r>
              <a:rPr lang="en-US" altLang="zh-CN" sz="2000"/>
              <a:t>frank</a:t>
            </a:r>
            <a:r>
              <a:rPr lang="zh-CN" altLang="en-US" sz="2000"/>
              <a:t>）</a:t>
            </a:r>
            <a:endParaRPr lang="zh-CN" altLang="en-US" sz="2000"/>
          </a:p>
          <a:p>
            <a:r>
              <a:rPr lang="en-US" altLang="zh-CN" sz="2000"/>
              <a:t>useradd frank             passwd frank</a:t>
            </a:r>
            <a:endParaRPr lang="en-US" altLang="zh-CN" sz="2000"/>
          </a:p>
          <a:p>
            <a:r>
              <a:rPr lang="zh-CN" altLang="en-US" sz="2000"/>
              <a:t>切换到</a:t>
            </a:r>
            <a:r>
              <a:rPr lang="en-US" altLang="zh-CN" sz="2000"/>
              <a:t> frank       </a:t>
            </a:r>
            <a:r>
              <a:rPr lang="zh-CN" altLang="en-US" sz="2000"/>
              <a:t>：</a:t>
            </a:r>
            <a:r>
              <a:rPr lang="en-US" altLang="zh-CN" sz="2000"/>
              <a:t>    su - frank</a:t>
            </a:r>
            <a:endParaRPr lang="en-US" altLang="zh-CN" sz="2000"/>
          </a:p>
          <a:p>
            <a:r>
              <a:rPr lang="zh-CN" altLang="en-US" sz="2000"/>
              <a:t>尝试在根目录下创建文件夹</a:t>
            </a:r>
            <a:r>
              <a:rPr lang="en-US" altLang="zh-CN" sz="2000"/>
              <a:t>      </a:t>
            </a:r>
            <a:r>
              <a:rPr lang="en-US" altLang="zh-CN" sz="2000">
                <a:sym typeface="+mn-ea"/>
              </a:rPr>
              <a:t>mkdir /yys</a:t>
            </a:r>
            <a:endParaRPr lang="en-US" altLang="zh-CN" sz="2000"/>
          </a:p>
          <a:p>
            <a:r>
              <a:rPr lang="zh-CN" altLang="en-US" sz="2000"/>
              <a:t>结果：权限不足，报错</a:t>
            </a:r>
            <a:endParaRPr lang="zh-CN" altLang="en-US" sz="2000"/>
          </a:p>
          <a:p>
            <a:r>
              <a:rPr lang="en-US" altLang="zh-CN" sz="2000"/>
              <a:t> </a:t>
            </a:r>
            <a:endParaRPr lang="en-US" altLang="zh-CN" sz="2000"/>
          </a:p>
          <a:p>
            <a:r>
              <a:rPr lang="zh-CN" altLang="en-US" sz="2000"/>
              <a:t>普通用户不切换用户想执行系统管理命令，该怎么办？</a:t>
            </a:r>
            <a:endParaRPr lang="zh-CN" altLang="en-US" sz="2000"/>
          </a:p>
          <a:p>
            <a:r>
              <a:rPr lang="zh-CN" altLang="en-US" sz="2000"/>
              <a:t>我们可以用</a:t>
            </a:r>
            <a:r>
              <a:rPr lang="en-US" altLang="zh-CN" sz="2000"/>
              <a:t> </a:t>
            </a:r>
            <a:r>
              <a:rPr lang="en-US" altLang="en-US" sz="2000"/>
              <a:t> </a:t>
            </a:r>
            <a:r>
              <a:rPr lang="en-US" altLang="zh-CN" sz="2000"/>
              <a:t>sudo</a:t>
            </a:r>
            <a:r>
              <a:rPr lang="en-US" altLang="en-US" sz="2000"/>
              <a:t> </a:t>
            </a:r>
            <a:r>
              <a:rPr lang="en-US" altLang="zh-CN" sz="2000"/>
              <a:t> </a:t>
            </a:r>
            <a:r>
              <a:rPr lang="zh-CN" altLang="en-US" sz="2000"/>
              <a:t>临时借</a:t>
            </a:r>
            <a:r>
              <a:rPr lang="en-US" altLang="zh-CN" sz="2000"/>
              <a:t> root </a:t>
            </a:r>
            <a:r>
              <a:rPr lang="zh-CN" altLang="en-US" sz="2000"/>
              <a:t>权限。</a:t>
            </a:r>
            <a:endParaRPr lang="en-US" altLang="zh-CN" sz="2000"/>
          </a:p>
          <a:p>
            <a:r>
              <a:rPr lang="zh-CN" altLang="en-US" sz="2000"/>
              <a:t>让</a:t>
            </a:r>
            <a:r>
              <a:rPr lang="en-US" altLang="zh-CN" sz="2000"/>
              <a:t> frank</a:t>
            </a:r>
            <a:r>
              <a:rPr lang="zh-CN" altLang="en-US" sz="2000"/>
              <a:t>试一下</a:t>
            </a:r>
            <a:endParaRPr lang="zh-CN" altLang="en-US" sz="2000"/>
          </a:p>
          <a:p>
            <a:r>
              <a:rPr lang="en-US" altLang="zh-CN" sz="2000"/>
              <a:t>sudo mkdir /yys       </a:t>
            </a:r>
            <a:r>
              <a:rPr lang="zh-CN" altLang="en-US" sz="2000"/>
              <a:t>结果：报错。</a:t>
            </a:r>
            <a:r>
              <a:rPr lang="en-US" altLang="zh-CN" sz="2000"/>
              <a:t>frank </a:t>
            </a:r>
            <a:r>
              <a:rPr lang="zh-CN" altLang="en-US" sz="2000"/>
              <a:t>不在</a:t>
            </a:r>
            <a:r>
              <a:rPr lang="en-US" altLang="zh-CN" sz="2000"/>
              <a:t> sudoers </a:t>
            </a:r>
            <a:r>
              <a:rPr lang="zh-CN" altLang="en-US" sz="2000"/>
              <a:t>文件中。此事将被报告。</a:t>
            </a:r>
            <a:endParaRPr lang="zh-CN" altLang="en-US" sz="2000"/>
          </a:p>
          <a:p>
            <a:r>
              <a:rPr lang="zh-CN" altLang="en-US" sz="2000"/>
              <a:t>因为不是所有用户都能用</a:t>
            </a:r>
            <a:r>
              <a:rPr lang="en-US" altLang="zh-CN" sz="2000"/>
              <a:t> sudo</a:t>
            </a:r>
            <a:r>
              <a:rPr lang="zh-CN" altLang="en-US" sz="2000"/>
              <a:t>，</a:t>
            </a:r>
            <a:r>
              <a:rPr lang="zh-CN" altLang="en-US" sz="2000" b="1">
                <a:solidFill>
                  <a:srgbClr val="C00000"/>
                </a:solidFill>
              </a:rPr>
              <a:t>必须把用户加入到</a:t>
            </a:r>
            <a:r>
              <a:rPr lang="en-US" altLang="zh-CN" sz="2000" b="1">
                <a:solidFill>
                  <a:srgbClr val="C00000"/>
                </a:solidFill>
              </a:rPr>
              <a:t>wheel</a:t>
            </a:r>
            <a:r>
              <a:rPr lang="en-US" altLang="en-US" sz="2000" b="1">
                <a:solidFill>
                  <a:srgbClr val="C00000"/>
                </a:solidFill>
              </a:rPr>
              <a:t> </a:t>
            </a:r>
            <a:r>
              <a:rPr lang="zh-CN" altLang="en-US" sz="2000" b="1">
                <a:solidFill>
                  <a:srgbClr val="C00000"/>
                </a:solidFill>
              </a:rPr>
              <a:t>组，才有</a:t>
            </a:r>
            <a:r>
              <a:rPr lang="en-US" altLang="zh-CN" sz="2000" b="1">
                <a:solidFill>
                  <a:srgbClr val="C00000"/>
                </a:solidFill>
              </a:rPr>
              <a:t> sudo </a:t>
            </a:r>
            <a:r>
              <a:rPr lang="zh-CN" altLang="en-US" sz="2000" b="1">
                <a:solidFill>
                  <a:srgbClr val="C00000"/>
                </a:solidFill>
              </a:rPr>
              <a:t>资格</a:t>
            </a:r>
            <a:r>
              <a:rPr lang="zh-CN" altLang="en-US" sz="2000"/>
              <a:t>。所以我们切回</a:t>
            </a:r>
            <a:r>
              <a:rPr lang="en-US" altLang="zh-CN" sz="2000"/>
              <a:t> root</a:t>
            </a:r>
            <a:r>
              <a:rPr lang="zh-CN" altLang="en-US" sz="2000"/>
              <a:t>，把</a:t>
            </a:r>
            <a:r>
              <a:rPr lang="en-US" altLang="zh-CN" sz="2000"/>
              <a:t> frank </a:t>
            </a:r>
            <a:r>
              <a:rPr lang="zh-CN" altLang="en-US" sz="2000"/>
              <a:t>加入</a:t>
            </a:r>
            <a:r>
              <a:rPr lang="en-US" altLang="zh-CN" sz="2000"/>
              <a:t> wheel </a:t>
            </a:r>
            <a:r>
              <a:rPr lang="zh-CN" altLang="en-US" sz="2000"/>
              <a:t>组</a:t>
            </a:r>
            <a:endParaRPr lang="zh-CN" altLang="en-US" sz="2000"/>
          </a:p>
          <a:p>
            <a:r>
              <a:rPr lang="en-US" altLang="zh-CN" sz="2000"/>
              <a:t>exit</a:t>
            </a:r>
            <a:endParaRPr lang="en-US" altLang="zh-CN" sz="2000"/>
          </a:p>
          <a:p>
            <a:r>
              <a:rPr lang="en-US" altLang="zh-CN" sz="2000"/>
              <a:t>usermod -aG wheel frank</a:t>
            </a:r>
            <a:endParaRPr lang="en-US" altLang="zh-CN" sz="2000"/>
          </a:p>
          <a:p>
            <a:r>
              <a:rPr lang="zh-CN" altLang="en-US" sz="2000"/>
              <a:t>给用户</a:t>
            </a:r>
            <a:r>
              <a:rPr lang="en-US" altLang="zh-CN" sz="2000"/>
              <a:t>frank</a:t>
            </a:r>
            <a:r>
              <a:rPr lang="zh-CN" altLang="en-US" sz="2000"/>
              <a:t>追加一个附加组</a:t>
            </a:r>
            <a:r>
              <a:rPr lang="en-US" altLang="zh-CN" sz="2000"/>
              <a:t>wheel,</a:t>
            </a:r>
            <a:r>
              <a:rPr lang="zh-CN" altLang="en-US" sz="2000"/>
              <a:t>这时候我们再切回</a:t>
            </a:r>
            <a:r>
              <a:rPr lang="en-US" altLang="zh-CN" sz="2000"/>
              <a:t> frank</a:t>
            </a:r>
            <a:r>
              <a:rPr lang="zh-CN" altLang="en-US" sz="2000"/>
              <a:t>，试</a:t>
            </a:r>
            <a:r>
              <a:rPr lang="en-US" altLang="zh-CN" sz="2000"/>
              <a:t> sudo</a:t>
            </a:r>
            <a:endParaRPr lang="en-US" altLang="zh-CN" sz="2000"/>
          </a:p>
          <a:p>
            <a:r>
              <a:rPr lang="en-US" altLang="zh-CN" sz="2000"/>
              <a:t>su - frank</a:t>
            </a:r>
            <a:endParaRPr lang="en-US" altLang="zh-CN" sz="2000"/>
          </a:p>
          <a:p>
            <a:r>
              <a:rPr lang="en-US" altLang="zh-CN" sz="2000"/>
              <a:t>sudo mkdir /testdir</a:t>
            </a:r>
            <a:endParaRPr lang="en-US" altLang="zh-CN" sz="2000"/>
          </a:p>
          <a:p>
            <a:r>
              <a:rPr lang="zh-CN" altLang="en-US" sz="2000"/>
              <a:t>这次输入</a:t>
            </a:r>
            <a:r>
              <a:rPr lang="en-US" altLang="zh-CN" sz="2000"/>
              <a:t> frank </a:t>
            </a:r>
            <a:r>
              <a:rPr lang="zh-CN" altLang="en-US" sz="2000"/>
              <a:t>自己的密码，命令成功执行。</a:t>
            </a:r>
            <a:endParaRPr lang="zh-CN" altLang="en-US" sz="2000"/>
          </a:p>
          <a:p>
            <a:r>
              <a:rPr lang="en-US" altLang="zh-CN" sz="2000"/>
              <a:t>cd /   ;ls </a:t>
            </a:r>
            <a:r>
              <a:rPr lang="zh-CN" altLang="en-US" sz="2000"/>
              <a:t>发现创建成功</a:t>
            </a:r>
            <a:endParaRPr lang="zh-CN" altLang="en-US" sz="2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9750</Words>
  <Application>WPS 演示</Application>
  <PresentationFormat>宽屏</PresentationFormat>
  <Paragraphs>549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2" baseType="lpstr">
      <vt:lpstr>Arial</vt:lpstr>
      <vt:lpstr>宋体</vt:lpstr>
      <vt:lpstr>Wingdings</vt:lpstr>
      <vt:lpstr>微软雅黑</vt:lpstr>
      <vt:lpstr>Calibri</vt:lpstr>
      <vt:lpstr>Arial Unicode MS</vt:lpstr>
      <vt:lpstr>Noto Sans SC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于耀淞</dc:creator>
  <cp:lastModifiedBy>Administrator</cp:lastModifiedBy>
  <cp:revision>22</cp:revision>
  <dcterms:created xsi:type="dcterms:W3CDTF">2023-08-09T12:44:00Z</dcterms:created>
  <dcterms:modified xsi:type="dcterms:W3CDTF">2026-04-13T01:11:34Z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0873332D278341A49E0438C2EBC6DFEA_12</vt:lpwstr>
  </property>
</Properties>
</file>