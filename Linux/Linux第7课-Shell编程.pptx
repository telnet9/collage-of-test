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02" r:id="rId12"/>
    <p:sldId id="265" r:id="rId13"/>
    <p:sldId id="301" r:id="rId14"/>
    <p:sldId id="266" r:id="rId15"/>
    <p:sldId id="267" r:id="rId16"/>
    <p:sldId id="300" r:id="rId17"/>
    <p:sldId id="268" r:id="rId18"/>
    <p:sldId id="269" r:id="rId19"/>
    <p:sldId id="299" r:id="rId20"/>
    <p:sldId id="270" r:id="rId21"/>
    <p:sldId id="298" r:id="rId22"/>
    <p:sldId id="271" r:id="rId23"/>
    <p:sldId id="297" r:id="rId24"/>
    <p:sldId id="272" r:id="rId25"/>
    <p:sldId id="303" r:id="rId26"/>
    <p:sldId id="304" r:id="rId27"/>
    <p:sldId id="305" r:id="rId28"/>
    <p:sldId id="306" r:id="rId29"/>
    <p:sldId id="307" r:id="rId30"/>
    <p:sldId id="308" r:id="rId31"/>
    <p:sldId id="309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24275" y="2256155"/>
            <a:ext cx="40640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600"/>
              <a:t>Shell </a:t>
            </a:r>
            <a:r>
              <a:rPr lang="zh-CN" altLang="en-US" sz="6600"/>
              <a:t>编程</a:t>
            </a:r>
            <a:endParaRPr lang="zh-CN" altLang="en-US"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8770" y="613410"/>
            <a:ext cx="753110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1  为什么要学习 </a:t>
            </a:r>
            <a:r>
              <a:rPr lang="en-US" altLang="zh-CN" sz="2800" b="1"/>
              <a:t>Shell </a:t>
            </a:r>
            <a:r>
              <a:rPr lang="zh-CN" altLang="en-US" sz="2800" b="1"/>
              <a:t>编程</a:t>
            </a:r>
            <a:endParaRPr lang="en-US" altLang="zh-CN" sz="2800"/>
          </a:p>
          <a:p>
            <a:r>
              <a:rPr lang="en-US" altLang="zh-CN" sz="2800"/>
              <a:t>1)   Linux </a:t>
            </a:r>
            <a:r>
              <a:rPr lang="zh-CN" altLang="en-US" sz="2800"/>
              <a:t>运维工程师在进行服务器集群管理时，需要编写 </a:t>
            </a:r>
            <a:r>
              <a:rPr lang="en-US" altLang="zh-CN" sz="2800"/>
              <a:t>Shell </a:t>
            </a:r>
            <a:r>
              <a:rPr lang="zh-CN" altLang="en-US" sz="2800"/>
              <a:t>程序来进行服务器管理。</a:t>
            </a:r>
            <a:endParaRPr lang="zh-CN" altLang="en-US" sz="2800"/>
          </a:p>
          <a:p>
            <a:r>
              <a:rPr lang="zh-CN" altLang="en-US" sz="2800"/>
              <a:t>2)   对于 </a:t>
            </a:r>
            <a:r>
              <a:rPr lang="en-US" altLang="zh-CN" sz="2800"/>
              <a:t>JavaEE </a:t>
            </a:r>
            <a:r>
              <a:rPr lang="zh-CN" altLang="en-US" sz="2800"/>
              <a:t>和 </a:t>
            </a:r>
            <a:r>
              <a:rPr lang="en-US" altLang="zh-CN" sz="2800"/>
              <a:t>Python </a:t>
            </a:r>
            <a:r>
              <a:rPr lang="zh-CN" altLang="en-US" sz="2800"/>
              <a:t>程序员来说，工作的需要，你的领导会要求你编写一些 </a:t>
            </a:r>
            <a:r>
              <a:rPr lang="en-US" altLang="zh-CN" sz="2800"/>
              <a:t>Shell </a:t>
            </a:r>
            <a:r>
              <a:rPr lang="zh-CN" altLang="en-US" sz="2800"/>
              <a:t>脚本进行程序或者是服务器的维护，比如编写一个定时备份数据库的脚本。</a:t>
            </a:r>
            <a:endParaRPr lang="zh-CN" altLang="en-US" sz="2800"/>
          </a:p>
          <a:p>
            <a:r>
              <a:rPr lang="zh-CN" altLang="en-US" sz="2800"/>
              <a:t>3)   对于大数据程序员来说，需要编写 </a:t>
            </a:r>
            <a:r>
              <a:rPr lang="en-US" altLang="zh-CN" sz="2800"/>
              <a:t>Shell </a:t>
            </a:r>
            <a:r>
              <a:rPr lang="zh-CN" altLang="en-US" sz="2800"/>
              <a:t>程序来管理集群</a:t>
            </a:r>
            <a:endParaRPr lang="zh-CN" altLang="en-US" sz="2800"/>
          </a:p>
          <a:p>
            <a:r>
              <a:rPr lang="zh-CN" altLang="en-US" sz="2800" b="1"/>
              <a:t>2  Shell 是什么</a:t>
            </a:r>
            <a:endParaRPr lang="zh-CN" altLang="en-US" sz="2800" b="1"/>
          </a:p>
          <a:p>
            <a:r>
              <a:rPr lang="en-US" altLang="zh-CN" sz="2800"/>
              <a:t>Shell </a:t>
            </a:r>
            <a:r>
              <a:rPr lang="zh-CN" altLang="en-US" sz="2800"/>
              <a:t>是一个命令行解释器，它为用户提供了一个向 </a:t>
            </a:r>
            <a:r>
              <a:rPr lang="en-US" altLang="zh-CN" sz="2800"/>
              <a:t>Linux </a:t>
            </a:r>
            <a:r>
              <a:rPr lang="zh-CN" altLang="en-US" sz="2800"/>
              <a:t>内核发送请求以便运行程序的界面系统级程序，用户可以用 </a:t>
            </a:r>
            <a:r>
              <a:rPr lang="en-US" altLang="zh-CN" sz="2800"/>
              <a:t>Shell </a:t>
            </a:r>
            <a:r>
              <a:rPr lang="zh-CN" altLang="en-US" sz="2800"/>
              <a:t>来启动、挂起、停止甚至是编写一些程序（脚本）。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795" y="3583305"/>
            <a:ext cx="3742690" cy="30232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83235" y="290195"/>
            <a:ext cx="1027811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  Shell </a:t>
            </a:r>
            <a:r>
              <a:rPr lang="zh-CN" altLang="en-US" sz="2800" b="1"/>
              <a:t>脚本的执行方式</a:t>
            </a:r>
            <a:endParaRPr lang="zh-CN" altLang="en-US" sz="2800" b="1"/>
          </a:p>
          <a:p>
            <a:r>
              <a:rPr lang="zh-CN" altLang="en-US" sz="2200" b="1"/>
              <a:t>1   脚本格式要求</a:t>
            </a:r>
            <a:endParaRPr lang="zh-CN" altLang="en-US" sz="2200" b="1"/>
          </a:p>
          <a:p>
            <a:r>
              <a:rPr lang="zh-CN" altLang="en-US" sz="2200"/>
              <a:t>1)   脚本以#!/</a:t>
            </a:r>
            <a:r>
              <a:rPr lang="en-US" altLang="zh-CN" sz="2200"/>
              <a:t>bin/bash </a:t>
            </a:r>
            <a:r>
              <a:rPr lang="zh-CN" altLang="en-US" sz="2200"/>
              <a:t>开头</a:t>
            </a:r>
            <a:endParaRPr lang="zh-CN" altLang="en-US" sz="2200"/>
          </a:p>
          <a:p>
            <a:r>
              <a:rPr lang="zh-CN" altLang="en-US" sz="2200"/>
              <a:t>2)   脚本需要有可执行权限</a:t>
            </a:r>
            <a:endParaRPr lang="zh-CN" altLang="en-US" sz="2200"/>
          </a:p>
          <a:p>
            <a:endParaRPr lang="en-US" altLang="zh-CN" sz="2200"/>
          </a:p>
          <a:p>
            <a:pPr algn="l">
              <a:buClrTx/>
              <a:buSzTx/>
              <a:buFontTx/>
            </a:pPr>
            <a:r>
              <a:rPr lang="zh-CN" altLang="en-US" sz="2200" b="1"/>
              <a:t>2   编写第一个 Shell 脚本</a:t>
            </a:r>
            <a:endParaRPr lang="zh-CN" altLang="en-US" sz="2200" b="1"/>
          </a:p>
          <a:p>
            <a:r>
              <a:rPr lang="zh-CN" altLang="en-US" sz="2200"/>
              <a:t>需求说明：创建一个 </a:t>
            </a:r>
            <a:r>
              <a:rPr lang="en-US" altLang="zh-CN" sz="2200"/>
              <a:t>Shell </a:t>
            </a:r>
            <a:r>
              <a:rPr lang="zh-CN" altLang="en-US" sz="2200"/>
              <a:t>脚本，输出 </a:t>
            </a:r>
            <a:r>
              <a:rPr lang="en-US" altLang="zh-CN" sz="2200"/>
              <a:t>hello world! vim hello.sh</a:t>
            </a:r>
            <a:endParaRPr lang="en-US" altLang="zh-CN" sz="2200"/>
          </a:p>
          <a:p>
            <a:r>
              <a:rPr lang="en-US" altLang="zh-CN" sz="2200"/>
              <a:t>#!/bin/bash</a:t>
            </a:r>
            <a:endParaRPr lang="en-US" altLang="zh-CN" sz="2200"/>
          </a:p>
          <a:p>
            <a:r>
              <a:rPr lang="en-US" altLang="zh-CN" sz="2200"/>
              <a:t>echo "hello,world~"</a:t>
            </a:r>
            <a:endParaRPr lang="en-US" altLang="zh-CN" sz="2200"/>
          </a:p>
          <a:p>
            <a:endParaRPr lang="zh-CN" altLang="en-US" sz="2200"/>
          </a:p>
          <a:p>
            <a:pPr algn="l">
              <a:buClrTx/>
              <a:buSzTx/>
              <a:buFontTx/>
            </a:pPr>
            <a:r>
              <a:rPr lang="zh-CN" altLang="en-US" sz="2200" b="1"/>
              <a:t>3   脚本的常用执行方式</a:t>
            </a:r>
            <a:endParaRPr lang="zh-CN" altLang="en-US" sz="2200" b="1"/>
          </a:p>
          <a:p>
            <a:r>
              <a:rPr lang="zh-CN" altLang="en-US" sz="2200"/>
              <a:t>  方式 1(输入脚本的绝对路径或相对路径)</a:t>
            </a:r>
            <a:endParaRPr lang="zh-CN" altLang="en-US" sz="2200"/>
          </a:p>
          <a:p>
            <a:r>
              <a:rPr lang="zh-CN" altLang="en-US" sz="2200"/>
              <a:t>说明：首先要赋予</a:t>
            </a:r>
            <a:r>
              <a:rPr lang="en-US" altLang="zh-CN" sz="2200"/>
              <a:t>helloworld.sh  </a:t>
            </a:r>
            <a:r>
              <a:rPr lang="zh-CN" altLang="en-US" sz="2200"/>
              <a:t>脚本的+</a:t>
            </a:r>
            <a:r>
              <a:rPr lang="en-US" altLang="zh-CN" sz="2200"/>
              <a:t>x </a:t>
            </a:r>
            <a:r>
              <a:rPr lang="zh-CN" altLang="en-US" sz="2200"/>
              <a:t>权限， 再执行脚本</a:t>
            </a:r>
            <a:endParaRPr lang="zh-CN" altLang="en-US" sz="2200"/>
          </a:p>
          <a:p>
            <a:r>
              <a:rPr lang="zh-CN" altLang="en-US" sz="2200"/>
              <a:t>比如  ./</a:t>
            </a:r>
            <a:r>
              <a:rPr lang="en-US" altLang="zh-CN" sz="2200"/>
              <a:t>hello.sh  </a:t>
            </a:r>
            <a:r>
              <a:rPr lang="zh-CN" altLang="en-US" sz="2200"/>
              <a:t>或者使用绝对路径  /</a:t>
            </a:r>
            <a:r>
              <a:rPr lang="en-US" altLang="zh-CN" sz="2200"/>
              <a:t>root/shcode/hello.sh</a:t>
            </a:r>
            <a:endParaRPr lang="en-US" altLang="zh-CN" sz="2200"/>
          </a:p>
          <a:p>
            <a:r>
              <a:rPr lang="zh-CN" altLang="en-US" sz="2200"/>
              <a:t>  方式 2(</a:t>
            </a:r>
            <a:r>
              <a:rPr lang="en-US" altLang="zh-CN" sz="2200"/>
              <a:t>sh+</a:t>
            </a:r>
            <a:r>
              <a:rPr lang="zh-CN" altLang="en-US" sz="2200"/>
              <a:t>脚本)</a:t>
            </a:r>
            <a:endParaRPr lang="zh-CN" altLang="en-US" sz="2200"/>
          </a:p>
          <a:p>
            <a:r>
              <a:rPr lang="zh-CN" altLang="en-US" sz="2200"/>
              <a:t>说明：不用赋予脚本+</a:t>
            </a:r>
            <a:r>
              <a:rPr lang="en-US" altLang="zh-CN" sz="2200"/>
              <a:t>x </a:t>
            </a:r>
            <a:r>
              <a:rPr lang="zh-CN" altLang="en-US" sz="2200"/>
              <a:t>权限，直接执行即可。</a:t>
            </a:r>
            <a:endParaRPr lang="zh-CN" altLang="en-US" sz="2200"/>
          </a:p>
          <a:p>
            <a:r>
              <a:rPr lang="zh-CN" altLang="en-US" sz="2200"/>
              <a:t>比如  </a:t>
            </a:r>
            <a:r>
              <a:rPr lang="en-US" altLang="zh-CN" sz="2200"/>
              <a:t>sh    hello.sh ,  </a:t>
            </a:r>
            <a:r>
              <a:rPr lang="zh-CN" altLang="en-US" sz="2200"/>
              <a:t>也可以使用绝对路径</a:t>
            </a:r>
            <a:endParaRPr lang="zh-CN" altLang="en-US"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1640" y="311150"/>
            <a:ext cx="1127633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Shell </a:t>
            </a:r>
            <a:r>
              <a:rPr lang="zh-CN" altLang="en-US" sz="2800" b="1"/>
              <a:t>的变量</a:t>
            </a:r>
            <a:endParaRPr lang="zh-CN" altLang="en-US" sz="2800" b="1"/>
          </a:p>
          <a:p>
            <a:endParaRPr lang="en-US" altLang="zh-CN" sz="2200" b="1"/>
          </a:p>
          <a:p>
            <a:r>
              <a:rPr lang="en-US" altLang="zh-CN" sz="2200" b="1"/>
              <a:t>1   Shell </a:t>
            </a:r>
            <a:r>
              <a:rPr lang="zh-CN" altLang="en-US" sz="2200" b="1"/>
              <a:t>变量介绍</a:t>
            </a:r>
            <a:endParaRPr lang="zh-CN" altLang="en-US" sz="2200" b="1"/>
          </a:p>
          <a:p>
            <a:r>
              <a:rPr lang="en-US" altLang="zh-CN" sz="2200"/>
              <a:t>1)   Linux Shell </a:t>
            </a:r>
            <a:r>
              <a:rPr lang="zh-CN" altLang="en-US" sz="2200"/>
              <a:t>中的变量分为，系统变量和用户自定义变量。</a:t>
            </a:r>
            <a:endParaRPr lang="zh-CN" altLang="en-US" sz="2200"/>
          </a:p>
          <a:p>
            <a:r>
              <a:rPr lang="zh-CN" altLang="en-US" sz="2200"/>
              <a:t>2)   系统变量：$</a:t>
            </a:r>
            <a:r>
              <a:rPr lang="en-US" altLang="zh-CN" sz="2200"/>
              <a:t>HOME 、$PWD 、$SHELL 、$USER </a:t>
            </a:r>
            <a:r>
              <a:rPr lang="zh-CN" altLang="en-US" sz="2200"/>
              <a:t>等等，比如： </a:t>
            </a:r>
            <a:r>
              <a:rPr lang="en-US" altLang="zh-CN" sz="2200"/>
              <a:t>echo $HOME      </a:t>
            </a:r>
            <a:r>
              <a:rPr lang="zh-CN" altLang="en-US" sz="2200"/>
              <a:t>等等..</a:t>
            </a:r>
            <a:endParaRPr lang="zh-CN" altLang="en-US" sz="2200"/>
          </a:p>
          <a:p>
            <a:r>
              <a:rPr lang="zh-CN" altLang="en-US" sz="2200"/>
              <a:t>3)    显示当前 </a:t>
            </a:r>
            <a:r>
              <a:rPr lang="en-US" altLang="zh-CN" sz="2200"/>
              <a:t>shell </a:t>
            </a:r>
            <a:r>
              <a:rPr lang="zh-CN" altLang="en-US" sz="2200"/>
              <a:t>中所有变量：</a:t>
            </a:r>
            <a:r>
              <a:rPr lang="en-US" altLang="zh-CN" sz="2200"/>
              <a:t>set</a:t>
            </a:r>
            <a:endParaRPr lang="en-US" altLang="zh-CN" sz="2200"/>
          </a:p>
          <a:p>
            <a:endParaRPr lang="en-US" altLang="zh-CN" sz="2200"/>
          </a:p>
          <a:p>
            <a:r>
              <a:rPr lang="en-US" altLang="zh-CN" sz="2200" b="1"/>
              <a:t>2   shell </a:t>
            </a:r>
            <a:r>
              <a:rPr lang="zh-CN" altLang="en-US" sz="2200" b="1"/>
              <a:t>变量的定义</a:t>
            </a:r>
            <a:endParaRPr lang="zh-CN" altLang="en-US" sz="2200" b="1"/>
          </a:p>
          <a:p>
            <a:r>
              <a:rPr lang="zh-CN" altLang="en-US" sz="2200"/>
              <a:t>  基本语法</a:t>
            </a:r>
            <a:endParaRPr lang="zh-CN" altLang="en-US" sz="2200"/>
          </a:p>
          <a:p>
            <a:r>
              <a:rPr lang="zh-CN" altLang="en-US" sz="2200"/>
              <a:t>1)   定义变量：变量名=值</a:t>
            </a:r>
            <a:endParaRPr lang="zh-CN" altLang="en-US" sz="2200"/>
          </a:p>
          <a:p>
            <a:r>
              <a:rPr lang="zh-CN" altLang="en-US" sz="2200"/>
              <a:t>2)   撤销变量：</a:t>
            </a:r>
            <a:r>
              <a:rPr lang="en-US" altLang="zh-CN" sz="2200"/>
              <a:t>unset  </a:t>
            </a:r>
            <a:r>
              <a:rPr lang="zh-CN" altLang="en-US" sz="2200"/>
              <a:t>变量</a:t>
            </a:r>
            <a:endParaRPr lang="zh-CN" altLang="en-US" sz="2200"/>
          </a:p>
          <a:p>
            <a:r>
              <a:rPr lang="zh-CN" altLang="en-US" sz="2200"/>
              <a:t>3)   声明静态变量：</a:t>
            </a:r>
            <a:r>
              <a:rPr lang="en-US" altLang="zh-CN" sz="2200"/>
              <a:t>readonly </a:t>
            </a:r>
            <a:r>
              <a:rPr lang="zh-CN" altLang="en-US" sz="2200"/>
              <a:t>变量，注意：不能 </a:t>
            </a:r>
            <a:r>
              <a:rPr lang="en-US" altLang="zh-CN" sz="2200"/>
              <a:t>unset</a:t>
            </a:r>
            <a:endParaRPr lang="en-US" altLang="zh-CN" sz="2200"/>
          </a:p>
          <a:p>
            <a:endParaRPr lang="en-US" altLang="zh-CN" sz="2200" b="1"/>
          </a:p>
          <a:p>
            <a:r>
              <a:rPr lang="zh-CN" altLang="en-US" sz="2200" b="1"/>
              <a:t>  快速入门</a:t>
            </a:r>
            <a:endParaRPr lang="zh-CN" altLang="en-US" sz="2200" b="1"/>
          </a:p>
          <a:p>
            <a:r>
              <a:rPr lang="zh-CN" altLang="en-US" sz="2200"/>
              <a:t>1)   案例 1 ：定义变量 </a:t>
            </a:r>
            <a:r>
              <a:rPr lang="en-US" altLang="zh-CN" sz="2200"/>
              <a:t>A</a:t>
            </a:r>
            <a:endParaRPr lang="en-US" altLang="zh-CN" sz="2200"/>
          </a:p>
          <a:p>
            <a:r>
              <a:rPr lang="zh-CN" altLang="en-US" sz="2200"/>
              <a:t>2)   案例2 ：撤销变量 </a:t>
            </a:r>
            <a:r>
              <a:rPr lang="en-US" altLang="zh-CN" sz="2200"/>
              <a:t>A</a:t>
            </a:r>
            <a:endParaRPr lang="en-US" altLang="zh-CN" sz="2200"/>
          </a:p>
          <a:p>
            <a:r>
              <a:rPr lang="zh-CN" altLang="en-US" sz="2200"/>
              <a:t>3)   案例 3 ：声明静态的变量 </a:t>
            </a:r>
            <a:r>
              <a:rPr lang="en-US" altLang="zh-CN" sz="2200"/>
              <a:t>B=2 ，</a:t>
            </a:r>
            <a:r>
              <a:rPr lang="zh-CN" altLang="en-US" sz="2200"/>
              <a:t>不能 </a:t>
            </a:r>
            <a:r>
              <a:rPr lang="en-US" altLang="zh-CN" sz="2200"/>
              <a:t>unset</a:t>
            </a:r>
            <a:endParaRPr lang="en-US" altLang="zh-CN" sz="2200"/>
          </a:p>
        </p:txBody>
      </p:sp>
      <p:sp>
        <p:nvSpPr>
          <p:cNvPr id="3" name="文本框 2"/>
          <p:cNvSpPr txBox="1"/>
          <p:nvPr/>
        </p:nvSpPr>
        <p:spPr>
          <a:xfrm>
            <a:off x="5163820" y="6197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$</a:t>
            </a:r>
            <a:r>
              <a:rPr lang="zh-CN" altLang="en-US" sz="2800" b="1"/>
              <a:t>变量</a:t>
            </a:r>
            <a:r>
              <a:rPr lang="en-US" altLang="zh-CN" sz="2800" b="1"/>
              <a:t> </a:t>
            </a:r>
            <a:r>
              <a:rPr lang="zh-CN" altLang="en-US" sz="2800" b="1"/>
              <a:t>表示取变量的值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99135" y="537210"/>
            <a:ext cx="10133965" cy="5231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Shell </a:t>
            </a:r>
            <a:r>
              <a:rPr lang="zh-CN" altLang="en-US" sz="2800" b="1">
                <a:sym typeface="+mn-ea"/>
              </a:rPr>
              <a:t>的变量</a:t>
            </a:r>
            <a:endParaRPr lang="en-US" altLang="zh-CN"/>
          </a:p>
          <a:p>
            <a:endParaRPr lang="en-US" altLang="zh-CN" b="1"/>
          </a:p>
          <a:p>
            <a:r>
              <a:rPr lang="en-US" altLang="zh-CN" sz="2400" b="1"/>
              <a:t>3   shell </a:t>
            </a:r>
            <a:r>
              <a:rPr lang="zh-CN" altLang="en-US" sz="2400" b="1"/>
              <a:t>变量的定义</a:t>
            </a:r>
            <a:endParaRPr lang="zh-CN" altLang="en-US" sz="2400" b="1"/>
          </a:p>
          <a:p>
            <a:endParaRPr lang="en-US" altLang="zh-CN" sz="2400"/>
          </a:p>
          <a:p>
            <a:r>
              <a:rPr lang="zh-CN" altLang="en-US" sz="2400" b="1"/>
              <a:t>  定义变量的规则</a:t>
            </a:r>
            <a:endParaRPr lang="zh-CN" altLang="en-US" sz="2400" b="1"/>
          </a:p>
          <a:p>
            <a:r>
              <a:rPr lang="zh-CN" altLang="en-US" sz="2400"/>
              <a:t>1)   变量名称可以由字母、数字和下划线组成，但是不能以数字开头。5</a:t>
            </a:r>
            <a:r>
              <a:rPr lang="en-US" altLang="zh-CN" sz="2400"/>
              <a:t>A=200(×)</a:t>
            </a:r>
            <a:endParaRPr lang="en-US" altLang="zh-CN" sz="2400"/>
          </a:p>
          <a:p>
            <a:r>
              <a:rPr lang="zh-CN" altLang="en-US" sz="2400"/>
              <a:t>2)   等号两侧不能有空格</a:t>
            </a:r>
            <a:endParaRPr lang="zh-CN" altLang="en-US" sz="2400"/>
          </a:p>
          <a:p>
            <a:r>
              <a:rPr lang="zh-CN" altLang="en-US" sz="2400"/>
              <a:t>3)   变量名称一般习惯为大写， 这是一个规范，我们遵守即可</a:t>
            </a:r>
            <a:endParaRPr lang="zh-CN" altLang="en-US" sz="2400"/>
          </a:p>
          <a:p>
            <a:endParaRPr lang="en-US" altLang="zh-CN" sz="2400"/>
          </a:p>
          <a:p>
            <a:pPr algn="l">
              <a:buClrTx/>
              <a:buSzTx/>
              <a:buFontTx/>
            </a:pPr>
            <a:r>
              <a:rPr lang="zh-CN" altLang="en-US" sz="2400" b="1"/>
              <a:t> 将命令的返回值赋给变量</a:t>
            </a:r>
            <a:endParaRPr lang="zh-CN" altLang="en-US" sz="2400" b="1"/>
          </a:p>
          <a:p>
            <a:r>
              <a:rPr lang="en-US" altLang="zh-CN" sz="2400"/>
              <a:t>date</a:t>
            </a:r>
            <a:r>
              <a:rPr lang="zh-CN" altLang="en-US" sz="2400"/>
              <a:t>是用来查看当前系统时间的命令</a:t>
            </a:r>
            <a:endParaRPr lang="zh-CN" altLang="en-US" sz="2400"/>
          </a:p>
          <a:p>
            <a:r>
              <a:rPr lang="en-US" altLang="zh-CN" sz="2400"/>
              <a:t>1)   A=`date`</a:t>
            </a:r>
            <a:r>
              <a:rPr lang="zh-CN" altLang="en-US" sz="2400"/>
              <a:t>反引号，运行里面的命令，并把结果返回给变量 </a:t>
            </a:r>
            <a:r>
              <a:rPr lang="en-US" altLang="zh-CN" sz="2400"/>
              <a:t>A</a:t>
            </a:r>
            <a:endParaRPr lang="en-US" altLang="zh-CN" sz="2400"/>
          </a:p>
          <a:p>
            <a:r>
              <a:rPr lang="en-US" altLang="zh-CN" sz="2400"/>
              <a:t>2)   A=$(date)  </a:t>
            </a:r>
            <a:r>
              <a:rPr lang="zh-CN" altLang="en-US" sz="2400"/>
              <a:t>等价于反引号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09295" y="444500"/>
            <a:ext cx="10884535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设置环境变量</a:t>
            </a:r>
            <a:endParaRPr lang="zh-CN" altLang="en-US" sz="2800" b="1"/>
          </a:p>
          <a:p>
            <a:r>
              <a:rPr lang="zh-CN" altLang="en-US" sz="2200" b="1"/>
              <a:t>1   基本语法</a:t>
            </a:r>
            <a:endParaRPr lang="zh-CN" altLang="en-US" sz="2200" b="1"/>
          </a:p>
          <a:p>
            <a:r>
              <a:rPr lang="en-US" altLang="zh-CN" sz="2200"/>
              <a:t>1)   export  </a:t>
            </a:r>
            <a:r>
              <a:rPr lang="zh-CN" altLang="en-US" sz="2200"/>
              <a:t>变量名=变量值 （功能描述：将 </a:t>
            </a:r>
            <a:r>
              <a:rPr lang="en-US" altLang="zh-CN" sz="2200"/>
              <a:t>shell </a:t>
            </a:r>
            <a:r>
              <a:rPr lang="zh-CN" altLang="en-US" sz="2200"/>
              <a:t>变量输出为环境变量/全局变量）</a:t>
            </a:r>
            <a:endParaRPr lang="zh-CN" altLang="en-US" sz="2200"/>
          </a:p>
          <a:p>
            <a:r>
              <a:rPr lang="en-US" altLang="zh-CN" sz="2200"/>
              <a:t>2)   source  </a:t>
            </a:r>
            <a:r>
              <a:rPr lang="zh-CN" altLang="en-US" sz="2200"/>
              <a:t>配置文件       （功能描述：让修改后的配置信息立即生效）</a:t>
            </a:r>
            <a:endParaRPr lang="zh-CN" altLang="en-US" sz="2200"/>
          </a:p>
          <a:p>
            <a:r>
              <a:rPr lang="en-US" altLang="zh-CN" sz="2200"/>
              <a:t>3)   echo $</a:t>
            </a:r>
            <a:r>
              <a:rPr lang="zh-CN" altLang="en-US" sz="2200"/>
              <a:t>变量名      （功能描述：查询环境变量的值）</a:t>
            </a:r>
            <a:endParaRPr lang="zh-CN" altLang="en-US" sz="2200"/>
          </a:p>
          <a:p>
            <a:endParaRPr lang="zh-CN" altLang="en-US" sz="2200"/>
          </a:p>
          <a:p>
            <a:endParaRPr lang="zh-CN" altLang="en-US" sz="2200"/>
          </a:p>
          <a:p>
            <a:r>
              <a:rPr lang="zh-CN" altLang="en-US" sz="2200"/>
              <a:t>定义一个环境变量/全局变量，可以被多个文件共享。在</a:t>
            </a:r>
            <a:r>
              <a:rPr lang="en-US" altLang="zh-CN" sz="2200"/>
              <a:t>etc/profile</a:t>
            </a:r>
            <a:r>
              <a:rPr lang="zh-CN" altLang="en-US" sz="2200"/>
              <a:t>文件中，使用</a:t>
            </a:r>
            <a:r>
              <a:rPr lang="en-US" altLang="zh-CN" sz="2200"/>
              <a:t>“export </a:t>
            </a:r>
            <a:r>
              <a:rPr lang="zh-CN" altLang="en-US" sz="2200"/>
              <a:t>变量名</a:t>
            </a:r>
            <a:r>
              <a:rPr lang="en-US" altLang="zh-CN" sz="2200"/>
              <a:t>=</a:t>
            </a:r>
            <a:r>
              <a:rPr lang="zh-CN" altLang="en-US" sz="2200"/>
              <a:t>变量值</a:t>
            </a:r>
            <a:r>
              <a:rPr lang="en-US" altLang="zh-CN" sz="2200"/>
              <a:t>”</a:t>
            </a:r>
            <a:r>
              <a:rPr lang="zh-CN" altLang="en-US" sz="2200"/>
              <a:t>，就可以定义环境变量，然后需要使用</a:t>
            </a:r>
            <a:r>
              <a:rPr lang="en-US" altLang="zh-CN" sz="2200"/>
              <a:t>“source </a:t>
            </a:r>
            <a:r>
              <a:rPr lang="zh-CN" altLang="en-US" sz="2200"/>
              <a:t>配置文件</a:t>
            </a:r>
            <a:r>
              <a:rPr lang="en-US" altLang="zh-CN" sz="2200"/>
              <a:t>”</a:t>
            </a:r>
            <a:r>
              <a:rPr lang="zh-CN" altLang="en-US" sz="2200"/>
              <a:t>刷新一下，要不然系统不知道你新加了内容，就会找不到。</a:t>
            </a:r>
            <a:endParaRPr lang="zh-CN" altLang="en-US" sz="2200"/>
          </a:p>
          <a:p>
            <a:r>
              <a:rPr lang="zh-CN" altLang="en-US" sz="2200"/>
              <a:t>  </a:t>
            </a:r>
            <a:r>
              <a:rPr lang="zh-CN" altLang="en-US" sz="2200" b="1"/>
              <a:t> </a:t>
            </a:r>
            <a:endParaRPr lang="zh-CN" altLang="en-US" sz="2200" b="1"/>
          </a:p>
          <a:p>
            <a:r>
              <a:rPr lang="zh-CN" altLang="en-US" sz="2200" b="1"/>
              <a:t>快速入门</a:t>
            </a:r>
            <a:endParaRPr lang="zh-CN" altLang="en-US" sz="2200"/>
          </a:p>
          <a:p>
            <a:r>
              <a:rPr lang="zh-CN" altLang="en-US" sz="2200"/>
              <a:t>1)   在/</a:t>
            </a:r>
            <a:r>
              <a:rPr lang="en-US" altLang="zh-CN" sz="2200"/>
              <a:t>etc/profile </a:t>
            </a:r>
            <a:r>
              <a:rPr lang="zh-CN" altLang="en-US" sz="2200"/>
              <a:t>文件中定义 </a:t>
            </a:r>
            <a:r>
              <a:rPr lang="en-US" altLang="zh-CN" sz="2200"/>
              <a:t>TOMCAT_HOME </a:t>
            </a:r>
            <a:r>
              <a:rPr lang="zh-CN" altLang="en-US" sz="2200"/>
              <a:t>环境变量（我们没有安装</a:t>
            </a:r>
            <a:r>
              <a:rPr lang="en-US" altLang="zh-CN" sz="2200"/>
              <a:t>tomcat</a:t>
            </a:r>
            <a:r>
              <a:rPr lang="zh-CN" altLang="en-US" sz="2200"/>
              <a:t>，假设</a:t>
            </a:r>
            <a:r>
              <a:rPr lang="en-US" altLang="zh-CN" sz="2200"/>
              <a:t>tomcat</a:t>
            </a:r>
            <a:r>
              <a:rPr lang="zh-CN" altLang="en-US" sz="2200"/>
              <a:t>在</a:t>
            </a:r>
            <a:r>
              <a:rPr lang="en-US" altLang="zh-CN" sz="2200"/>
              <a:t>opt/tomcat</a:t>
            </a:r>
            <a:r>
              <a:rPr lang="zh-CN" altLang="en-US" sz="2200"/>
              <a:t>中），</a:t>
            </a:r>
            <a:r>
              <a:rPr lang="zh-CN" altLang="en-US" sz="2200">
                <a:sym typeface="+mn-ea"/>
              </a:rPr>
              <a:t>然后使用</a:t>
            </a:r>
            <a:r>
              <a:rPr lang="en-US" altLang="zh-CN" sz="2200">
                <a:sym typeface="+mn-ea"/>
              </a:rPr>
              <a:t>source /etc/profile</a:t>
            </a:r>
            <a:r>
              <a:rPr lang="zh-CN" altLang="en-US" sz="2200">
                <a:sym typeface="+mn-ea"/>
              </a:rPr>
              <a:t>刷新一下；</a:t>
            </a:r>
            <a:endParaRPr lang="zh-CN" altLang="en-US" sz="2200"/>
          </a:p>
          <a:p>
            <a:r>
              <a:rPr lang="zh-CN" altLang="en-US" sz="2200"/>
              <a:t>2)   查看环境变量 </a:t>
            </a:r>
            <a:r>
              <a:rPr lang="en-US" altLang="zh-CN" sz="2200"/>
              <a:t>TOMCAT_HOME </a:t>
            </a:r>
            <a:r>
              <a:rPr lang="zh-CN" altLang="en-US" sz="2200"/>
              <a:t>的值；</a:t>
            </a:r>
            <a:endParaRPr lang="zh-CN" altLang="en-US" sz="2200"/>
          </a:p>
          <a:p>
            <a:r>
              <a:rPr lang="zh-CN" altLang="en-US" sz="2200"/>
              <a:t>3)   在另外一个 </a:t>
            </a:r>
            <a:r>
              <a:rPr lang="en-US" altLang="zh-CN" sz="2200"/>
              <a:t>shell </a:t>
            </a:r>
            <a:r>
              <a:rPr lang="zh-CN" altLang="en-US" sz="2200"/>
              <a:t>程序中使用 </a:t>
            </a:r>
            <a:r>
              <a:rPr lang="en-US" altLang="zh-CN" sz="2200"/>
              <a:t>TOMCAT_HOME</a:t>
            </a:r>
            <a:endParaRPr lang="en-US" altLang="zh-CN" sz="2200"/>
          </a:p>
          <a:p>
            <a:endParaRPr lang="en-US" altLang="zh-CN"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54990" y="372745"/>
            <a:ext cx="759206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shell </a:t>
            </a:r>
            <a:r>
              <a:rPr lang="zh-CN" altLang="en-US" sz="3600"/>
              <a:t>脚本的多行注释</a:t>
            </a:r>
            <a:endParaRPr lang="zh-CN" altLang="en-US" sz="3600"/>
          </a:p>
          <a:p>
            <a:endParaRPr lang="zh-CN" altLang="en-US" sz="3600"/>
          </a:p>
          <a:p>
            <a:r>
              <a:rPr lang="zh-CN" altLang="en-US" sz="3600"/>
              <a:t>:&lt;&lt;!       </a:t>
            </a:r>
            <a:endParaRPr lang="zh-CN" altLang="en-US" sz="3600"/>
          </a:p>
          <a:p>
            <a:r>
              <a:rPr lang="zh-CN" altLang="en-US" sz="3600"/>
              <a:t>内容 </a:t>
            </a:r>
            <a:endParaRPr lang="zh-CN" altLang="en-US" sz="3600"/>
          </a:p>
          <a:p>
            <a:r>
              <a:rPr lang="zh-CN" altLang="en-US" sz="3600"/>
              <a:t>!</a:t>
            </a:r>
            <a:endParaRPr lang="zh-CN" altLang="en-US" sz="3600"/>
          </a:p>
          <a:p>
            <a:endParaRPr lang="zh-CN" altLang="en-US" sz="3600"/>
          </a:p>
          <a:p>
            <a:r>
              <a:rPr lang="zh-CN" altLang="en-US" sz="3600"/>
              <a:t>备注：单行注释是</a:t>
            </a:r>
            <a:r>
              <a:rPr lang="en-US" altLang="zh-CN" sz="3600"/>
              <a:t>#</a:t>
            </a:r>
            <a:endParaRPr lang="en-US" altLang="zh-CN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4510" y="465455"/>
            <a:ext cx="1128458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位置参数变量</a:t>
            </a:r>
            <a:endParaRPr lang="zh-CN" altLang="en-US" sz="2800" b="1"/>
          </a:p>
          <a:p>
            <a:endParaRPr lang="zh-CN" altLang="en-US" sz="2200" b="1"/>
          </a:p>
          <a:p>
            <a:r>
              <a:rPr lang="zh-CN" altLang="en-US" sz="2200" b="1"/>
              <a:t>1   介绍</a:t>
            </a:r>
            <a:endParaRPr lang="zh-CN" altLang="en-US" sz="2200" b="1"/>
          </a:p>
          <a:p>
            <a:r>
              <a:rPr lang="zh-CN" altLang="en-US" sz="2200">
                <a:sym typeface="+mn-ea"/>
              </a:rPr>
              <a:t>在执行</a:t>
            </a:r>
            <a:r>
              <a:rPr lang="en-US" altLang="zh-CN" sz="2200">
                <a:sym typeface="+mn-ea"/>
              </a:rPr>
              <a:t>shell</a:t>
            </a:r>
            <a:r>
              <a:rPr lang="zh-CN" altLang="en-US" sz="2200">
                <a:sym typeface="+mn-ea"/>
              </a:rPr>
              <a:t>脚本的时候，是可以加参数的</a:t>
            </a:r>
            <a:endParaRPr lang="zh-CN" altLang="en-US" sz="2200"/>
          </a:p>
          <a:p>
            <a:r>
              <a:rPr lang="zh-CN" altLang="en-US" sz="2200">
                <a:sym typeface="+mn-ea"/>
              </a:rPr>
              <a:t>比如./</a:t>
            </a:r>
            <a:r>
              <a:rPr lang="en-US" altLang="zh-CN" sz="2200">
                <a:sym typeface="+mn-ea"/>
              </a:rPr>
              <a:t>myshell.sh 100 200，</a:t>
            </a:r>
            <a:r>
              <a:rPr lang="zh-CN" altLang="en-US" sz="2200">
                <a:sym typeface="+mn-ea"/>
              </a:rPr>
              <a:t>就表示执行</a:t>
            </a:r>
            <a:r>
              <a:rPr lang="en-US" altLang="zh-CN" sz="2200">
                <a:sym typeface="+mn-ea"/>
              </a:rPr>
              <a:t>myshell.sh</a:t>
            </a:r>
            <a:r>
              <a:rPr lang="zh-CN" altLang="en-US" sz="2200">
                <a:sym typeface="+mn-ea"/>
              </a:rPr>
              <a:t>脚本时有两个参数，第一个参数是100，第二个参数是200。</a:t>
            </a:r>
            <a:endParaRPr lang="zh-CN" altLang="en-US" sz="2200"/>
          </a:p>
          <a:p>
            <a:r>
              <a:rPr lang="zh-CN" altLang="en-US" sz="2200"/>
              <a:t>当我们执行一个 </a:t>
            </a:r>
            <a:r>
              <a:rPr lang="en-US" altLang="zh-CN" sz="2200"/>
              <a:t>shell </a:t>
            </a:r>
            <a:r>
              <a:rPr lang="zh-CN" altLang="en-US" sz="2200"/>
              <a:t>脚本时，如果希望获取到命令行的参数信息，就可以使用到位置参数变量</a:t>
            </a:r>
            <a:endParaRPr lang="zh-CN" altLang="en-US" sz="2200"/>
          </a:p>
          <a:p>
            <a:endParaRPr lang="en-US" altLang="zh-CN" sz="2200"/>
          </a:p>
          <a:p>
            <a:r>
              <a:rPr lang="zh-CN" altLang="en-US" sz="2200" b="1"/>
              <a:t>2   基本语法</a:t>
            </a:r>
            <a:endParaRPr lang="zh-CN" altLang="en-US" sz="2200" b="1"/>
          </a:p>
          <a:p>
            <a:r>
              <a:rPr lang="en-US" altLang="zh-CN" sz="2200" b="1"/>
              <a:t>$n</a:t>
            </a:r>
            <a:r>
              <a:rPr lang="en-US" altLang="zh-CN" sz="2200"/>
              <a:t> （</a:t>
            </a:r>
            <a:r>
              <a:rPr lang="zh-CN" altLang="en-US" sz="2200"/>
              <a:t>功能描述：</a:t>
            </a:r>
            <a:r>
              <a:rPr lang="en-US" altLang="zh-CN" sz="2200"/>
              <a:t>n </a:t>
            </a:r>
            <a:r>
              <a:rPr lang="zh-CN" altLang="en-US" sz="2200"/>
              <a:t>为数字，$0 代表命令本身，$ 1-$9 代表第一到第九个参数，十以上的参数，十以上的参数需要用大括号包含，如${10}）</a:t>
            </a:r>
            <a:endParaRPr lang="zh-CN" altLang="en-US" sz="2200"/>
          </a:p>
          <a:p>
            <a:r>
              <a:rPr lang="en-US" altLang="zh-CN" sz="2200" b="1"/>
              <a:t>$*</a:t>
            </a:r>
            <a:r>
              <a:rPr lang="zh-CN" altLang="en-US" sz="2200"/>
              <a:t>  （功能描述：这个变量代表命令行中所有的参数，$*把所有的参数看成一个整体）</a:t>
            </a:r>
            <a:endParaRPr lang="zh-CN" altLang="en-US" sz="2200"/>
          </a:p>
          <a:p>
            <a:r>
              <a:rPr lang="en-US" altLang="zh-CN" sz="2200" b="1"/>
              <a:t>$@</a:t>
            </a:r>
            <a:r>
              <a:rPr lang="zh-CN" altLang="en-US" sz="2200"/>
              <a:t>（功能描述：这个变量也代表命令行中所有的参数，不过$@把每个参数区分对待）</a:t>
            </a:r>
            <a:endParaRPr lang="zh-CN" altLang="en-US" sz="2200"/>
          </a:p>
          <a:p>
            <a:r>
              <a:rPr lang="en-US" altLang="zh-CN" sz="2200" b="1"/>
              <a:t>$#</a:t>
            </a:r>
            <a:r>
              <a:rPr lang="zh-CN" altLang="en-US" sz="2200"/>
              <a:t>（功能描述：这个变量代表命令行中所有参数的个数）</a:t>
            </a:r>
            <a:endParaRPr lang="zh-CN" altLang="en-US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2280" y="228600"/>
            <a:ext cx="9671050" cy="4954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预定义变量（了解）</a:t>
            </a:r>
            <a:endParaRPr lang="zh-CN" altLang="en-US" sz="2800" b="1"/>
          </a:p>
          <a:p>
            <a:endParaRPr lang="zh-CN" altLang="en-US" sz="2400" b="1"/>
          </a:p>
          <a:p>
            <a:r>
              <a:rPr lang="zh-CN" altLang="en-US" sz="2400" b="1"/>
              <a:t>1   基本介绍</a:t>
            </a:r>
            <a:endParaRPr lang="zh-CN" altLang="en-US" sz="2400" b="1"/>
          </a:p>
          <a:p>
            <a:r>
              <a:rPr lang="zh-CN" altLang="en-US" sz="2400"/>
              <a:t>就是 </a:t>
            </a:r>
            <a:r>
              <a:rPr lang="en-US" altLang="zh-CN" sz="2400"/>
              <a:t>shell </a:t>
            </a:r>
            <a:r>
              <a:rPr lang="zh-CN" altLang="en-US" sz="2400"/>
              <a:t>设计者事先已经定义好的变量，可以直接在 </a:t>
            </a:r>
            <a:r>
              <a:rPr lang="en-US" altLang="zh-CN" sz="2400"/>
              <a:t>shell </a:t>
            </a:r>
            <a:r>
              <a:rPr lang="zh-CN" altLang="en-US" sz="2400"/>
              <a:t>脚本中使用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 b="1"/>
              <a:t>2   基本语法</a:t>
            </a:r>
            <a:endParaRPr lang="zh-CN" altLang="en-US" sz="2400" b="1"/>
          </a:p>
          <a:p>
            <a:r>
              <a:rPr lang="zh-CN" altLang="en-US" sz="2400"/>
              <a:t>1)   </a:t>
            </a:r>
            <a:r>
              <a:rPr lang="zh-CN" altLang="en-US" sz="2400" b="1"/>
              <a:t>$$</a:t>
            </a:r>
            <a:r>
              <a:rPr lang="zh-CN" altLang="en-US" sz="2400"/>
              <a:t>   （功能描述：当前进程的进程号（</a:t>
            </a:r>
            <a:r>
              <a:rPr lang="en-US" altLang="zh-CN" sz="2400"/>
              <a:t>PID））</a:t>
            </a:r>
            <a:endParaRPr lang="en-US" altLang="zh-CN" sz="2400"/>
          </a:p>
          <a:p>
            <a:r>
              <a:rPr lang="zh-CN" altLang="en-US" sz="2400"/>
              <a:t>2)   </a:t>
            </a:r>
            <a:r>
              <a:rPr lang="zh-CN" altLang="en-US" sz="2400" b="1"/>
              <a:t>$ ! </a:t>
            </a:r>
            <a:r>
              <a:rPr lang="zh-CN" altLang="en-US" sz="2400"/>
              <a:t> （功能描述：后台运行的最后一个进程的进程号（</a:t>
            </a:r>
            <a:r>
              <a:rPr lang="en-US" altLang="zh-CN" sz="2400"/>
              <a:t>PID））</a:t>
            </a:r>
            <a:endParaRPr lang="en-US" altLang="zh-CN" sz="2400"/>
          </a:p>
          <a:p>
            <a:r>
              <a:rPr lang="zh-CN" altLang="en-US" sz="2400"/>
              <a:t>3)   </a:t>
            </a:r>
            <a:r>
              <a:rPr lang="zh-CN" altLang="en-US" sz="2400" b="1"/>
              <a:t>$？</a:t>
            </a:r>
            <a:r>
              <a:rPr lang="zh-CN" altLang="en-US" sz="2400"/>
              <a:t>（功能描述：最后一次执行的命令的返回状态。如果这个变量的值为0 ，证明上一个命令正确执行；如果这个变量的值为非0，则证明上一个命令执行不正确了。）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2" descr="60a2de34388b29505d487d42cf47cfc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25" y="2301240"/>
            <a:ext cx="7559040" cy="24790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3075" y="619760"/>
            <a:ext cx="999998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ym typeface="+mn-ea"/>
              </a:rPr>
              <a:t>应用实例</a:t>
            </a:r>
            <a:r>
              <a:rPr lang="en-US" altLang="zh-CN" sz="2400" b="1">
                <a:sym typeface="+mn-ea"/>
              </a:rPr>
              <a:t>preVar.sh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在一个 </a:t>
            </a:r>
            <a:r>
              <a:rPr lang="en-US" altLang="zh-CN" sz="2400">
                <a:sym typeface="+mn-ea"/>
              </a:rPr>
              <a:t>shell </a:t>
            </a:r>
            <a:r>
              <a:rPr lang="zh-CN" altLang="en-US" sz="2400">
                <a:sym typeface="+mn-ea"/>
              </a:rPr>
              <a:t>脚本中简单使用一下预定义变量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注意:结尾用取地址符&amp;表示以后台方式运行一个脚本</a:t>
            </a:r>
            <a:endParaRPr lang="zh-CN" altLang="en-US" sz="2400"/>
          </a:p>
          <a:p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4298" t="-2317" r="-4298" b="2317"/>
          <a:stretch>
            <a:fillRect/>
          </a:stretch>
        </p:blipFill>
        <p:spPr>
          <a:xfrm>
            <a:off x="5656580" y="4069715"/>
            <a:ext cx="6308725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4510" y="485775"/>
            <a:ext cx="10946765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运算符</a:t>
            </a:r>
            <a:endParaRPr lang="zh-CN" altLang="en-US" sz="2800" b="1"/>
          </a:p>
          <a:p>
            <a:r>
              <a:rPr lang="zh-CN" altLang="en-US" sz="2400" b="1"/>
              <a:t>1   基本介绍</a:t>
            </a:r>
            <a:endParaRPr lang="zh-CN" altLang="en-US" sz="2400" b="1"/>
          </a:p>
          <a:p>
            <a:r>
              <a:rPr lang="zh-CN" altLang="en-US" sz="2400"/>
              <a:t>学习如何在</a:t>
            </a:r>
            <a:r>
              <a:rPr lang="en-US" altLang="zh-CN" sz="2400"/>
              <a:t>shell </a:t>
            </a:r>
            <a:r>
              <a:rPr lang="zh-CN" altLang="en-US" sz="2400"/>
              <a:t>中进行各种运算操作。</a:t>
            </a:r>
            <a:endParaRPr lang="zh-CN" altLang="en-US" sz="2400"/>
          </a:p>
          <a:p>
            <a:endParaRPr lang="en-US" altLang="zh-CN" sz="2400"/>
          </a:p>
          <a:p>
            <a:endParaRPr lang="en-US" altLang="zh-CN" sz="2400"/>
          </a:p>
          <a:p>
            <a:r>
              <a:rPr lang="zh-CN" altLang="en-US" sz="2400" b="1"/>
              <a:t>2   基本语法</a:t>
            </a:r>
            <a:endParaRPr lang="zh-CN" altLang="en-US" sz="2400" b="1"/>
          </a:p>
          <a:p>
            <a:r>
              <a:rPr lang="zh-CN" altLang="en-US" sz="2400"/>
              <a:t>1)   “$((运算式))”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2) </a:t>
            </a:r>
            <a:r>
              <a:rPr lang="zh-CN" altLang="en-US" sz="2400"/>
              <a:t>“$[运算式]”</a:t>
            </a:r>
            <a:endParaRPr lang="zh-CN" altLang="en-US" sz="2400"/>
          </a:p>
          <a:p>
            <a:r>
              <a:rPr lang="en-US" altLang="zh-CN" sz="2400"/>
              <a:t>3)</a:t>
            </a:r>
            <a:r>
              <a:rPr lang="zh-CN" altLang="en-US" sz="2400"/>
              <a:t> </a:t>
            </a:r>
            <a:r>
              <a:rPr lang="en-US" altLang="zh-CN" sz="2400"/>
              <a:t>    </a:t>
            </a:r>
            <a:r>
              <a:rPr lang="zh-CN" altLang="en-US" sz="2400"/>
              <a:t>使用</a:t>
            </a:r>
            <a:r>
              <a:rPr lang="en-US" altLang="zh-CN" sz="2400">
                <a:sym typeface="+mn-ea"/>
              </a:rPr>
              <a:t>expression </a:t>
            </a:r>
            <a:r>
              <a:rPr lang="zh-CN" altLang="en-US" sz="2400">
                <a:sym typeface="+mn-ea"/>
              </a:rPr>
              <a:t>表达式</a:t>
            </a:r>
            <a:r>
              <a:rPr lang="zh-CN" altLang="en-US" sz="2400"/>
              <a:t>。</a:t>
            </a:r>
            <a:r>
              <a:rPr lang="zh-CN" altLang="en-US" sz="2400"/>
              <a:t>例如：</a:t>
            </a:r>
            <a:r>
              <a:rPr lang="en-US" altLang="zh-CN" sz="2400"/>
              <a:t>expr m + n       </a:t>
            </a:r>
            <a:r>
              <a:rPr lang="en-US" altLang="zh-CN" sz="2400">
                <a:sym typeface="+mn-ea"/>
              </a:rPr>
              <a:t>expr m - n</a:t>
            </a:r>
            <a:r>
              <a:rPr lang="en-US" altLang="zh-CN" sz="2400"/>
              <a:t>  </a:t>
            </a:r>
            <a:endParaRPr lang="en-US" altLang="zh-CN" sz="2400"/>
          </a:p>
          <a:p>
            <a:r>
              <a:rPr lang="zh-CN" altLang="en-US" sz="2400"/>
              <a:t>  </a:t>
            </a:r>
            <a:r>
              <a:rPr lang="zh-CN" altLang="en-US" sz="2400" b="1"/>
              <a:t>注意 </a:t>
            </a:r>
            <a:r>
              <a:rPr lang="en-US" altLang="zh-CN" sz="2400" b="1"/>
              <a:t>expr </a:t>
            </a:r>
            <a:r>
              <a:rPr lang="zh-CN" altLang="en-US" sz="2400" b="1"/>
              <a:t>运算符间要有空格,  如果希望将 </a:t>
            </a:r>
            <a:r>
              <a:rPr lang="en-US" altLang="zh-CN" sz="2400" b="1"/>
              <a:t>expr  </a:t>
            </a:r>
            <a:r>
              <a:rPr lang="zh-CN" altLang="en-US" sz="2400" b="1"/>
              <a:t>的结果赋给某个变量，使用 反引号`</a:t>
            </a:r>
            <a:endParaRPr lang="zh-CN" altLang="en-US" sz="2400" b="1"/>
          </a:p>
          <a:p>
            <a:r>
              <a:rPr lang="zh-CN" altLang="en-US" sz="2400"/>
              <a:t>对于乘法除法取余：</a:t>
            </a:r>
            <a:r>
              <a:rPr lang="en-US" altLang="zh-CN" sz="2400"/>
              <a:t>expr   </a:t>
            </a:r>
            <a:r>
              <a:rPr lang="en-US" altLang="zh-CN" sz="2400" b="1"/>
              <a:t>\*</a:t>
            </a:r>
            <a:r>
              <a:rPr lang="en-US" altLang="zh-CN" sz="2400"/>
              <a:t>, /, %        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5" descr="666464644b289ebb049aefbaf3fcce59"/>
          <p:cNvPicPr>
            <a:picLocks noChangeAspect="1"/>
          </p:cNvPicPr>
          <p:nvPr/>
        </p:nvPicPr>
        <p:blipFill>
          <a:blip r:embed="rId1"/>
          <a:srcRect b="9603"/>
          <a:stretch>
            <a:fillRect/>
          </a:stretch>
        </p:blipFill>
        <p:spPr>
          <a:xfrm>
            <a:off x="1614170" y="1605915"/>
            <a:ext cx="7406005" cy="4406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49020" y="229235"/>
            <a:ext cx="8858250" cy="1280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ym typeface="+mn-ea"/>
              </a:rPr>
              <a:t>3   应用实例 </a:t>
            </a:r>
            <a:r>
              <a:rPr lang="en-US" altLang="zh-CN" sz="2400" b="1">
                <a:sym typeface="+mn-ea"/>
              </a:rPr>
              <a:t>oper.sh</a:t>
            </a:r>
            <a:endParaRPr lang="en-US" altLang="zh-CN" sz="2400" b="1"/>
          </a:p>
          <a:p>
            <a:r>
              <a:rPr lang="zh-CN" altLang="en-US" sz="2400">
                <a:sym typeface="+mn-ea"/>
              </a:rPr>
              <a:t>案例 1 ：计算（2+3）</a:t>
            </a:r>
            <a:r>
              <a:rPr lang="en-US" altLang="zh-CN" sz="2400">
                <a:sym typeface="+mn-ea"/>
              </a:rPr>
              <a:t>X4 </a:t>
            </a:r>
            <a:r>
              <a:rPr lang="zh-CN" altLang="en-US" sz="2400">
                <a:sym typeface="+mn-ea"/>
              </a:rPr>
              <a:t>的值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案例2 ：请求出命令行的两个参数[整数]的和 20 50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34670" y="485775"/>
            <a:ext cx="10822305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条件判断</a:t>
            </a:r>
            <a:endParaRPr lang="zh-CN" altLang="en-US" sz="2800" b="1"/>
          </a:p>
          <a:p>
            <a:endParaRPr lang="zh-CN" altLang="en-US" sz="2400" b="1"/>
          </a:p>
          <a:p>
            <a:r>
              <a:rPr lang="zh-CN" altLang="en-US" sz="2400" b="1"/>
              <a:t>1   判断语句</a:t>
            </a:r>
            <a:endParaRPr lang="zh-CN" altLang="en-US" sz="2400"/>
          </a:p>
          <a:p>
            <a:r>
              <a:rPr lang="zh-CN" altLang="en-US" sz="2400" b="1"/>
              <a:t>基本语法</a:t>
            </a:r>
            <a:endParaRPr lang="zh-CN" altLang="en-US" sz="2400" b="1"/>
          </a:p>
          <a:p>
            <a:r>
              <a:rPr lang="en-US" altLang="zh-CN" sz="2400"/>
              <a:t>[ condition ]（</a:t>
            </a:r>
            <a:r>
              <a:rPr lang="zh-CN" altLang="en-US" sz="2400"/>
              <a:t>注意 </a:t>
            </a:r>
            <a:r>
              <a:rPr lang="en-US" altLang="zh-CN" sz="2400"/>
              <a:t>condition </a:t>
            </a:r>
            <a:r>
              <a:rPr lang="zh-CN" altLang="en-US" sz="2400"/>
              <a:t>前后要有空格）</a:t>
            </a:r>
            <a:endParaRPr lang="zh-CN" altLang="en-US" sz="2400"/>
          </a:p>
          <a:p>
            <a:r>
              <a:rPr lang="zh-CN" altLang="en-US" sz="2400"/>
              <a:t>#非空</a:t>
            </a:r>
            <a:r>
              <a:rPr lang="zh-CN" sz="2400"/>
              <a:t>条件为真</a:t>
            </a:r>
            <a:r>
              <a:rPr lang="en-US" altLang="zh-CN" sz="2400"/>
              <a:t> </a:t>
            </a:r>
            <a:r>
              <a:rPr lang="zh-CN" altLang="en-US" sz="2400"/>
              <a:t>，</a:t>
            </a:r>
            <a:r>
              <a:rPr lang="en-US" altLang="zh-CN" sz="2400"/>
              <a:t>[ ]</a:t>
            </a:r>
            <a:r>
              <a:rPr lang="zh-CN" altLang="en-US" sz="2400"/>
              <a:t>为空说明条件为假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 b="1"/>
              <a:t>  应用实例</a:t>
            </a:r>
            <a:endParaRPr lang="zh-CN" altLang="en-US" sz="2400" b="1"/>
          </a:p>
          <a:p>
            <a:r>
              <a:rPr lang="en-US" altLang="zh-CN" sz="2400"/>
              <a:t>[ yys ]                  </a:t>
            </a:r>
            <a:r>
              <a:rPr lang="zh-CN" sz="2400"/>
              <a:t>条件为真</a:t>
            </a:r>
            <a:endParaRPr lang="zh-CN" sz="2400"/>
          </a:p>
          <a:p>
            <a:r>
              <a:rPr lang="zh-CN" altLang="en-US" sz="2400"/>
              <a:t>[ ]                       </a:t>
            </a:r>
            <a:r>
              <a:rPr lang="en-US" altLang="zh-CN" sz="2400"/>
              <a:t> </a:t>
            </a:r>
            <a:r>
              <a:rPr lang="zh-CN" sz="2400"/>
              <a:t>条件为假</a:t>
            </a:r>
            <a:endParaRPr lang="en-US" altLang="zh-CN" sz="2400"/>
          </a:p>
          <a:p>
            <a:r>
              <a:rPr lang="en-US" altLang="zh-CN" sz="2400"/>
              <a:t>[ condition ] &amp;&amp; echo OK || echo notok      </a:t>
            </a:r>
            <a:r>
              <a:rPr lang="zh-CN" altLang="en-US" sz="2400"/>
              <a:t>如果前边条件满足，执行后面的语句 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87020" y="120650"/>
            <a:ext cx="5627370" cy="62776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判断语句</a:t>
            </a:r>
            <a:endParaRPr lang="zh-CN" altLang="en-US" sz="2800" b="1"/>
          </a:p>
          <a:p>
            <a:r>
              <a:rPr lang="zh-CN" altLang="en-US" sz="2200" b="1"/>
              <a:t>常用判断条件</a:t>
            </a:r>
            <a:endParaRPr lang="zh-CN" altLang="en-US" sz="2200" b="1"/>
          </a:p>
          <a:p>
            <a:r>
              <a:rPr lang="zh-CN" altLang="en-US" sz="2200"/>
              <a:t>1)=  字符串比较</a:t>
            </a:r>
            <a:endParaRPr lang="zh-CN" altLang="en-US" sz="2200"/>
          </a:p>
          <a:p>
            <a:r>
              <a:rPr lang="zh-CN" altLang="en-US" sz="2200"/>
              <a:t>2)  两个整数的比较</a:t>
            </a:r>
            <a:endParaRPr lang="zh-CN" altLang="en-US" sz="2200"/>
          </a:p>
          <a:p>
            <a:r>
              <a:rPr lang="en-US" altLang="zh-CN" sz="2200"/>
              <a:t>-lt  </a:t>
            </a:r>
            <a:r>
              <a:rPr lang="zh-CN" altLang="en-US" sz="2200"/>
              <a:t>小于</a:t>
            </a:r>
            <a:endParaRPr lang="zh-CN" altLang="en-US" sz="2200"/>
          </a:p>
          <a:p>
            <a:r>
              <a:rPr lang="en-US" altLang="zh-CN" sz="2200"/>
              <a:t>-le  </a:t>
            </a:r>
            <a:r>
              <a:rPr lang="zh-CN" altLang="en-US" sz="2200"/>
              <a:t>小于等于 </a:t>
            </a:r>
            <a:r>
              <a:rPr lang="en-US" altLang="zh-CN" sz="2200"/>
              <a:t>little equal</a:t>
            </a:r>
            <a:endParaRPr lang="en-US" altLang="zh-CN" sz="2200"/>
          </a:p>
          <a:p>
            <a:r>
              <a:rPr lang="en-US" altLang="zh-CN" sz="2200"/>
              <a:t>-eq  </a:t>
            </a:r>
            <a:r>
              <a:rPr lang="zh-CN" altLang="en-US" sz="2200"/>
              <a:t>等于</a:t>
            </a:r>
            <a:endParaRPr lang="zh-CN" altLang="en-US" sz="2200"/>
          </a:p>
          <a:p>
            <a:r>
              <a:rPr lang="en-US" altLang="zh-CN" sz="2200"/>
              <a:t>-gt  </a:t>
            </a:r>
            <a:r>
              <a:rPr lang="zh-CN" altLang="en-US" sz="2200"/>
              <a:t>大于</a:t>
            </a:r>
            <a:endParaRPr lang="zh-CN" altLang="en-US" sz="2200"/>
          </a:p>
          <a:p>
            <a:r>
              <a:rPr lang="en-US" altLang="zh-CN" sz="2200"/>
              <a:t>-ge  </a:t>
            </a:r>
            <a:r>
              <a:rPr lang="zh-CN" altLang="en-US" sz="2200"/>
              <a:t>大于等于</a:t>
            </a:r>
            <a:endParaRPr lang="zh-CN" altLang="en-US" sz="2200"/>
          </a:p>
          <a:p>
            <a:r>
              <a:rPr lang="en-US" altLang="zh-CN" sz="2200"/>
              <a:t>-ne  </a:t>
            </a:r>
            <a:r>
              <a:rPr lang="zh-CN" altLang="en-US" sz="2200"/>
              <a:t>不等于</a:t>
            </a:r>
            <a:endParaRPr lang="zh-CN" altLang="en-US" sz="2200"/>
          </a:p>
          <a:p>
            <a:r>
              <a:rPr lang="zh-CN" altLang="en-US" sz="2200"/>
              <a:t>3)  按照文件权限进行判断</a:t>
            </a:r>
            <a:endParaRPr lang="zh-CN" altLang="en-US" sz="2200"/>
          </a:p>
          <a:p>
            <a:r>
              <a:rPr lang="en-US" altLang="zh-CN" sz="2200"/>
              <a:t>-r  </a:t>
            </a:r>
            <a:r>
              <a:rPr lang="zh-CN" altLang="en-US" sz="2200"/>
              <a:t>有读的权限</a:t>
            </a:r>
            <a:endParaRPr lang="zh-CN" altLang="en-US" sz="2200"/>
          </a:p>
          <a:p>
            <a:r>
              <a:rPr lang="en-US" altLang="zh-CN" sz="2200"/>
              <a:t>-w  </a:t>
            </a:r>
            <a:r>
              <a:rPr lang="zh-CN" altLang="en-US" sz="2200"/>
              <a:t>有写的权限</a:t>
            </a:r>
            <a:endParaRPr lang="zh-CN" altLang="en-US" sz="2200"/>
          </a:p>
          <a:p>
            <a:r>
              <a:rPr lang="en-US" altLang="zh-CN" sz="2200"/>
              <a:t>-x  </a:t>
            </a:r>
            <a:r>
              <a:rPr lang="zh-CN" altLang="en-US" sz="2200"/>
              <a:t>有执行的权限</a:t>
            </a:r>
            <a:endParaRPr lang="zh-CN" altLang="en-US" sz="2200"/>
          </a:p>
          <a:p>
            <a:r>
              <a:rPr lang="zh-CN" altLang="en-US" sz="2200"/>
              <a:t>4)  按照文件类型进行判断</a:t>
            </a:r>
            <a:endParaRPr lang="zh-CN" altLang="en-US" sz="2200"/>
          </a:p>
          <a:p>
            <a:r>
              <a:rPr lang="en-US" altLang="zh-CN" sz="2200"/>
              <a:t>-f </a:t>
            </a:r>
            <a:r>
              <a:rPr lang="zh-CN" altLang="en-US" sz="2200"/>
              <a:t>文件存在并且是一个常规的文件</a:t>
            </a:r>
            <a:endParaRPr lang="zh-CN" altLang="en-US" sz="2200"/>
          </a:p>
          <a:p>
            <a:r>
              <a:rPr lang="en-US" altLang="zh-CN" sz="2200"/>
              <a:t>-e  </a:t>
            </a:r>
            <a:r>
              <a:rPr lang="zh-CN" altLang="en-US" sz="2200"/>
              <a:t>文件存在</a:t>
            </a:r>
            <a:endParaRPr lang="zh-CN" altLang="en-US" sz="2200"/>
          </a:p>
          <a:p>
            <a:r>
              <a:rPr lang="en-US" altLang="zh-CN" sz="2200"/>
              <a:t>-d  </a:t>
            </a:r>
            <a:r>
              <a:rPr lang="zh-CN" altLang="en-US" sz="2200"/>
              <a:t>文件存在并是一个目录</a:t>
            </a:r>
            <a:endParaRPr lang="zh-CN" altLang="en-US" sz="2200"/>
          </a:p>
        </p:txBody>
      </p:sp>
      <p:sp>
        <p:nvSpPr>
          <p:cNvPr id="3" name="文本框 2"/>
          <p:cNvSpPr txBox="1"/>
          <p:nvPr/>
        </p:nvSpPr>
        <p:spPr>
          <a:xfrm>
            <a:off x="5812790" y="753110"/>
            <a:ext cx="512381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 sz="2200"/>
          </a:p>
          <a:p>
            <a:endParaRPr lang="en-US" altLang="zh-CN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9" descr="0ba14ade4f3d85d1ec363064d3fc02a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3145" y="2240915"/>
            <a:ext cx="6435090" cy="44005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1355" y="140970"/>
            <a:ext cx="10715625" cy="2491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ym typeface="+mn-ea"/>
              </a:rPr>
              <a:t>应用实例</a:t>
            </a:r>
            <a:endParaRPr lang="zh-CN" altLang="en-US" sz="2400" b="1"/>
          </a:p>
          <a:p>
            <a:r>
              <a:rPr lang="zh-CN" altLang="en-US" sz="2200">
                <a:sym typeface="+mn-ea"/>
              </a:rPr>
              <a:t>案例 1 ："</a:t>
            </a:r>
            <a:r>
              <a:rPr lang="en-US" altLang="zh-CN" sz="2200">
                <a:sym typeface="+mn-ea"/>
              </a:rPr>
              <a:t>ok"</a:t>
            </a:r>
            <a:r>
              <a:rPr lang="zh-CN" altLang="en-US" sz="2200">
                <a:sym typeface="+mn-ea"/>
              </a:rPr>
              <a:t>是否等于"</a:t>
            </a:r>
            <a:r>
              <a:rPr lang="en-US" altLang="zh-CN" sz="2200">
                <a:sym typeface="+mn-ea"/>
              </a:rPr>
              <a:t>ok"</a:t>
            </a:r>
            <a:endParaRPr lang="en-US" altLang="zh-CN" sz="2200"/>
          </a:p>
          <a:p>
            <a:r>
              <a:rPr lang="zh-CN" altLang="en-US" sz="2200">
                <a:sym typeface="+mn-ea"/>
              </a:rPr>
              <a:t>判断语句：使用 =</a:t>
            </a:r>
            <a:endParaRPr lang="zh-CN" altLang="en-US" sz="2200"/>
          </a:p>
          <a:p>
            <a:r>
              <a:rPr lang="zh-CN" altLang="en-US" sz="2200">
                <a:sym typeface="+mn-ea"/>
              </a:rPr>
              <a:t>案例2 ：23 是否大于等于22</a:t>
            </a:r>
            <a:endParaRPr lang="zh-CN" altLang="en-US" sz="2200"/>
          </a:p>
          <a:p>
            <a:r>
              <a:rPr lang="zh-CN" altLang="en-US" sz="2200">
                <a:sym typeface="+mn-ea"/>
              </a:rPr>
              <a:t>判断语句：使用 -</a:t>
            </a:r>
            <a:r>
              <a:rPr lang="en-US" altLang="zh-CN" sz="2200">
                <a:sym typeface="+mn-ea"/>
              </a:rPr>
              <a:t>ge</a:t>
            </a:r>
            <a:endParaRPr lang="en-US" altLang="zh-CN" sz="2200"/>
          </a:p>
          <a:p>
            <a:r>
              <a:rPr lang="zh-CN" altLang="en-US" sz="2200">
                <a:sym typeface="+mn-ea"/>
              </a:rPr>
              <a:t>案例 3 ：/</a:t>
            </a:r>
            <a:r>
              <a:rPr lang="en-US" altLang="zh-CN" sz="2200">
                <a:sym typeface="+mn-ea"/>
              </a:rPr>
              <a:t>root/shcode/aaa.txt  </a:t>
            </a:r>
            <a:r>
              <a:rPr lang="zh-CN" altLang="en-US" sz="2200">
                <a:sym typeface="+mn-ea"/>
              </a:rPr>
              <a:t>目录中的文件是否存在</a:t>
            </a:r>
            <a:endParaRPr lang="zh-CN" altLang="en-US" sz="2200"/>
          </a:p>
          <a:p>
            <a:r>
              <a:rPr lang="zh-CN" altLang="en-US" sz="2200">
                <a:sym typeface="+mn-ea"/>
              </a:rPr>
              <a:t>判断语句： 使用 -</a:t>
            </a:r>
            <a:r>
              <a:rPr lang="en-US" altLang="zh-CN" sz="2200">
                <a:sym typeface="+mn-ea"/>
              </a:rPr>
              <a:t>f</a:t>
            </a:r>
            <a:endParaRPr lang="en-US" altLang="zh-CN" sz="22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730" y="3429000"/>
            <a:ext cx="3226435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200" b="1">
                <a:sym typeface="+mn-ea"/>
              </a:rPr>
              <a:t>语法：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if [ </a:t>
            </a:r>
            <a:r>
              <a:rPr lang="zh-CN" altLang="en-US" sz="2200">
                <a:sym typeface="+mn-ea"/>
              </a:rPr>
              <a:t>条件 ]   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then  </a:t>
            </a:r>
            <a:endParaRPr lang="en-US" altLang="zh-CN" sz="2200"/>
          </a:p>
          <a:p>
            <a:r>
              <a:rPr lang="zh-CN" altLang="en-US" sz="2200">
                <a:sym typeface="+mn-ea"/>
              </a:rPr>
              <a:t>  命令1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fi</a:t>
            </a:r>
            <a:endParaRPr lang="en-US" altLang="zh-CN" sz="2200"/>
          </a:p>
          <a:p>
            <a:endParaRPr lang="en-US" altLang="zh-CN" sz="2200"/>
          </a:p>
          <a:p>
            <a:r>
              <a:rPr lang="zh-CN" altLang="en-US" sz="2200">
                <a:sym typeface="+mn-ea"/>
              </a:rPr>
              <a:t>其中，</a:t>
            </a:r>
            <a:r>
              <a:rPr lang="en-US" altLang="zh-CN" sz="2200">
                <a:sym typeface="+mn-ea"/>
              </a:rPr>
              <a:t>fi</a:t>
            </a:r>
            <a:r>
              <a:rPr lang="zh-CN" altLang="en-US" sz="2200">
                <a:sym typeface="+mn-ea"/>
              </a:rPr>
              <a:t>表示语法结束</a:t>
            </a:r>
            <a:endParaRPr lang="zh-CN" altLang="en-US" sz="2200"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3555" y="495935"/>
            <a:ext cx="938276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ym typeface="+mn-ea"/>
              </a:rPr>
              <a:t>再举几个例子</a:t>
            </a:r>
            <a:endParaRPr lang="zh-CN" altLang="en-US" sz="2400" b="1"/>
          </a:p>
          <a:p>
            <a:r>
              <a:rPr lang="en-US" altLang="zh-CN" sz="2400">
                <a:sym typeface="+mn-ea"/>
              </a:rPr>
              <a:t>if[]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then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   echo "abcd"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fi</a:t>
            </a:r>
            <a:endParaRPr lang="en-US" altLang="zh-CN" sz="2400">
              <a:sym typeface="+mn-ea"/>
            </a:endParaRPr>
          </a:p>
          <a:p>
            <a:r>
              <a:rPr lang="zh-CN" altLang="en-US" sz="2400">
                <a:sym typeface="+mn-ea"/>
              </a:rPr>
              <a:t>错误，因为[]里没有空格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if[ ]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then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   echo "abcd"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fi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这样正确，但此时因为条件为假，进不到</a:t>
            </a:r>
            <a:r>
              <a:rPr lang="en-US" altLang="zh-CN" sz="2400">
                <a:sym typeface="+mn-ea"/>
              </a:rPr>
              <a:t>then</a:t>
            </a:r>
            <a:r>
              <a:rPr lang="zh-CN" altLang="en-US" sz="2400">
                <a:sym typeface="+mn-ea"/>
              </a:rPr>
              <a:t>中。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if[ yys ]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then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   echo "abcd"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fi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可以，此时条件为真，可以进到</a:t>
            </a:r>
            <a:r>
              <a:rPr lang="en-US" altLang="zh-CN" sz="2400">
                <a:sym typeface="+mn-ea"/>
              </a:rPr>
              <a:t>then</a:t>
            </a:r>
            <a:r>
              <a:rPr lang="zh-CN" altLang="en-US" sz="2400">
                <a:sym typeface="+mn-ea"/>
              </a:rPr>
              <a:t>中，输出</a:t>
            </a:r>
            <a:r>
              <a:rPr lang="en-US" altLang="zh-CN" sz="2400">
                <a:sym typeface="+mn-ea"/>
              </a:rPr>
              <a:t>abcd。</a:t>
            </a:r>
            <a:endParaRPr lang="en-US" altLang="zh-CN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3715" y="259715"/>
            <a:ext cx="40640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流程控制</a:t>
            </a:r>
            <a:endParaRPr lang="zh-CN" altLang="en-US" sz="2800" b="1"/>
          </a:p>
          <a:p>
            <a:endParaRPr lang="en-US" altLang="zh-CN" sz="2400"/>
          </a:p>
          <a:p>
            <a:r>
              <a:rPr lang="en-US" altLang="zh-CN" sz="2400"/>
              <a:t>1 if </a:t>
            </a:r>
            <a:r>
              <a:rPr lang="zh-CN" altLang="en-US" sz="2400"/>
              <a:t>判断</a:t>
            </a:r>
            <a:endParaRPr lang="zh-CN" altLang="en-US" sz="2400"/>
          </a:p>
          <a:p>
            <a:r>
              <a:rPr lang="zh-CN" altLang="en-US" sz="2400"/>
              <a:t>  </a:t>
            </a:r>
            <a:endParaRPr lang="zh-CN" altLang="en-US" sz="2400"/>
          </a:p>
          <a:p>
            <a:r>
              <a:rPr lang="zh-CN" altLang="en-US" sz="2400" b="1"/>
              <a:t>基本语法</a:t>
            </a:r>
            <a:endParaRPr lang="zh-CN" altLang="en-US" sz="2400" b="1"/>
          </a:p>
          <a:p>
            <a:r>
              <a:rPr lang="en-US" altLang="zh-CN" sz="2400">
                <a:sym typeface="+mn-ea"/>
              </a:rPr>
              <a:t>if [  </a:t>
            </a:r>
            <a:r>
              <a:rPr lang="zh-CN" altLang="en-US" sz="2400">
                <a:sym typeface="+mn-ea"/>
              </a:rPr>
              <a:t>条件 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]   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then  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  命令1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fi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75245" y="2171700"/>
            <a:ext cx="40640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ym typeface="+mn-ea"/>
              </a:rPr>
              <a:t>if [  </a:t>
            </a:r>
            <a:r>
              <a:rPr lang="zh-CN" altLang="en-US" sz="2400">
                <a:sym typeface="+mn-ea"/>
              </a:rPr>
              <a:t>条件判断式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 ]   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then  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  命令1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elif [  </a:t>
            </a:r>
            <a:r>
              <a:rPr lang="zh-CN" altLang="en-US" sz="2400">
                <a:sym typeface="+mn-ea"/>
              </a:rPr>
              <a:t>条件判断式</a:t>
            </a:r>
            <a:r>
              <a:rPr lang="en-US" altLang="zh-CN" sz="2400">
                <a:sym typeface="+mn-ea"/>
              </a:rPr>
              <a:t>  ]</a:t>
            </a:r>
            <a:endParaRPr lang="en-US" altLang="zh-CN" sz="2400">
              <a:sym typeface="+mn-ea"/>
            </a:endParaRPr>
          </a:p>
          <a:p>
            <a:r>
              <a:rPr lang="en-US" altLang="zh-CN" sz="2400">
                <a:sym typeface="+mn-ea"/>
              </a:rPr>
              <a:t>then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  命令2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fi</a:t>
            </a:r>
            <a:endParaRPr lang="en-US" altLang="zh-CN" sz="2400"/>
          </a:p>
          <a:p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4855845" y="2171700"/>
            <a:ext cx="4064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ym typeface="+mn-ea"/>
              </a:rPr>
              <a:t>if [  </a:t>
            </a:r>
            <a:r>
              <a:rPr lang="zh-CN" altLang="en-US" sz="2400">
                <a:sym typeface="+mn-ea"/>
              </a:rPr>
              <a:t>条件判断式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 ]   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then  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  命令1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else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  命令2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fi</a:t>
            </a:r>
            <a:endParaRPr lang="en-US" altLang="zh-CN" sz="2400"/>
          </a:p>
          <a:p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4300220" y="2368550"/>
            <a:ext cx="4737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多分支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80645" y="2171700"/>
            <a:ext cx="3092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单分支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287020" y="5217795"/>
            <a:ext cx="10215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2" descr="119f107b2111f428b53a9a69d0ea68c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3485" y="2270125"/>
            <a:ext cx="8570595" cy="15900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96265" y="619760"/>
            <a:ext cx="980503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ym typeface="+mn-ea"/>
              </a:rPr>
              <a:t>应用实例 </a:t>
            </a:r>
            <a:r>
              <a:rPr lang="en-US" altLang="zh-CN" sz="2800" b="1">
                <a:sym typeface="+mn-ea"/>
              </a:rPr>
              <a:t>ifCase.sh</a:t>
            </a:r>
            <a:endParaRPr lang="en-US" altLang="zh-CN" sz="2800" b="1"/>
          </a:p>
          <a:p>
            <a:r>
              <a:rPr lang="zh-CN" altLang="en-US" sz="2800">
                <a:sym typeface="+mn-ea"/>
              </a:rPr>
              <a:t>案例：请编写一个 </a:t>
            </a:r>
            <a:r>
              <a:rPr lang="en-US" altLang="zh-CN" sz="2800">
                <a:sym typeface="+mn-ea"/>
              </a:rPr>
              <a:t>shell </a:t>
            </a:r>
            <a:r>
              <a:rPr lang="zh-CN" altLang="en-US" sz="2800">
                <a:sym typeface="+mn-ea"/>
              </a:rPr>
              <a:t>程序，如果输入的参数，大于等于 60 ，则输出 "及格了" ，如果小于 60,则输出 "不及格"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7790" y="675005"/>
            <a:ext cx="11521440" cy="550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/>
              <a:t>2 case </a:t>
            </a:r>
            <a:r>
              <a:rPr lang="zh-CN" altLang="en-US" sz="2800" b="1"/>
              <a:t>语句</a:t>
            </a:r>
            <a:endParaRPr lang="zh-CN" altLang="en-US" sz="2800" b="1"/>
          </a:p>
          <a:p>
            <a:r>
              <a:rPr lang="zh-CN" altLang="en-US" sz="2400"/>
              <a:t> </a:t>
            </a:r>
            <a:r>
              <a:rPr lang="zh-CN" altLang="en-US" sz="2400" b="1"/>
              <a:t> </a:t>
            </a:r>
            <a:endParaRPr lang="zh-CN" altLang="en-US" sz="2400" b="1"/>
          </a:p>
          <a:p>
            <a:r>
              <a:rPr lang="zh-CN" altLang="en-US" sz="2400" b="1"/>
              <a:t>基本语法</a:t>
            </a:r>
            <a:endParaRPr lang="zh-CN" altLang="en-US" sz="2400" b="1"/>
          </a:p>
          <a:p>
            <a:r>
              <a:rPr lang="en-US" altLang="zh-CN" sz="2400"/>
              <a:t>case $</a:t>
            </a:r>
            <a:r>
              <a:rPr lang="zh-CN" altLang="en-US" sz="2400"/>
              <a:t>变量名 </a:t>
            </a:r>
            <a:r>
              <a:rPr lang="en-US" altLang="zh-CN" sz="2400"/>
              <a:t>in </a:t>
            </a:r>
            <a:endParaRPr lang="en-US" altLang="zh-CN" sz="2400"/>
          </a:p>
          <a:p>
            <a:r>
              <a:rPr lang="en-US" altLang="zh-CN" sz="2400"/>
              <a:t>"</a:t>
            </a:r>
            <a:r>
              <a:rPr lang="zh-CN" altLang="en-US" sz="2400"/>
              <a:t>值 1"）</a:t>
            </a:r>
            <a:endParaRPr lang="zh-CN" altLang="en-US" sz="2400"/>
          </a:p>
          <a:p>
            <a:r>
              <a:rPr lang="zh-CN" altLang="en-US" sz="2400"/>
              <a:t>如果变量的值等于值 1 ，则执行程序 1</a:t>
            </a:r>
            <a:endParaRPr lang="zh-CN" altLang="en-US" sz="2400"/>
          </a:p>
          <a:p>
            <a:r>
              <a:rPr lang="en-US" altLang="zh-CN" sz="2400"/>
              <a:t>;;</a:t>
            </a:r>
            <a:endParaRPr lang="en-US" altLang="zh-CN" sz="2400"/>
          </a:p>
          <a:p>
            <a:r>
              <a:rPr lang="zh-CN" altLang="en-US" sz="2400"/>
              <a:t>"值 2"）</a:t>
            </a:r>
            <a:endParaRPr lang="zh-CN" altLang="en-US" sz="2400"/>
          </a:p>
          <a:p>
            <a:r>
              <a:rPr lang="zh-CN" altLang="en-US" sz="2400"/>
              <a:t>如果变量的值等于值2 ，则执行程序2 </a:t>
            </a:r>
            <a:endParaRPr lang="zh-CN" altLang="en-US" sz="2400"/>
          </a:p>
          <a:p>
            <a:r>
              <a:rPr lang="zh-CN" altLang="en-US" sz="2400"/>
              <a:t>;;</a:t>
            </a:r>
            <a:endParaRPr lang="zh-CN" altLang="en-US" sz="2400"/>
          </a:p>
          <a:p>
            <a:r>
              <a:rPr lang="zh-CN" altLang="en-US" sz="2400"/>
              <a:t>…省略其他分支 …</a:t>
            </a:r>
            <a:endParaRPr lang="zh-CN" altLang="en-US" sz="2400"/>
          </a:p>
          <a:p>
            <a:r>
              <a:rPr lang="en-US" altLang="zh-CN" sz="2400"/>
              <a:t>*）</a:t>
            </a:r>
            <a:endParaRPr lang="en-US" altLang="zh-CN" sz="2400"/>
          </a:p>
          <a:p>
            <a:r>
              <a:rPr lang="zh-CN" altLang="en-US" sz="2400"/>
              <a:t>如果变量的值都不是以上的值，则执行此程序</a:t>
            </a:r>
            <a:endParaRPr lang="zh-CN" altLang="en-US" sz="2400"/>
          </a:p>
          <a:p>
            <a:r>
              <a:rPr lang="en-US" altLang="zh-CN" sz="2400"/>
              <a:t>;;</a:t>
            </a:r>
            <a:endParaRPr lang="en-US" altLang="zh-CN" sz="2400"/>
          </a:p>
          <a:p>
            <a:r>
              <a:rPr lang="en-US" altLang="zh-CN" sz="2400"/>
              <a:t>esac</a:t>
            </a:r>
            <a:endParaRPr lang="en-US" altLang="zh-CN" sz="2400"/>
          </a:p>
          <a:p>
            <a:endParaRPr lang="en-US" altLang="zh-CN" sz="2400"/>
          </a:p>
          <a:p>
            <a:endParaRPr lang="en-US" altLang="zh-CN"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5" descr="2477412a37748703b22b04577477441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465" y="1882140"/>
            <a:ext cx="9349740" cy="30219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8975" y="228600"/>
            <a:ext cx="1095629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ym typeface="+mn-ea"/>
              </a:rPr>
              <a:t>应用实例 </a:t>
            </a:r>
            <a:r>
              <a:rPr lang="en-US" altLang="zh-CN" sz="2800" b="1">
                <a:sym typeface="+mn-ea"/>
              </a:rPr>
              <a:t>testCase.sh</a:t>
            </a:r>
            <a:endParaRPr lang="en-US" altLang="zh-CN" sz="2800" b="1"/>
          </a:p>
          <a:p>
            <a:r>
              <a:rPr lang="zh-CN" altLang="en-US" sz="2800">
                <a:sym typeface="+mn-ea"/>
              </a:rPr>
              <a:t>案例 1  ：当命令行参数是 1  时，输出 "周一",  是 2  时，就输出"周二" ， 其它情况输出  "</a:t>
            </a:r>
            <a:r>
              <a:rPr lang="en-US" altLang="zh-CN" sz="2800">
                <a:sym typeface="+mn-ea"/>
              </a:rPr>
              <a:t>other"</a:t>
            </a:r>
            <a:endParaRPr lang="en-US" altLang="zh-CN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1800" y="135890"/>
            <a:ext cx="10431145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3 for </a:t>
            </a:r>
            <a:r>
              <a:rPr lang="zh-CN" altLang="en-US" sz="2800" b="1"/>
              <a:t>循环</a:t>
            </a:r>
            <a:endParaRPr lang="zh-CN" altLang="en-US" sz="2800" b="1"/>
          </a:p>
          <a:p>
            <a:r>
              <a:rPr lang="zh-CN" altLang="en-US" sz="2200" b="1"/>
              <a:t>  基本语法 1</a:t>
            </a:r>
            <a:endParaRPr lang="zh-CN" altLang="en-US" sz="2200" b="1"/>
          </a:p>
          <a:p>
            <a:r>
              <a:rPr lang="en-US" altLang="zh-CN" sz="2200"/>
              <a:t>for  </a:t>
            </a:r>
            <a:r>
              <a:rPr lang="zh-CN" altLang="en-US" sz="2200"/>
              <a:t>变量 </a:t>
            </a:r>
            <a:r>
              <a:rPr lang="en-US" altLang="zh-CN" sz="2200"/>
              <a:t>in  </a:t>
            </a:r>
            <a:r>
              <a:rPr lang="zh-CN" altLang="en-US" sz="2200"/>
              <a:t>值 1  值 2  值 3…</a:t>
            </a:r>
            <a:endParaRPr lang="zh-CN" altLang="en-US" sz="2200"/>
          </a:p>
          <a:p>
            <a:r>
              <a:rPr lang="en-US" altLang="zh-CN" sz="2200"/>
              <a:t>do</a:t>
            </a:r>
            <a:endParaRPr lang="en-US" altLang="zh-CN" sz="2200"/>
          </a:p>
          <a:p>
            <a:r>
              <a:rPr lang="zh-CN" altLang="en-US" sz="2200"/>
              <a:t>程序/代码</a:t>
            </a:r>
            <a:endParaRPr lang="zh-CN" altLang="en-US" sz="2200"/>
          </a:p>
          <a:p>
            <a:r>
              <a:rPr lang="en-US" altLang="zh-CN" sz="2200"/>
              <a:t>done</a:t>
            </a:r>
            <a:endParaRPr lang="en-US" altLang="zh-CN" sz="2200"/>
          </a:p>
          <a:p>
            <a:endParaRPr lang="zh-CN" altLang="en-US" sz="2200" b="1"/>
          </a:p>
          <a:p>
            <a:r>
              <a:rPr lang="zh-CN" altLang="en-US" sz="2200" b="1"/>
              <a:t>应用实例 </a:t>
            </a:r>
            <a:r>
              <a:rPr lang="en-US" altLang="zh-CN" sz="2200" b="1"/>
              <a:t>testFor1.sh</a:t>
            </a:r>
            <a:endParaRPr lang="en-US" altLang="zh-CN" sz="2200" b="1"/>
          </a:p>
          <a:p>
            <a:r>
              <a:rPr lang="zh-CN" altLang="en-US" sz="2200"/>
              <a:t>案例 1  ：打印命令行输入的参数 [这里可以看出</a:t>
            </a:r>
            <a:r>
              <a:rPr lang="zh-CN" altLang="en-US" sz="2200" b="1"/>
              <a:t>$*  和 $@</a:t>
            </a:r>
            <a:r>
              <a:rPr lang="zh-CN" altLang="en-US" sz="2200"/>
              <a:t>   的区别</a:t>
            </a:r>
            <a:endParaRPr lang="zh-CN" altLang="en-US" sz="2200"/>
          </a:p>
          <a:p>
            <a:r>
              <a:rPr lang="zh-CN" altLang="en-US" sz="2200"/>
              <a:t>$*是把输入的参数当做一个整体，所以只会输出一句话。而$@是获取输入的参数分别对待，所以有几个参数就输出几句。</a:t>
            </a:r>
            <a:endParaRPr lang="zh-CN" altLang="en-US" sz="2200"/>
          </a:p>
          <a:p>
            <a:endParaRPr lang="zh-CN" altLang="en-US" sz="2200"/>
          </a:p>
          <a:p>
            <a:endParaRPr lang="zh-CN" altLang="en-US" sz="2200"/>
          </a:p>
        </p:txBody>
      </p:sp>
      <p:pic>
        <p:nvPicPr>
          <p:cNvPr id="17" name="图片 17" descr="718ff7edcd30a6920fd10d997307023c"/>
          <p:cNvPicPr>
            <a:picLocks noChangeAspect="1"/>
          </p:cNvPicPr>
          <p:nvPr/>
        </p:nvPicPr>
        <p:blipFill>
          <a:blip r:embed="rId1"/>
          <a:srcRect l="5358"/>
          <a:stretch>
            <a:fillRect/>
          </a:stretch>
        </p:blipFill>
        <p:spPr>
          <a:xfrm>
            <a:off x="751523" y="4195445"/>
            <a:ext cx="4968875" cy="1203960"/>
          </a:xfrm>
          <a:prstGeom prst="rect">
            <a:avLst/>
          </a:prstGeom>
        </p:spPr>
      </p:pic>
      <p:pic>
        <p:nvPicPr>
          <p:cNvPr id="18" name="图片 18" descr="022531d738201e36eabf0e5c6ccfa49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23" y="5677535"/>
            <a:ext cx="5260975" cy="7708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47700" y="485775"/>
            <a:ext cx="908431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ym typeface="+mn-ea"/>
              </a:rPr>
              <a:t>基本语法2</a:t>
            </a:r>
            <a:r>
              <a:rPr lang="en-US" altLang="zh-CN" sz="2400" b="1">
                <a:sym typeface="+mn-ea"/>
              </a:rPr>
              <a:t> 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注意</a:t>
            </a:r>
            <a:r>
              <a:rPr lang="en-US" altLang="zh-CN" sz="2400">
                <a:sym typeface="+mn-ea"/>
              </a:rPr>
              <a:t>for</a:t>
            </a:r>
            <a:r>
              <a:rPr lang="zh-CN" altLang="en-US" sz="2400">
                <a:sym typeface="+mn-ea"/>
              </a:rPr>
              <a:t>后边有两个括号，里边的括号和内容也要有空格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for ((  </a:t>
            </a:r>
            <a:r>
              <a:rPr lang="zh-CN" altLang="en-US" sz="2400">
                <a:sym typeface="+mn-ea"/>
              </a:rPr>
              <a:t>初始值;循环控制条件;变量变化 ))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do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程序/代码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done</a:t>
            </a:r>
            <a:endParaRPr lang="en-US" altLang="zh-CN" sz="2400"/>
          </a:p>
          <a:p>
            <a:r>
              <a:rPr lang="zh-CN" altLang="en-US" sz="2400" b="1">
                <a:sym typeface="+mn-ea"/>
              </a:rPr>
              <a:t>应用实例 </a:t>
            </a:r>
            <a:r>
              <a:rPr lang="en-US" altLang="zh-CN" sz="2400" b="1">
                <a:sym typeface="+mn-ea"/>
              </a:rPr>
              <a:t>testFor2.sh</a:t>
            </a:r>
            <a:endParaRPr lang="en-US" altLang="zh-CN" sz="2400" b="1"/>
          </a:p>
          <a:p>
            <a:r>
              <a:rPr lang="zh-CN" altLang="en-US" sz="2400">
                <a:sym typeface="+mn-ea"/>
              </a:rPr>
              <a:t>案例 </a:t>
            </a:r>
            <a:r>
              <a:rPr lang="en-US" altLang="zh-CN" sz="2400">
                <a:sym typeface="+mn-ea"/>
              </a:rPr>
              <a:t>2</a:t>
            </a:r>
            <a:r>
              <a:rPr lang="zh-CN" altLang="en-US" sz="2400">
                <a:sym typeface="+mn-ea"/>
              </a:rPr>
              <a:t>  ：从 1 加到 100 的值输出显示</a:t>
            </a:r>
            <a:endParaRPr lang="zh-CN" altLang="en-US" sz="2400"/>
          </a:p>
          <a:p>
            <a:endParaRPr lang="zh-CN" altLang="en-US" sz="2400"/>
          </a:p>
        </p:txBody>
      </p:sp>
      <p:pic>
        <p:nvPicPr>
          <p:cNvPr id="20" name="图片 20" descr="3305e6e1c95db10a37596f20e32d52b5"/>
          <p:cNvPicPr>
            <a:picLocks noChangeAspect="1"/>
          </p:cNvPicPr>
          <p:nvPr/>
        </p:nvPicPr>
        <p:blipFill>
          <a:blip r:embed="rId1"/>
          <a:srcRect t="3493"/>
          <a:stretch>
            <a:fillRect/>
          </a:stretch>
        </p:blipFill>
        <p:spPr>
          <a:xfrm>
            <a:off x="1014095" y="3429000"/>
            <a:ext cx="5266690" cy="29470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86105" y="351790"/>
            <a:ext cx="9424035" cy="38461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4 while </a:t>
            </a:r>
            <a:r>
              <a:rPr lang="zh-CN" altLang="en-US" sz="2800" b="1"/>
              <a:t>循环</a:t>
            </a:r>
            <a:endParaRPr lang="zh-CN" altLang="en-US" sz="2800" b="1"/>
          </a:p>
          <a:p>
            <a:r>
              <a:rPr lang="zh-CN" altLang="en-US" sz="2400"/>
              <a:t>  基本语法 1</a:t>
            </a:r>
            <a:endParaRPr lang="zh-CN" altLang="en-US" sz="2400"/>
          </a:p>
          <a:p>
            <a:r>
              <a:rPr lang="en-US" altLang="zh-CN" sz="2400"/>
              <a:t>while [  </a:t>
            </a:r>
            <a:r>
              <a:rPr lang="zh-CN" altLang="en-US" sz="2400"/>
              <a:t>条件判断式 ]</a:t>
            </a:r>
            <a:endParaRPr lang="zh-CN" altLang="en-US" sz="2400"/>
          </a:p>
          <a:p>
            <a:r>
              <a:rPr lang="en-US" altLang="zh-CN" sz="2400"/>
              <a:t>do</a:t>
            </a:r>
            <a:endParaRPr lang="en-US" altLang="zh-CN" sz="2400"/>
          </a:p>
          <a:p>
            <a:r>
              <a:rPr lang="zh-CN" altLang="en-US" sz="2400"/>
              <a:t>程序 /代码</a:t>
            </a:r>
            <a:endParaRPr lang="zh-CN" altLang="en-US" sz="2400"/>
          </a:p>
          <a:p>
            <a:r>
              <a:rPr lang="en-US" altLang="zh-CN" sz="2400"/>
              <a:t>done</a:t>
            </a:r>
            <a:endParaRPr lang="en-US" altLang="zh-CN" sz="2400"/>
          </a:p>
          <a:p>
            <a:r>
              <a:rPr lang="zh-CN" altLang="en-US" sz="2400"/>
              <a:t>注意：</a:t>
            </a:r>
            <a:r>
              <a:rPr lang="en-US" altLang="zh-CN" sz="2400"/>
              <a:t>while  </a:t>
            </a:r>
            <a:r>
              <a:rPr lang="zh-CN" altLang="en-US" sz="2400"/>
              <a:t>和 [之间有空格，条件判断式和 [</a:t>
            </a:r>
            <a:r>
              <a:rPr lang="en-US" altLang="zh-CN" sz="2400"/>
              <a:t>]</a:t>
            </a:r>
            <a:r>
              <a:rPr lang="zh-CN" altLang="en-US" sz="2400"/>
              <a:t>之间也有空格</a:t>
            </a:r>
            <a:endParaRPr lang="zh-CN" altLang="en-US" sz="2400"/>
          </a:p>
          <a:p>
            <a:r>
              <a:rPr lang="zh-CN" altLang="en-US" sz="2400"/>
              <a:t> </a:t>
            </a:r>
            <a:endParaRPr lang="zh-CN" altLang="en-US" sz="2400"/>
          </a:p>
          <a:p>
            <a:r>
              <a:rPr lang="zh-CN" altLang="en-US" sz="2400" b="1"/>
              <a:t> 应用实例 </a:t>
            </a:r>
            <a:r>
              <a:rPr lang="en-US" altLang="zh-CN" sz="2400" b="1"/>
              <a:t>testWhile.sh</a:t>
            </a:r>
            <a:endParaRPr lang="en-US" altLang="zh-CN" sz="2400" b="1"/>
          </a:p>
          <a:p>
            <a:r>
              <a:rPr lang="zh-CN" altLang="en-US" sz="2400"/>
              <a:t>案例 1  ：从命令行输入一个数 </a:t>
            </a:r>
            <a:r>
              <a:rPr lang="en-US" altLang="zh-CN" sz="2400"/>
              <a:t>n ，</a:t>
            </a:r>
            <a:r>
              <a:rPr lang="zh-CN" altLang="en-US" sz="2400"/>
              <a:t>统计从 1+..+ </a:t>
            </a:r>
            <a:r>
              <a:rPr lang="en-US" altLang="zh-CN" sz="2400"/>
              <a:t>n  </a:t>
            </a:r>
            <a:r>
              <a:rPr lang="zh-CN" altLang="en-US" sz="2400"/>
              <a:t>的值是多少？</a:t>
            </a:r>
            <a:endParaRPr lang="zh-CN" altLang="en-US" sz="2400"/>
          </a:p>
        </p:txBody>
      </p:sp>
      <p:pic>
        <p:nvPicPr>
          <p:cNvPr id="24" name="图片 24" descr="e4c046e82b20ac440ab6e40be0e9ed5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30" y="4359275"/>
            <a:ext cx="5265420" cy="20904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5945" y="403225"/>
            <a:ext cx="9507220" cy="49542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b="1"/>
              <a:t>read </a:t>
            </a:r>
            <a:r>
              <a:rPr lang="zh-CN" altLang="en-US" sz="3600" b="1"/>
              <a:t>读取控制台输入</a:t>
            </a:r>
            <a:endParaRPr lang="zh-CN" altLang="en-US" sz="3600" b="1"/>
          </a:p>
          <a:p>
            <a:r>
              <a:rPr lang="zh-CN" altLang="en-US" sz="2800" b="1"/>
              <a:t>1 基本语法</a:t>
            </a:r>
            <a:endParaRPr lang="zh-CN" altLang="en-US" sz="2800" b="1"/>
          </a:p>
          <a:p>
            <a:r>
              <a:rPr lang="en-US" altLang="zh-CN" sz="2800"/>
              <a:t>read(</a:t>
            </a:r>
            <a:r>
              <a:rPr lang="zh-CN" altLang="en-US" sz="2800"/>
              <a:t>选项)(参数)</a:t>
            </a:r>
            <a:endParaRPr lang="zh-CN" altLang="en-US" sz="2800"/>
          </a:p>
          <a:p>
            <a:endParaRPr lang="zh-CN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选项：</a:t>
            </a:r>
            <a:endParaRPr lang="zh-CN" altLang="en-US" sz="2800"/>
          </a:p>
          <a:p>
            <a:r>
              <a:rPr lang="en-US" altLang="zh-CN" sz="2800"/>
              <a:t>-p：</a:t>
            </a:r>
            <a:r>
              <a:rPr lang="zh-CN" altLang="en-US" sz="2800"/>
              <a:t>指定读取值时的提示符；</a:t>
            </a:r>
            <a:endParaRPr lang="zh-CN" altLang="en-US" sz="2800"/>
          </a:p>
          <a:p>
            <a:r>
              <a:rPr lang="en-US" altLang="zh-CN" sz="2800"/>
              <a:t>-t：</a:t>
            </a:r>
            <a:r>
              <a:rPr lang="zh-CN" altLang="en-US" sz="2800"/>
              <a:t>指定读取值时等待的时间（秒），如果没有在指定的时间内输入，就不再等待了。</a:t>
            </a:r>
            <a:endParaRPr lang="zh-CN" altLang="en-US" sz="2800"/>
          </a:p>
          <a:p>
            <a:endParaRPr lang="zh-CN" alt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/>
              <a:t>参数：</a:t>
            </a:r>
            <a:endParaRPr lang="zh-CN" altLang="en-US" sz="2800"/>
          </a:p>
          <a:p>
            <a:r>
              <a:rPr lang="zh-CN" altLang="en-US" sz="2800"/>
              <a:t>变量：指定读取值的变量名</a:t>
            </a:r>
            <a:endParaRPr lang="zh-CN" altLang="en-US"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3395" y="321310"/>
            <a:ext cx="901319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2 应用实例 </a:t>
            </a:r>
            <a:r>
              <a:rPr lang="en-US" altLang="zh-CN" sz="2800"/>
              <a:t>testRead.sh</a:t>
            </a:r>
            <a:endParaRPr lang="en-US" altLang="zh-CN" sz="2800"/>
          </a:p>
          <a:p>
            <a:r>
              <a:rPr lang="zh-CN" altLang="en-US" sz="2800"/>
              <a:t>案例 1 ：读取控制台输入一个 </a:t>
            </a:r>
            <a:r>
              <a:rPr lang="en-US" altLang="zh-CN" sz="2800"/>
              <a:t>NUM1 </a:t>
            </a:r>
            <a:r>
              <a:rPr lang="zh-CN" altLang="en-US" sz="2800"/>
              <a:t>值</a:t>
            </a:r>
            <a:endParaRPr lang="zh-CN" altLang="en-US" sz="2800"/>
          </a:p>
          <a:p>
            <a:r>
              <a:rPr lang="zh-CN" altLang="en-US" sz="2800"/>
              <a:t>案例2 ：读取控制台输入一个 </a:t>
            </a:r>
            <a:r>
              <a:rPr lang="en-US" altLang="zh-CN" sz="2800"/>
              <a:t>NUM2 </a:t>
            </a:r>
            <a:r>
              <a:rPr lang="zh-CN" altLang="en-US" sz="2800"/>
              <a:t>值，在 10 秒内输入。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328930" y="2059940"/>
            <a:ext cx="1147000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代码：</a:t>
            </a:r>
            <a:endParaRPr lang="zh-CN" altLang="en-US" sz="2800"/>
          </a:p>
          <a:p>
            <a:r>
              <a:rPr lang="en-US" altLang="zh-CN" sz="2800"/>
              <a:t>vim testRead.sh                 </a:t>
            </a:r>
            <a:endParaRPr lang="en-US" altLang="zh-CN" sz="2800"/>
          </a:p>
          <a:p>
            <a:r>
              <a:rPr lang="en-US" altLang="zh-CN" sz="2800"/>
              <a:t>chmod u+x testRead.sh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en-US" altLang="zh-CN" sz="2800"/>
              <a:t>./testRead.sh</a:t>
            </a:r>
            <a:endParaRPr lang="en-US" altLang="zh-CN" sz="2800"/>
          </a:p>
          <a:p>
            <a:endParaRPr lang="en-US" altLang="zh-CN" sz="2800"/>
          </a:p>
        </p:txBody>
      </p:sp>
      <p:pic>
        <p:nvPicPr>
          <p:cNvPr id="23" name="图片 23" descr="6960934d19cdb9e2c299c1d3d01069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395" y="3552190"/>
            <a:ext cx="7301230" cy="226123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9730" y="228600"/>
            <a:ext cx="10947400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函数</a:t>
            </a:r>
            <a:endParaRPr lang="zh-CN" altLang="en-US" sz="3200" b="1"/>
          </a:p>
          <a:p>
            <a:r>
              <a:rPr lang="zh-CN" altLang="en-US" sz="2800" b="1"/>
              <a:t>1 函数介绍</a:t>
            </a:r>
            <a:endParaRPr lang="zh-CN" altLang="en-US" sz="2800" b="1"/>
          </a:p>
          <a:p>
            <a:r>
              <a:rPr lang="en-US" altLang="zh-CN" sz="2800"/>
              <a:t>shell </a:t>
            </a:r>
            <a:r>
              <a:rPr lang="zh-CN" altLang="en-US" sz="2800"/>
              <a:t>编程和其它编程语言一样，有系统函数，也可以自定义函数。</a:t>
            </a:r>
            <a:endParaRPr lang="en-US" altLang="zh-CN" sz="2800"/>
          </a:p>
          <a:p>
            <a:r>
              <a:rPr lang="zh-CN" altLang="en-US" sz="2800" b="1"/>
              <a:t>2 系统函数</a:t>
            </a:r>
            <a:endParaRPr lang="zh-CN" altLang="en-US" sz="2800" b="1"/>
          </a:p>
          <a:p>
            <a:r>
              <a:rPr lang="zh-CN" altLang="en-US" sz="2800">
                <a:sym typeface="+mn-ea"/>
              </a:rPr>
              <a:t>系统函数中，我们这里就介绍两个。</a:t>
            </a:r>
            <a:endParaRPr lang="en-US" altLang="zh-CN" sz="2800"/>
          </a:p>
          <a:p>
            <a:r>
              <a:rPr lang="en-US" altLang="zh-CN" sz="2800" b="1"/>
              <a:t>1.basename </a:t>
            </a:r>
            <a:r>
              <a:rPr lang="zh-CN" altLang="en-US" sz="2800" b="1"/>
              <a:t>基本语法</a:t>
            </a:r>
            <a:endParaRPr lang="zh-CN" altLang="en-US" sz="2800" b="1"/>
          </a:p>
          <a:p>
            <a:r>
              <a:rPr lang="zh-CN" altLang="en-US" sz="2800"/>
              <a:t>功能：返回完整路径最后</a:t>
            </a:r>
            <a:r>
              <a:rPr lang="zh-CN" altLang="en-US" sz="2800" b="1"/>
              <a:t> /  </a:t>
            </a:r>
            <a:r>
              <a:rPr lang="zh-CN" altLang="en-US" sz="2800"/>
              <a:t>的部分，常用于获取文件名</a:t>
            </a:r>
            <a:endParaRPr lang="zh-CN" altLang="en-US" sz="2800"/>
          </a:p>
          <a:p>
            <a:r>
              <a:rPr lang="en-US" altLang="zh-CN" sz="2800"/>
              <a:t>basename [pathname] [suffix]</a:t>
            </a:r>
            <a:endParaRPr lang="en-US" altLang="zh-CN" sz="2800"/>
          </a:p>
          <a:p>
            <a:r>
              <a:rPr lang="en-US" altLang="zh-CN" sz="2800"/>
              <a:t>basename [string] [suffix]      </a:t>
            </a:r>
            <a:endParaRPr lang="en-US" altLang="zh-CN" sz="2800"/>
          </a:p>
          <a:p>
            <a:r>
              <a:rPr lang="zh-CN" altLang="en-US" sz="2800" b="1"/>
              <a:t>功能描述</a:t>
            </a:r>
            <a:r>
              <a:rPr lang="zh-CN" altLang="en-US" sz="2800"/>
              <a:t>：</a:t>
            </a:r>
            <a:r>
              <a:rPr lang="en-US" altLang="zh-CN" sz="2800"/>
              <a:t>basename </a:t>
            </a:r>
            <a:r>
              <a:rPr lang="zh-CN" altLang="en-US" sz="2800"/>
              <a:t>命令会删掉所有的前缀包括最后一个（‘/’）字符，然后将剩余的字符串（文件名）显示出来。</a:t>
            </a:r>
            <a:endParaRPr lang="zh-CN" altLang="en-US" sz="2800"/>
          </a:p>
          <a:p>
            <a:r>
              <a:rPr lang="zh-CN" altLang="en-US" sz="2800"/>
              <a:t>选项：</a:t>
            </a:r>
            <a:endParaRPr lang="zh-CN" altLang="en-US" sz="2800"/>
          </a:p>
          <a:p>
            <a:r>
              <a:rPr lang="en-US" altLang="zh-CN" sz="2800"/>
              <a:t>suffix </a:t>
            </a:r>
            <a:r>
              <a:rPr lang="zh-CN" altLang="en-US" sz="2800"/>
              <a:t>为后缀，如果 </a:t>
            </a:r>
            <a:r>
              <a:rPr lang="en-US" altLang="zh-CN" sz="2800"/>
              <a:t>suffix </a:t>
            </a:r>
            <a:r>
              <a:rPr lang="zh-CN" altLang="en-US" sz="2800"/>
              <a:t>被指定了，</a:t>
            </a:r>
            <a:r>
              <a:rPr lang="en-US" altLang="zh-CN" sz="2800"/>
              <a:t>basename </a:t>
            </a:r>
            <a:r>
              <a:rPr lang="zh-CN" altLang="en-US" sz="2800"/>
              <a:t>会将 </a:t>
            </a:r>
            <a:r>
              <a:rPr lang="en-US" altLang="zh-CN" sz="2800"/>
              <a:t>suffix </a:t>
            </a:r>
            <a:r>
              <a:rPr lang="zh-CN" altLang="en-US" sz="2800"/>
              <a:t>去掉，只留文件名。</a:t>
            </a:r>
            <a:endParaRPr lang="zh-CN" altLang="en-US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8770" y="362585"/>
            <a:ext cx="1030859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应用实例</a:t>
            </a:r>
            <a:endParaRPr lang="zh-CN" altLang="en-US" sz="2800"/>
          </a:p>
          <a:p>
            <a:r>
              <a:rPr lang="zh-CN" altLang="en-US" sz="2800"/>
              <a:t>案例 1 ：请返回 /</a:t>
            </a:r>
            <a:r>
              <a:rPr lang="en-US" altLang="zh-CN" sz="2800"/>
              <a:t>home/aaa/test.txt  </a:t>
            </a:r>
            <a:r>
              <a:rPr lang="zh-CN" altLang="en-US" sz="2800"/>
              <a:t>的 "</a:t>
            </a:r>
            <a:r>
              <a:rPr lang="en-US" altLang="zh-CN" sz="2800"/>
              <a:t>test.txt"  </a:t>
            </a:r>
            <a:r>
              <a:rPr lang="zh-CN" altLang="en-US" sz="2800"/>
              <a:t>部分</a:t>
            </a:r>
            <a:endParaRPr lang="zh-CN" altLang="en-US" sz="2800"/>
          </a:p>
          <a:p>
            <a:r>
              <a:rPr lang="en-US" altLang="zh-CN" sz="2800"/>
              <a:t>basename /home/aaa/test.txt</a:t>
            </a:r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把路径拿掉，返回文件名部分，加上后缀，就只返回文件名</a:t>
            </a:r>
            <a:endParaRPr lang="zh-CN" altLang="en-US" sz="2800"/>
          </a:p>
        </p:txBody>
      </p:sp>
      <p:pic>
        <p:nvPicPr>
          <p:cNvPr id="26" name="图片 26" descr="d78a3b49df2a308f05850f60f81bbad8"/>
          <p:cNvPicPr>
            <a:picLocks noChangeAspect="1"/>
          </p:cNvPicPr>
          <p:nvPr/>
        </p:nvPicPr>
        <p:blipFill>
          <a:blip r:embed="rId1"/>
          <a:srcRect r="6280"/>
          <a:stretch>
            <a:fillRect/>
          </a:stretch>
        </p:blipFill>
        <p:spPr>
          <a:xfrm>
            <a:off x="547370" y="1837055"/>
            <a:ext cx="8657590" cy="197929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36220" y="393065"/>
            <a:ext cx="1136777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dirname </a:t>
            </a:r>
            <a:r>
              <a:rPr lang="zh-CN" altLang="en-US" sz="2800" b="1"/>
              <a:t>基本语法</a:t>
            </a:r>
            <a:endParaRPr lang="zh-CN" altLang="en-US" sz="2800" b="1"/>
          </a:p>
          <a:p>
            <a:r>
              <a:rPr lang="zh-CN" altLang="en-US" sz="2800" b="1"/>
              <a:t>功能：</a:t>
            </a:r>
            <a:r>
              <a:rPr lang="zh-CN" altLang="en-US" sz="2800"/>
              <a:t>返回完整路径最后 /  的前面的部分，常用于返回路径部分</a:t>
            </a:r>
            <a:endParaRPr lang="zh-CN" altLang="en-US" sz="2800"/>
          </a:p>
          <a:p>
            <a:r>
              <a:rPr lang="en-US" altLang="zh-CN" sz="2800"/>
              <a:t>dirname  </a:t>
            </a:r>
            <a:r>
              <a:rPr lang="zh-CN" altLang="en-US" sz="2800"/>
              <a:t>文件绝对路径 </a:t>
            </a:r>
            <a:endParaRPr lang="zh-CN" altLang="en-US" sz="2800"/>
          </a:p>
          <a:p>
            <a:r>
              <a:rPr lang="zh-CN" altLang="en-US" sz="2800" b="1"/>
              <a:t>功能描述：</a:t>
            </a:r>
            <a:r>
              <a:rPr lang="zh-CN" altLang="en-US" sz="2800"/>
              <a:t>从给定的包含绝对路径的文件名中去除文件名（非目录的部分），然后返回剩下的路径（ 目录的部分）</a:t>
            </a:r>
            <a:endParaRPr lang="zh-CN" altLang="en-US" sz="2800"/>
          </a:p>
          <a:p>
            <a:r>
              <a:rPr lang="zh-CN" altLang="en-US" sz="2800" b="1"/>
              <a:t>  应用实例</a:t>
            </a:r>
            <a:endParaRPr lang="zh-CN" altLang="en-US" sz="2800" b="1"/>
          </a:p>
          <a:p>
            <a:r>
              <a:rPr lang="zh-CN" altLang="en-US" sz="2800"/>
              <a:t>案例 1 ：请返回 /</a:t>
            </a:r>
            <a:r>
              <a:rPr lang="en-US" altLang="zh-CN" sz="2800"/>
              <a:t>home/aaa/test.txt  </a:t>
            </a:r>
            <a:r>
              <a:rPr lang="zh-CN" altLang="en-US" sz="2800"/>
              <a:t>的 /</a:t>
            </a:r>
            <a:r>
              <a:rPr lang="en-US" altLang="zh-CN" sz="2800"/>
              <a:t>home/aaa</a:t>
            </a:r>
            <a:endParaRPr lang="en-US" altLang="zh-CN" sz="2800"/>
          </a:p>
          <a:p>
            <a:r>
              <a:rPr lang="en-US" altLang="zh-CN" sz="2800"/>
              <a:t>dirname /home/aaa/test.txt</a:t>
            </a:r>
            <a:endParaRPr lang="en-US" altLang="zh-CN" sz="2800"/>
          </a:p>
        </p:txBody>
      </p:sp>
      <p:pic>
        <p:nvPicPr>
          <p:cNvPr id="28" name="图片 28" descr="41b3b8e24ef649e0c83ce6017f2f7c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270" y="4147820"/>
            <a:ext cx="9902825" cy="20612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7975" y="321310"/>
            <a:ext cx="926973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自定义函数</a:t>
            </a:r>
            <a:endParaRPr lang="zh-CN" altLang="en-US" sz="3200" b="1"/>
          </a:p>
          <a:p>
            <a:r>
              <a:rPr lang="zh-CN" altLang="en-US" sz="3200"/>
              <a:t>  </a:t>
            </a:r>
            <a:r>
              <a:rPr lang="zh-CN" altLang="en-US" sz="3200" b="1"/>
              <a:t>基本语法</a:t>
            </a:r>
            <a:endParaRPr lang="zh-CN" altLang="en-US" sz="3200" b="1"/>
          </a:p>
          <a:p>
            <a:r>
              <a:rPr lang="en-US" altLang="zh-CN" sz="3200"/>
              <a:t> function  funname()</a:t>
            </a:r>
            <a:endParaRPr lang="en-US" altLang="zh-CN" sz="3200"/>
          </a:p>
          <a:p>
            <a:r>
              <a:rPr lang="en-US" altLang="zh-CN" sz="3200"/>
              <a:t>{</a:t>
            </a:r>
            <a:endParaRPr lang="en-US" altLang="zh-CN" sz="3200"/>
          </a:p>
          <a:p>
            <a:r>
              <a:rPr lang="en-US" altLang="zh-CN" sz="3200"/>
              <a:t>Action;</a:t>
            </a:r>
            <a:endParaRPr lang="en-US" altLang="zh-CN" sz="3200"/>
          </a:p>
          <a:p>
            <a:r>
              <a:rPr lang="en-US" altLang="zh-CN" sz="3200"/>
              <a:t>[return int;] </a:t>
            </a:r>
            <a:endParaRPr lang="en-US" altLang="zh-CN" sz="3200"/>
          </a:p>
          <a:p>
            <a:r>
              <a:rPr lang="en-US" altLang="zh-CN" sz="3200"/>
              <a:t>}</a:t>
            </a:r>
            <a:endParaRPr lang="en-US" altLang="zh-CN" sz="3200"/>
          </a:p>
          <a:p>
            <a:endParaRPr lang="en-US" altLang="zh-CN" sz="3200"/>
          </a:p>
          <a:p>
            <a:r>
              <a:rPr lang="zh-CN" altLang="en-US" sz="3200"/>
              <a:t>调用直接写函数名：</a:t>
            </a:r>
            <a:r>
              <a:rPr lang="en-US" altLang="zh-CN" sz="3200"/>
              <a:t>funname    [</a:t>
            </a:r>
            <a:r>
              <a:rPr lang="zh-CN" altLang="en-US" sz="3200"/>
              <a:t>值]</a:t>
            </a:r>
            <a:endParaRPr lang="zh-CN" altLang="en-US" sz="3200"/>
          </a:p>
          <a:p>
            <a:endParaRPr lang="zh-CN" altLang="en-US" sz="3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8610" y="207645"/>
            <a:ext cx="1070038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vim testFun.sh</a:t>
            </a:r>
            <a:endParaRPr lang="en-US" altLang="zh-CN" sz="2400"/>
          </a:p>
          <a:p>
            <a:r>
              <a:rPr lang="en-US" altLang="zh-CN" sz="2400"/>
              <a:t>chmod u+x testFun.sh</a:t>
            </a:r>
            <a:endParaRPr lang="en-US" altLang="zh-CN" sz="2400"/>
          </a:p>
          <a:p>
            <a:r>
              <a:rPr lang="en-US" altLang="zh-CN" sz="2400" b="1"/>
              <a:t>testFun.sh</a:t>
            </a:r>
            <a:r>
              <a:rPr lang="zh-CN" altLang="en-US" sz="2400" b="1"/>
              <a:t>文件内容：</a:t>
            </a:r>
            <a:endParaRPr lang="zh-CN" altLang="en-US" sz="2400" b="1"/>
          </a:p>
          <a:p>
            <a:r>
              <a:rPr lang="en-US" altLang="zh-CN" sz="2400"/>
              <a:t>#!/bin/bash</a:t>
            </a:r>
            <a:endParaRPr lang="en-US" altLang="zh-CN" sz="2400"/>
          </a:p>
          <a:p>
            <a:r>
              <a:rPr lang="zh-CN" altLang="en-US" sz="2400"/>
              <a:t># 函数传参（使用$1 $2）</a:t>
            </a:r>
            <a:endParaRPr lang="zh-CN" altLang="en-US" sz="2400"/>
          </a:p>
          <a:p>
            <a:r>
              <a:rPr lang="en-US" altLang="zh-CN" sz="2400"/>
              <a:t>function getSum() {</a:t>
            </a:r>
            <a:endParaRPr lang="en-US" altLang="zh-CN" sz="2400"/>
          </a:p>
          <a:p>
            <a:r>
              <a:rPr lang="zh-CN" altLang="en-US" sz="2400"/>
              <a:t>    # 用$1接收第一个参数，$2接收第二个参数</a:t>
            </a:r>
            <a:endParaRPr lang="zh-CN" altLang="en-US" sz="2400"/>
          </a:p>
          <a:p>
            <a:r>
              <a:rPr lang="en-US" altLang="zh-CN" sz="2400"/>
              <a:t>   local SUM=$[$1 + $2]</a:t>
            </a:r>
            <a:endParaRPr lang="en-US" altLang="zh-CN" sz="2400"/>
          </a:p>
          <a:p>
            <a:r>
              <a:rPr lang="en-US" altLang="zh-CN" sz="2400"/>
              <a:t>    echo "</a:t>
            </a:r>
            <a:r>
              <a:rPr lang="zh-CN" altLang="en-US" sz="2400"/>
              <a:t>和是=$</a:t>
            </a:r>
            <a:r>
              <a:rPr lang="en-US" altLang="zh-CN" sz="2400"/>
              <a:t>SUM"</a:t>
            </a:r>
            <a:endParaRPr lang="en-US" altLang="zh-CN" sz="2400"/>
          </a:p>
          <a:p>
            <a:r>
              <a:rPr lang="en-US" altLang="zh-CN" sz="2400"/>
              <a:t>}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# 输入两个值（用户动态输入）</a:t>
            </a:r>
            <a:endParaRPr lang="zh-CN" altLang="en-US" sz="2400"/>
          </a:p>
          <a:p>
            <a:r>
              <a:rPr lang="en-US" altLang="zh-CN" sz="2400"/>
              <a:t>read -p "</a:t>
            </a:r>
            <a:r>
              <a:rPr lang="zh-CN" altLang="en-US" sz="2400"/>
              <a:t>请输入一个数</a:t>
            </a:r>
            <a:r>
              <a:rPr lang="en-US" altLang="zh-CN" sz="2400"/>
              <a:t>n1=" n1</a:t>
            </a:r>
            <a:endParaRPr lang="en-US" altLang="zh-CN" sz="2400"/>
          </a:p>
          <a:p>
            <a:r>
              <a:rPr lang="en-US" altLang="zh-CN" sz="2400"/>
              <a:t>read -p "</a:t>
            </a:r>
            <a:r>
              <a:rPr lang="zh-CN" altLang="en-US" sz="2400"/>
              <a:t>请输入一个数</a:t>
            </a:r>
            <a:r>
              <a:rPr lang="en-US" altLang="zh-CN" sz="2400"/>
              <a:t>n2=" n2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# 调用函数，把变量值传给函数</a:t>
            </a:r>
            <a:endParaRPr lang="zh-CN" altLang="en-US" sz="2400"/>
          </a:p>
          <a:p>
            <a:r>
              <a:rPr lang="en-US" altLang="zh-CN" sz="2400"/>
              <a:t>getSum $n1 $n2</a:t>
            </a:r>
            <a:endParaRPr lang="en-US" altLang="zh-CN" sz="2400"/>
          </a:p>
        </p:txBody>
      </p:sp>
      <p:sp>
        <p:nvSpPr>
          <p:cNvPr id="5" name="文本框 4"/>
          <p:cNvSpPr txBox="1"/>
          <p:nvPr/>
        </p:nvSpPr>
        <p:spPr>
          <a:xfrm>
            <a:off x="7480300" y="274955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local</a:t>
            </a:r>
            <a:r>
              <a:rPr lang="zh-CN" altLang="en-US" sz="2800" b="1">
                <a:sym typeface="+mn-ea"/>
              </a:rPr>
              <a:t>用来声明局部变量</a:t>
            </a:r>
            <a:endParaRPr lang="zh-CN" altLang="en-US" sz="2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5166</Words>
  <Application>WPS 演示</Application>
  <PresentationFormat>宽屏</PresentationFormat>
  <Paragraphs>383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于耀淞</dc:creator>
  <cp:lastModifiedBy>Administrator</cp:lastModifiedBy>
  <cp:revision>14</cp:revision>
  <dcterms:created xsi:type="dcterms:W3CDTF">2023-08-09T12:44:00Z</dcterms:created>
  <dcterms:modified xsi:type="dcterms:W3CDTF">2026-04-27T01:21:44Z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97AD5D2FDDFC4D08B252D6C5D8FBE5DE_12</vt:lpwstr>
  </property>
</Properties>
</file>