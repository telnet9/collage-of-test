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8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passdb backend = tdbsam  //</a:t>
            </a:r>
            <a:r>
              <a:rPr lang="zh-CN" altLang="en-US"/>
              <a:t>指定用户密码数据库的后端存储方式</a:t>
            </a:r>
            <a:endParaRPr lang="en-US" altLang="zh-CN"/>
          </a:p>
          <a:p>
            <a:r>
              <a:rPr lang="en-US" altLang="zh-CN"/>
              <a:t> //</a:t>
            </a:r>
            <a:r>
              <a:rPr lang="zh-CN" altLang="en-US"/>
              <a:t>下边是与打印机相关的配置</a:t>
            </a:r>
            <a:r>
              <a:rPr lang="en-US" altLang="zh-CN"/>
              <a:t> </a:t>
            </a:r>
            <a:r>
              <a:rPr lang="zh-CN" altLang="en-US"/>
              <a:t>忽略</a:t>
            </a:r>
            <a:endParaRPr lang="en-US" altLang="zh-CN"/>
          </a:p>
          <a:p>
            <a:r>
              <a:rPr lang="en-US" altLang="zh-CN"/>
              <a:t>        printing = cups</a:t>
            </a:r>
            <a:endParaRPr lang="en-US" altLang="zh-CN"/>
          </a:p>
          <a:p>
            <a:r>
              <a:rPr lang="en-US" altLang="zh-CN"/>
              <a:t>        printcap name = cups</a:t>
            </a:r>
            <a:endParaRPr lang="en-US" altLang="zh-CN"/>
          </a:p>
          <a:p>
            <a:r>
              <a:rPr lang="en-US" altLang="zh-CN"/>
              <a:t>        load printers = yes</a:t>
            </a:r>
            <a:endParaRPr lang="en-US" altLang="zh-CN"/>
          </a:p>
          <a:p>
            <a:r>
              <a:rPr lang="en-US" altLang="zh-CN"/>
              <a:t>        cups options = raw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58135" y="2506980"/>
            <a:ext cx="6746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5400"/>
              <a:t>Samba </a:t>
            </a:r>
            <a:r>
              <a:rPr lang="zh-CN" altLang="en-US" sz="5400"/>
              <a:t>服务配置</a:t>
            </a:r>
            <a:endParaRPr lang="zh-CN" altLang="en-US" sz="5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49935" y="513715"/>
            <a:ext cx="10154920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3200" b="1"/>
              <a:t>1.1 Samba </a:t>
            </a:r>
            <a:r>
              <a:rPr lang="zh-CN" altLang="en-US" sz="3200" b="1"/>
              <a:t>概述</a:t>
            </a:r>
            <a:endParaRPr lang="zh-CN" altLang="en-US" sz="3200" b="1"/>
          </a:p>
          <a:p>
            <a:pPr algn="just"/>
            <a:endParaRPr lang="zh-CN" altLang="en-US" sz="3200" b="1"/>
          </a:p>
          <a:p>
            <a:pPr algn="just"/>
            <a:r>
              <a:rPr lang="en-US" altLang="zh-CN" sz="3200"/>
              <a:t>        Samba </a:t>
            </a:r>
            <a:r>
              <a:rPr lang="zh-CN" altLang="en-US" sz="3200"/>
              <a:t>最先在</a:t>
            </a:r>
            <a:r>
              <a:rPr lang="en-US" altLang="zh-CN" sz="3200"/>
              <a:t>Linux </a:t>
            </a:r>
            <a:r>
              <a:rPr lang="zh-CN" altLang="en-US" sz="3200"/>
              <a:t>和</a:t>
            </a:r>
            <a:r>
              <a:rPr lang="en-US" altLang="zh-CN" sz="3200"/>
              <a:t>Windows </a:t>
            </a:r>
            <a:r>
              <a:rPr lang="zh-CN" altLang="en-US" sz="3200"/>
              <a:t>两个平台之间架起了一座桥梁，正是由于</a:t>
            </a:r>
            <a:r>
              <a:rPr lang="en-US" altLang="zh-CN" sz="3200"/>
              <a:t>Samba </a:t>
            </a:r>
            <a:r>
              <a:rPr lang="zh-CN" altLang="en-US" sz="3200"/>
              <a:t>的出现，我们可以在</a:t>
            </a:r>
            <a:r>
              <a:rPr lang="en-US" altLang="zh-CN" sz="3200"/>
              <a:t>Linux </a:t>
            </a:r>
            <a:r>
              <a:rPr lang="zh-CN" altLang="en-US" sz="3200"/>
              <a:t>系统和</a:t>
            </a:r>
            <a:r>
              <a:rPr lang="en-US" altLang="zh-CN" sz="3200"/>
              <a:t>Windows </a:t>
            </a:r>
            <a:r>
              <a:rPr lang="zh-CN" altLang="en-US" sz="3200"/>
              <a:t>系统之间互相</a:t>
            </a:r>
            <a:r>
              <a:rPr lang="zh-CN" altLang="en-US" sz="3200" b="1"/>
              <a:t>通信</a:t>
            </a:r>
            <a:r>
              <a:rPr lang="zh-CN" altLang="en-US" sz="3200"/>
              <a:t>，比如拷贝文件、实现不同操作系统之间的资源共享等等，我们可以将其架设成一个功能非常强大的文件服务器，也可以将其架设成</a:t>
            </a:r>
            <a:r>
              <a:rPr lang="zh-CN" altLang="en-US" sz="3200" b="1"/>
              <a:t>打印</a:t>
            </a:r>
            <a:r>
              <a:rPr lang="zh-CN" altLang="en-US" sz="3200"/>
              <a:t>服务器提供本地和远程联机打印。</a:t>
            </a:r>
            <a:endParaRPr lang="zh-CN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97510" y="412750"/>
            <a:ext cx="1085024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1.2 Samba </a:t>
            </a:r>
            <a:r>
              <a:rPr lang="zh-CN" altLang="en-US" sz="2400" b="1"/>
              <a:t>应用环境</a:t>
            </a:r>
            <a:endParaRPr lang="zh-CN" altLang="en-US" sz="2400" b="1"/>
          </a:p>
          <a:p>
            <a:endParaRPr lang="zh-CN" altLang="en-US" sz="2400"/>
          </a:p>
          <a:p>
            <a:r>
              <a:rPr lang="zh-CN" altLang="en-US" sz="2400" b="1"/>
              <a:t>文件和打印机共享：</a:t>
            </a:r>
            <a:r>
              <a:rPr lang="zh-CN" altLang="en-US" sz="2400"/>
              <a:t>文件和打印机共享是</a:t>
            </a:r>
            <a:r>
              <a:rPr lang="en-US" altLang="zh-CN" sz="2400"/>
              <a:t>Samba </a:t>
            </a:r>
            <a:r>
              <a:rPr lang="zh-CN" altLang="en-US" sz="2400"/>
              <a:t>的主要功能，</a:t>
            </a:r>
            <a:r>
              <a:rPr lang="en-US" altLang="zh-CN" sz="2400"/>
              <a:t>SMB </a:t>
            </a:r>
            <a:r>
              <a:rPr lang="zh-CN" altLang="en-US" sz="2400"/>
              <a:t>进程实现资源共享，将文件和打印机发布到网络之中，以供用户可以访问。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 b="1"/>
              <a:t>身份验证和权限设置：</a:t>
            </a:r>
            <a:r>
              <a:rPr lang="en-US" altLang="zh-CN" sz="2400"/>
              <a:t>smbd </a:t>
            </a:r>
            <a:r>
              <a:rPr lang="zh-CN" altLang="en-US" sz="2400"/>
              <a:t>服务支持身份验证和权限设置模式，通过加密方式可以保护共享的文件和打印机。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 b="1"/>
              <a:t>名称解析：</a:t>
            </a:r>
            <a:r>
              <a:rPr lang="en-US" altLang="zh-CN" sz="2400"/>
              <a:t>Samba </a:t>
            </a:r>
            <a:r>
              <a:rPr lang="zh-CN" altLang="en-US" sz="2400"/>
              <a:t>通过</a:t>
            </a:r>
            <a:r>
              <a:rPr lang="en-US" altLang="zh-CN" sz="2400"/>
              <a:t>nmbd </a:t>
            </a:r>
            <a:r>
              <a:rPr lang="zh-CN" altLang="en-US" sz="2400"/>
              <a:t>服务可以搭建 </a:t>
            </a:r>
            <a:r>
              <a:rPr lang="en-US" altLang="zh-CN" sz="2400"/>
              <a:t>NBNS(NetBIOS Name Service)</a:t>
            </a:r>
            <a:r>
              <a:rPr lang="zh-CN" altLang="en-US" sz="2400"/>
              <a:t>服务器，提供名称解析，将计算机的 </a:t>
            </a:r>
            <a:r>
              <a:rPr lang="en-US" altLang="zh-CN" sz="2400"/>
              <a:t>NetBIOS </a:t>
            </a:r>
            <a:r>
              <a:rPr lang="zh-CN" altLang="en-US" sz="2400"/>
              <a:t>名解析为</a:t>
            </a:r>
            <a:r>
              <a:rPr lang="en-US" altLang="zh-CN" sz="2400"/>
              <a:t>IP</a:t>
            </a:r>
            <a:r>
              <a:rPr lang="zh-CN" altLang="en-US" sz="2400"/>
              <a:t>地址。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 b="1"/>
              <a:t>浏览服务：</a:t>
            </a:r>
            <a:r>
              <a:rPr lang="zh-CN" altLang="en-US" sz="2400"/>
              <a:t>局域网中，</a:t>
            </a:r>
            <a:r>
              <a:rPr lang="en-US" altLang="zh-CN" sz="2400"/>
              <a:t>Samba </a:t>
            </a:r>
            <a:r>
              <a:rPr lang="zh-CN" altLang="en-US" sz="2400"/>
              <a:t>服务器可以成为本地主浏览服务器(</a:t>
            </a:r>
            <a:r>
              <a:rPr lang="en-US" altLang="zh-CN" sz="2400"/>
              <a:t>LMB)，</a:t>
            </a:r>
            <a:r>
              <a:rPr lang="zh-CN" altLang="en-US" sz="2400"/>
              <a:t>保存可用资源列表，当使用客户端访问 </a:t>
            </a:r>
            <a:r>
              <a:rPr lang="en-US" altLang="zh-CN" sz="2400"/>
              <a:t>Windows </a:t>
            </a:r>
            <a:r>
              <a:rPr lang="zh-CN" altLang="en-US" sz="2400"/>
              <a:t>网上邻居时，会提供浏览列表，显示共享目录、打印机等资源。当使用客户端访问 </a:t>
            </a:r>
            <a:r>
              <a:rPr lang="en-US" altLang="zh-CN" sz="2400"/>
              <a:t>Windows </a:t>
            </a:r>
            <a:r>
              <a:rPr lang="zh-CN" altLang="en-US" sz="2400"/>
              <a:t>网上邻居时，会提供浏览列表，显示共享目录、打印机等资源。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30250" y="483235"/>
            <a:ext cx="967105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1.3samba</a:t>
            </a:r>
            <a:r>
              <a:rPr lang="zh-CN" altLang="en-US" sz="3200" b="1"/>
              <a:t>端口号</a:t>
            </a:r>
            <a:endParaRPr lang="zh-CN" altLang="en-US" sz="3200" b="1"/>
          </a:p>
          <a:p>
            <a:endParaRPr lang="zh-CN" altLang="en-US" sz="3200"/>
          </a:p>
          <a:p>
            <a:r>
              <a:rPr lang="zh-CN" altLang="en-US" sz="3200"/>
              <a:t>端口号是139 和 445</a:t>
            </a:r>
            <a:endParaRPr lang="zh-CN" altLang="en-US" sz="3200"/>
          </a:p>
          <a:p>
            <a:r>
              <a:rPr lang="zh-CN" altLang="en-US" sz="3200"/>
              <a:t>在早期，</a:t>
            </a:r>
            <a:r>
              <a:rPr lang="en-US" altLang="zh-CN" sz="3200"/>
              <a:t>SMB </a:t>
            </a:r>
            <a:r>
              <a:rPr lang="zh-CN" altLang="en-US" sz="3200"/>
              <a:t>运行于</a:t>
            </a:r>
            <a:r>
              <a:rPr lang="en-US" altLang="zh-CN" sz="3200"/>
              <a:t>NBT </a:t>
            </a:r>
            <a:r>
              <a:rPr lang="zh-CN" altLang="en-US" sz="3200"/>
              <a:t>协议(</a:t>
            </a:r>
            <a:r>
              <a:rPr lang="en-US" altLang="zh-CN" sz="3200"/>
              <a:t>NetBIOS over TCP/IP)</a:t>
            </a:r>
            <a:r>
              <a:rPr lang="zh-CN" altLang="en-US" sz="3200"/>
              <a:t>上，使用</a:t>
            </a:r>
            <a:r>
              <a:rPr lang="en-US" altLang="zh-CN" sz="3200"/>
              <a:t>UDP </a:t>
            </a:r>
            <a:r>
              <a:rPr lang="zh-CN" altLang="en-US" sz="3200"/>
              <a:t>协议的137、138 及</a:t>
            </a:r>
            <a:r>
              <a:rPr lang="en-US" altLang="zh-CN" sz="3200"/>
              <a:t>TCP </a:t>
            </a:r>
            <a:r>
              <a:rPr lang="zh-CN" altLang="en-US" sz="3200"/>
              <a:t>协议的139 端口。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1106170" y="320675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vim /etc/services</a:t>
            </a:r>
            <a:endParaRPr lang="en-US" altLang="zh-CN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6550" y="393065"/>
            <a:ext cx="11304270" cy="4461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1.4安装</a:t>
            </a:r>
            <a:endParaRPr lang="zh-CN" altLang="en-US" sz="3200" b="1"/>
          </a:p>
          <a:p>
            <a:endParaRPr lang="zh-CN" altLang="en-US" sz="2800"/>
          </a:p>
          <a:p>
            <a:r>
              <a:rPr lang="zh-CN" altLang="en-US" sz="3200"/>
              <a:t>直接使用 </a:t>
            </a:r>
            <a:r>
              <a:rPr lang="en-US" altLang="zh-CN" sz="3200"/>
              <a:t>rpm </a:t>
            </a:r>
            <a:r>
              <a:rPr lang="zh-CN" altLang="en-US" sz="3200"/>
              <a:t>安装 </a:t>
            </a:r>
            <a:r>
              <a:rPr lang="en-US" altLang="zh-CN" sz="3200"/>
              <a:t>Samba </a:t>
            </a:r>
            <a:r>
              <a:rPr lang="zh-CN" altLang="en-US" sz="3200"/>
              <a:t>非常不便，因为其依赖关系十分复杂。通常我们会借助 </a:t>
            </a:r>
            <a:r>
              <a:rPr lang="en-US" altLang="zh-CN" sz="3200"/>
              <a:t>yum </a:t>
            </a:r>
            <a:r>
              <a:rPr lang="zh-CN" altLang="en-US" sz="3200"/>
              <a:t>自动处理这些依赖，但官方 </a:t>
            </a:r>
            <a:r>
              <a:rPr lang="en-US" altLang="zh-CN" sz="3200"/>
              <a:t>yum </a:t>
            </a:r>
            <a:r>
              <a:rPr lang="zh-CN" altLang="en-US" sz="3200"/>
              <a:t>源已不再更新，无法直接在线安装。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不过，我们手中的 </a:t>
            </a:r>
            <a:r>
              <a:rPr lang="en-US" altLang="zh-CN" sz="3200"/>
              <a:t>ISO </a:t>
            </a:r>
            <a:r>
              <a:rPr lang="zh-CN" altLang="en-US" sz="3200"/>
              <a:t>镜像包含了固定版本的 </a:t>
            </a:r>
            <a:r>
              <a:rPr lang="en-US" altLang="zh-CN" sz="3200"/>
              <a:t>RPM </a:t>
            </a:r>
            <a:r>
              <a:rPr lang="zh-CN" altLang="en-US" sz="3200"/>
              <a:t>包，利用它搭建本地源来安装 </a:t>
            </a:r>
            <a:r>
              <a:rPr lang="en-US" altLang="zh-CN" sz="3200"/>
              <a:t>Samba，yum </a:t>
            </a:r>
            <a:r>
              <a:rPr lang="zh-CN" altLang="en-US" sz="3200"/>
              <a:t>就能完全自动解决依赖关系，不会出现报错。</a:t>
            </a:r>
            <a:endParaRPr lang="zh-CN" altLang="en-US"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5265" y="135255"/>
            <a:ext cx="6645910" cy="6586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# 1. 挂载光盘</a:t>
            </a:r>
            <a:endParaRPr lang="zh-CN" altLang="en-US" sz="2400"/>
          </a:p>
          <a:p>
            <a:r>
              <a:rPr lang="en-US" altLang="zh-CN" sz="2400"/>
              <a:t>mkdir -p /mnt/cdrom</a:t>
            </a:r>
            <a:endParaRPr lang="en-US" altLang="zh-CN" sz="2400"/>
          </a:p>
          <a:p>
            <a:r>
              <a:rPr lang="en-US" altLang="zh-CN" sz="2400"/>
              <a:t>mount /dev/sr1 /mnt/cdrom</a:t>
            </a:r>
            <a:endParaRPr lang="en-US" altLang="zh-CN" sz="2400"/>
          </a:p>
          <a:p>
            <a:r>
              <a:rPr lang="zh-CN" altLang="en-US" sz="2400"/>
              <a:t># 2. 移走失效官方源，只留本地源</a:t>
            </a:r>
            <a:endParaRPr lang="zh-CN" altLang="en-US" sz="2400"/>
          </a:p>
          <a:p>
            <a:r>
              <a:rPr lang="en-US" altLang="zh-CN" sz="2400"/>
              <a:t>mv /etc/yum.repos.d/CentOS-* /tmp/ 2&gt;/dev/null</a:t>
            </a:r>
            <a:endParaRPr lang="en-US" altLang="zh-CN" sz="2400"/>
          </a:p>
          <a:p>
            <a:r>
              <a:rPr lang="zh-CN" altLang="en-US" sz="2400"/>
              <a:t># 3. 创建本地源配置文件</a:t>
            </a:r>
            <a:endParaRPr lang="zh-CN" altLang="en-US" sz="2400"/>
          </a:p>
          <a:p>
            <a:r>
              <a:rPr lang="en-US" altLang="zh-CN" sz="2400"/>
              <a:t>cat &gt; /etc/yum.repos.d/local.repo &lt;&lt; 'EOF'</a:t>
            </a:r>
            <a:endParaRPr lang="en-US" altLang="zh-CN" sz="2400"/>
          </a:p>
          <a:p>
            <a:r>
              <a:rPr lang="en-US" altLang="zh-CN" sz="2400"/>
              <a:t>[local]</a:t>
            </a:r>
            <a:endParaRPr lang="en-US" altLang="zh-CN" sz="2400"/>
          </a:p>
          <a:p>
            <a:r>
              <a:rPr lang="en-US" altLang="zh-CN" sz="2400"/>
              <a:t>name=Local CentOS 7</a:t>
            </a:r>
            <a:endParaRPr lang="en-US" altLang="zh-CN" sz="2400"/>
          </a:p>
          <a:p>
            <a:r>
              <a:rPr lang="en-US" altLang="zh-CN" sz="2400"/>
              <a:t>baseurl=file:///mnt/cdrom </a:t>
            </a:r>
            <a:endParaRPr lang="en-US" altLang="zh-CN" sz="2400"/>
          </a:p>
          <a:p>
            <a:r>
              <a:rPr lang="en-US" altLang="zh-CN" sz="2400"/>
              <a:t>enabled=1</a:t>
            </a:r>
            <a:endParaRPr lang="en-US" altLang="zh-CN" sz="2400"/>
          </a:p>
          <a:p>
            <a:r>
              <a:rPr lang="en-US" altLang="zh-CN" sz="2400"/>
              <a:t>gpgcheck=0</a:t>
            </a:r>
            <a:endParaRPr lang="en-US" altLang="zh-CN" sz="2400"/>
          </a:p>
          <a:p>
            <a:r>
              <a:rPr lang="en-US" altLang="zh-CN" sz="2400"/>
              <a:t>EOF</a:t>
            </a:r>
            <a:endParaRPr lang="en-US" altLang="zh-CN" sz="2400"/>
          </a:p>
          <a:p>
            <a:r>
              <a:rPr lang="zh-CN" altLang="en-US" sz="2400"/>
              <a:t># 4. 清理并刷新缓存</a:t>
            </a:r>
            <a:endParaRPr lang="zh-CN" altLang="en-US" sz="2400"/>
          </a:p>
          <a:p>
            <a:r>
              <a:rPr lang="en-US" altLang="zh-CN" sz="2400"/>
              <a:t>yum clean all</a:t>
            </a:r>
            <a:endParaRPr lang="en-US" altLang="zh-CN" sz="2400"/>
          </a:p>
          <a:p>
            <a:r>
              <a:rPr lang="en-US" altLang="zh-CN" sz="2400"/>
              <a:t>yum makecache</a:t>
            </a:r>
            <a:endParaRPr lang="en-US" altLang="zh-CN" sz="2400"/>
          </a:p>
          <a:p>
            <a:r>
              <a:rPr lang="zh-CN" altLang="en-US" sz="2400"/>
              <a:t># 5. 安装 </a:t>
            </a:r>
            <a:r>
              <a:rPr lang="en-US" altLang="zh-CN" sz="2400"/>
              <a:t>Samba</a:t>
            </a:r>
            <a:endParaRPr lang="en-US" altLang="zh-CN" sz="2400"/>
          </a:p>
          <a:p>
            <a:r>
              <a:rPr lang="en-US" altLang="zh-CN" sz="2400"/>
              <a:t>yum install -y samba samba-client</a:t>
            </a:r>
            <a:endParaRPr lang="en-US" altLang="zh-CN" sz="2400"/>
          </a:p>
        </p:txBody>
      </p:sp>
      <p:sp>
        <p:nvSpPr>
          <p:cNvPr id="3" name="文本框 2"/>
          <p:cNvSpPr txBox="1"/>
          <p:nvPr/>
        </p:nvSpPr>
        <p:spPr>
          <a:xfrm>
            <a:off x="6952615" y="271780"/>
            <a:ext cx="4980940" cy="701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mv /etc/yum.repos.d/CentOS-* /tmp/ 2&gt;/dev/null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把系统里所有官方的</a:t>
            </a:r>
            <a:r>
              <a:rPr lang="en-US" altLang="zh-CN">
                <a:sym typeface="+mn-ea"/>
              </a:rPr>
              <a:t>YUM</a:t>
            </a:r>
            <a:r>
              <a:rPr lang="zh-CN" altLang="en-US">
                <a:sym typeface="+mn-ea"/>
              </a:rPr>
              <a:t>源配置文件（以</a:t>
            </a:r>
            <a:r>
              <a:rPr lang="en-US" altLang="zh-CN">
                <a:sym typeface="+mn-ea"/>
              </a:rPr>
              <a:t>CentOS-</a:t>
            </a:r>
            <a:r>
              <a:rPr lang="zh-CN" altLang="en-US">
                <a:sym typeface="+mn-ea"/>
              </a:rPr>
              <a:t>开头的）全部移到</a:t>
            </a:r>
            <a:r>
              <a:rPr lang="en-US" altLang="zh-CN">
                <a:sym typeface="+mn-ea"/>
              </a:rPr>
              <a:t>/tmp</a:t>
            </a:r>
            <a:r>
              <a:rPr lang="zh-CN" altLang="en-US">
                <a:sym typeface="+mn-ea"/>
              </a:rPr>
              <a:t>的临时目录中。</a:t>
            </a:r>
            <a:r>
              <a:rPr lang="en-US" altLang="zh-CN">
                <a:sym typeface="+mn-ea"/>
              </a:rPr>
              <a:t>2&gt;</a:t>
            </a:r>
            <a:r>
              <a:rPr lang="zh-CN" altLang="en-US">
                <a:sym typeface="+mn-ea"/>
              </a:rPr>
              <a:t>代表错误信息，</a:t>
            </a:r>
            <a:r>
              <a:rPr lang="en-US" altLang="zh-CN">
                <a:sym typeface="+mn-ea"/>
              </a:rPr>
              <a:t>/dev/null</a:t>
            </a:r>
            <a:r>
              <a:rPr lang="zh-CN" altLang="en-US">
                <a:sym typeface="+mn-ea"/>
              </a:rPr>
              <a:t>代表黑洞，意思是</a:t>
            </a:r>
            <a:r>
              <a:rPr lang="zh-CN" altLang="en-US">
                <a:sym typeface="+mn-ea"/>
              </a:rPr>
              <a:t>不显示任何报错信息。</a:t>
            </a:r>
            <a:endParaRPr lang="en-US" altLang="zh-CN"/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cat Hello &gt;a.txt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cat</a:t>
            </a:r>
            <a:r>
              <a:rPr lang="zh-CN" altLang="en-US">
                <a:sym typeface="+mn-ea"/>
              </a:rPr>
              <a:t>用来显示文件信息，与重定向符号</a:t>
            </a:r>
            <a:r>
              <a:rPr lang="en-US" altLang="zh-CN">
                <a:sym typeface="+mn-ea"/>
              </a:rPr>
              <a:t>&gt;</a:t>
            </a:r>
            <a:r>
              <a:rPr lang="zh-CN" altLang="en-US">
                <a:sym typeface="+mn-ea"/>
              </a:rPr>
              <a:t>一起，表示</a:t>
            </a:r>
            <a:r>
              <a:rPr lang="zh-CN" altLang="en-US">
                <a:sym typeface="+mn-ea"/>
              </a:rPr>
              <a:t>将文件信息覆盖写入到指定文件。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cat &gt; /etc/yum.repos.d/local.repo &lt;&lt; 'EOF'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cat &gt; ............&lt;&lt;’EOF’</a:t>
            </a:r>
            <a:r>
              <a:rPr lang="zh-CN" altLang="en-US">
                <a:sym typeface="+mn-ea"/>
              </a:rPr>
              <a:t>表示将将接下来手动输入（直到单独一行出现 </a:t>
            </a:r>
            <a:r>
              <a:rPr lang="en-US" altLang="zh-CN">
                <a:sym typeface="+mn-ea"/>
              </a:rPr>
              <a:t>EOF）</a:t>
            </a:r>
            <a:r>
              <a:rPr lang="zh-CN" altLang="en-US">
                <a:sym typeface="+mn-ea"/>
              </a:rPr>
              <a:t>的内容，作为输入写入到 /</a:t>
            </a:r>
            <a:r>
              <a:rPr lang="en-US" altLang="zh-CN">
                <a:sym typeface="+mn-ea"/>
              </a:rPr>
              <a:t>etc/yum.repos.d/local.repo </a:t>
            </a:r>
            <a:r>
              <a:rPr lang="zh-CN" altLang="en-US">
                <a:sym typeface="+mn-ea"/>
              </a:rPr>
              <a:t>中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/etc/yum.repos.d/local.repo：yum </a:t>
            </a:r>
            <a:r>
              <a:rPr lang="zh-CN" altLang="en-US"/>
              <a:t>源配置文件存放路径，系统通过这里读取软件仓库信息。</a:t>
            </a:r>
            <a:endParaRPr lang="zh-CN" altLang="en-US"/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[local] </a:t>
            </a:r>
            <a:r>
              <a:rPr lang="zh-CN" altLang="en-US">
                <a:sym typeface="+mn-ea"/>
              </a:rPr>
              <a:t>表示本地源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baseurl=file:///mnt/cdrom  </a:t>
            </a:r>
            <a:r>
              <a:rPr lang="zh-CN" altLang="en-US">
                <a:sym typeface="+mn-ea"/>
              </a:rPr>
              <a:t>仓库地址</a:t>
            </a:r>
            <a:endParaRPr lang="en-US" altLang="zh-CN"/>
          </a:p>
          <a:p>
            <a:r>
              <a:rPr lang="en-US" altLang="zh-CN">
                <a:sym typeface="+mn-ea"/>
              </a:rPr>
              <a:t>enabled=1  </a:t>
            </a:r>
            <a:r>
              <a:rPr lang="zh-CN" altLang="en-US">
                <a:sym typeface="+mn-ea"/>
              </a:rPr>
              <a:t>启动仓库</a:t>
            </a:r>
            <a:endParaRPr lang="en-US" altLang="zh-CN"/>
          </a:p>
          <a:p>
            <a:r>
              <a:rPr lang="en-US" altLang="zh-CN">
                <a:sym typeface="+mn-ea"/>
              </a:rPr>
              <a:t>gpgcheck=0</a:t>
            </a:r>
            <a:r>
              <a:rPr lang="zh-CN" altLang="en-US"/>
              <a:t>关闭 </a:t>
            </a:r>
            <a:r>
              <a:rPr lang="en-US" altLang="zh-CN"/>
              <a:t>GPG </a:t>
            </a:r>
            <a:r>
              <a:rPr lang="zh-CN" altLang="en-US"/>
              <a:t>签名验证，避免因验证失败而无法安装。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70960" y="5379085"/>
            <a:ext cx="26523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6.</a:t>
            </a:r>
            <a:r>
              <a:rPr lang="zh-CN" altLang="en-US"/>
              <a:t>检查是否安装成功</a:t>
            </a:r>
            <a:endParaRPr lang="en-US" altLang="zh-CN"/>
          </a:p>
          <a:p>
            <a:r>
              <a:rPr lang="en-US" altLang="zh-CN"/>
              <a:t>rpm  -qa|grep samba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7030" y="433070"/>
            <a:ext cx="1016508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1.4启动</a:t>
            </a:r>
            <a:r>
              <a:rPr lang="en-US" altLang="zh-CN" sz="2800" b="1"/>
              <a:t>samba</a:t>
            </a:r>
            <a:endParaRPr lang="en-US" altLang="zh-CN" sz="2800" b="1"/>
          </a:p>
          <a:p>
            <a:endParaRPr lang="zh-CN" altLang="en-US" sz="2800"/>
          </a:p>
          <a:p>
            <a:r>
              <a:rPr lang="zh-CN" altLang="en-US" sz="2800"/>
              <a:t>1.关闭防火墙</a:t>
            </a:r>
            <a:endParaRPr lang="zh-CN" altLang="en-US" sz="2800"/>
          </a:p>
          <a:p>
            <a:r>
              <a:rPr lang="en-US" altLang="zh-CN" sz="2800"/>
              <a:t>systemctl stop firewalld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2.关闭</a:t>
            </a:r>
            <a:r>
              <a:rPr lang="en-US" altLang="zh-CN" sz="2800"/>
              <a:t>SELinux</a:t>
            </a:r>
            <a:endParaRPr lang="en-US" altLang="zh-CN" sz="2800"/>
          </a:p>
          <a:p>
            <a:r>
              <a:rPr lang="en-US" altLang="zh-CN" sz="2800"/>
              <a:t>setenforce 0 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3.启动 </a:t>
            </a:r>
            <a:r>
              <a:rPr lang="en-US" altLang="zh-CN" sz="2800"/>
              <a:t>Samba</a:t>
            </a:r>
            <a:endParaRPr lang="en-US" altLang="zh-CN" sz="2800"/>
          </a:p>
          <a:p>
            <a:r>
              <a:rPr lang="en-US" altLang="zh-CN" sz="2800"/>
              <a:t>systemctl start smb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查看</a:t>
            </a:r>
            <a:r>
              <a:rPr lang="en-US" altLang="zh-CN" sz="2800"/>
              <a:t>Samba</a:t>
            </a:r>
            <a:r>
              <a:rPr lang="zh-CN" altLang="en-US" sz="2800"/>
              <a:t>服务当前的监听端口和连接状态</a:t>
            </a:r>
            <a:endParaRPr lang="zh-CN" altLang="en-US" sz="2800"/>
          </a:p>
          <a:p>
            <a:r>
              <a:rPr lang="en-US" altLang="zh-CN" sz="2800"/>
              <a:t>netstat -antpu |grep smb</a:t>
            </a:r>
            <a:endParaRPr lang="en-US" altLang="zh-CN" sz="2800"/>
          </a:p>
          <a:p>
            <a:r>
              <a:rPr lang="zh-CN" altLang="en-US" sz="2800">
                <a:sym typeface="+mn-ea"/>
              </a:rPr>
              <a:t>端口号是139 和 445</a:t>
            </a:r>
            <a:endParaRPr lang="en-US" altLang="zh-CN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6230" y="402590"/>
            <a:ext cx="11617325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1.5</a:t>
            </a:r>
            <a:r>
              <a:rPr lang="zh-CN" altLang="en-US" sz="3200"/>
              <a:t>修改配置文件</a:t>
            </a:r>
            <a:endParaRPr lang="zh-CN" altLang="en-US" sz="3200"/>
          </a:p>
          <a:p>
            <a:endParaRPr lang="en-US" altLang="zh-CN" sz="3200"/>
          </a:p>
          <a:p>
            <a:r>
              <a:rPr lang="en-US" altLang="zh-CN" sz="3200"/>
              <a:t>Samba </a:t>
            </a:r>
            <a:r>
              <a:rPr lang="zh-CN" altLang="en-US" sz="3200"/>
              <a:t>常规服务器配置</a:t>
            </a:r>
            <a:endParaRPr lang="en-US" altLang="zh-CN" sz="3200"/>
          </a:p>
          <a:p>
            <a:r>
              <a:rPr lang="zh-CN" altLang="en-US" sz="3200"/>
              <a:t>基本的</a:t>
            </a:r>
            <a:r>
              <a:rPr lang="en-US" altLang="zh-CN" sz="3200"/>
              <a:t>Samba</a:t>
            </a:r>
            <a:r>
              <a:rPr lang="zh-CN" altLang="en-US" sz="3200"/>
              <a:t>服务器的搭建流程主要分为三个步骤：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3200"/>
              <a:t>[1]编辑主配置文件</a:t>
            </a:r>
            <a:r>
              <a:rPr lang="en-US" altLang="zh-CN" sz="3200"/>
              <a:t>smb.conf, </a:t>
            </a:r>
            <a:r>
              <a:rPr lang="zh-CN" altLang="en-US" sz="3200"/>
              <a:t>指定需要共享的目录，并为共享目录设置共享权限。</a:t>
            </a:r>
            <a:endParaRPr lang="zh-CN" altLang="en-US" sz="3200"/>
          </a:p>
          <a:p>
            <a:r>
              <a:rPr lang="zh-CN" altLang="en-US" sz="3200"/>
              <a:t>[</a:t>
            </a:r>
            <a:r>
              <a:rPr lang="en-US" altLang="zh-CN" sz="3200"/>
              <a:t>2</a:t>
            </a:r>
            <a:r>
              <a:rPr lang="zh-CN" altLang="en-US" sz="3200"/>
              <a:t>]设置共享目录的本地系统权限及</a:t>
            </a:r>
            <a:r>
              <a:rPr lang="en-US" altLang="zh-CN" sz="3200"/>
              <a:t>samba</a:t>
            </a:r>
            <a:r>
              <a:rPr lang="zh-CN" altLang="en-US" sz="3200"/>
              <a:t>共享权限。（要想能上传下载，要设置</a:t>
            </a:r>
            <a:r>
              <a:rPr lang="en-US" altLang="zh-CN" sz="3200"/>
              <a:t>2</a:t>
            </a:r>
            <a:r>
              <a:rPr lang="zh-CN" altLang="en-US" sz="3200"/>
              <a:t>个可写的权限，缺一不可）</a:t>
            </a:r>
            <a:endParaRPr lang="zh-CN" altLang="en-US" sz="3200"/>
          </a:p>
          <a:p>
            <a:r>
              <a:rPr lang="zh-CN" altLang="en-US" sz="3200"/>
              <a:t>[</a:t>
            </a:r>
            <a:r>
              <a:rPr lang="en-US" altLang="zh-CN" sz="3200"/>
              <a:t>3</a:t>
            </a:r>
            <a:r>
              <a:rPr lang="zh-CN" altLang="en-US" sz="3200"/>
              <a:t>]重新加载配置文件或重新启动</a:t>
            </a:r>
            <a:r>
              <a:rPr lang="en-US" altLang="zh-CN" sz="3200"/>
              <a:t>smb </a:t>
            </a:r>
            <a:r>
              <a:rPr lang="zh-CN" altLang="en-US" sz="3200"/>
              <a:t>服务，使配置生效。</a:t>
            </a:r>
            <a:endParaRPr lang="zh-CN" alt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5425" y="335915"/>
            <a:ext cx="11315065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smb.conf </a:t>
            </a:r>
            <a:r>
              <a:rPr lang="zh-CN" altLang="en-US" sz="2800" b="1"/>
              <a:t>是</a:t>
            </a:r>
            <a:r>
              <a:rPr lang="en-US" altLang="zh-CN" sz="2800" b="1"/>
              <a:t>samba</a:t>
            </a:r>
            <a:r>
              <a:rPr lang="zh-CN" altLang="en-US" sz="2800" b="1"/>
              <a:t>的配置文件，</a:t>
            </a:r>
            <a:r>
              <a:rPr lang="zh-CN" altLang="en-US" sz="2800" b="1">
                <a:sym typeface="+mn-ea"/>
              </a:rPr>
              <a:t>下面我们来具体看下</a:t>
            </a:r>
            <a:r>
              <a:rPr lang="en-US" altLang="zh-CN" sz="2800" b="1">
                <a:sym typeface="+mn-ea"/>
              </a:rPr>
              <a:t>smb.conf </a:t>
            </a:r>
            <a:r>
              <a:rPr lang="zh-CN" altLang="en-US" sz="2800" b="1">
                <a:sym typeface="+mn-ea"/>
              </a:rPr>
              <a:t>的内容。</a:t>
            </a:r>
            <a:endParaRPr lang="zh-CN" altLang="en-US" sz="2400" b="1"/>
          </a:p>
          <a:p>
            <a:endParaRPr lang="en-US" altLang="zh-CN" sz="2400"/>
          </a:p>
          <a:p>
            <a:r>
              <a:rPr lang="en-US" altLang="zh-CN" sz="2800"/>
              <a:t>vim /etc/samba/smb.conf</a:t>
            </a:r>
            <a:endParaRPr lang="en-US" altLang="zh-CN" sz="2800"/>
          </a:p>
          <a:p>
            <a:r>
              <a:rPr lang="en-US" altLang="zh-CN" sz="2800" b="1"/>
              <a:t>1.[global] </a:t>
            </a:r>
            <a:r>
              <a:rPr lang="zh-CN" altLang="en-US" sz="2800" b="1"/>
              <a:t>全局</a:t>
            </a:r>
            <a:endParaRPr lang="en-US" altLang="zh-CN" sz="2800" b="1"/>
          </a:p>
          <a:p>
            <a:r>
              <a:rPr lang="zh-CN" altLang="en-US" sz="2800"/>
              <a:t>作用：控制整个 </a:t>
            </a:r>
            <a:r>
              <a:rPr lang="en-US" altLang="zh-CN" sz="2800"/>
              <a:t>Samba </a:t>
            </a:r>
            <a:r>
              <a:rPr lang="zh-CN" altLang="en-US" sz="2800"/>
              <a:t>服务的整体规则，所有共享都会继承这里的设置。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en-US" altLang="zh-CN" sz="2800"/>
              <a:t>workgroup </a:t>
            </a:r>
            <a:r>
              <a:rPr lang="zh-CN" altLang="en-US" sz="2800"/>
              <a:t>工作组。该项配置让你的 </a:t>
            </a:r>
            <a:r>
              <a:rPr lang="en-US" altLang="zh-CN" sz="2800"/>
              <a:t>Linux Samba </a:t>
            </a:r>
            <a:r>
              <a:rPr lang="zh-CN" altLang="en-US" sz="2800"/>
              <a:t>服务器和 </a:t>
            </a:r>
            <a:r>
              <a:rPr lang="en-US" altLang="zh-CN" sz="2800"/>
              <a:t>Windows </a:t>
            </a:r>
            <a:r>
              <a:rPr lang="zh-CN" altLang="en-US" sz="2800"/>
              <a:t>电脑处于同一个工作组。我们直接保持这个默认值即可。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en-US" altLang="zh-CN" sz="2800"/>
              <a:t>security＝user </a:t>
            </a:r>
            <a:r>
              <a:rPr lang="zh-CN" altLang="en-US" sz="2800"/>
              <a:t>。安全认证方式，默认是</a:t>
            </a:r>
            <a:r>
              <a:rPr lang="en-US" altLang="zh-CN" sz="2800"/>
              <a:t>user，</a:t>
            </a:r>
            <a:r>
              <a:rPr lang="zh-CN" altLang="en-US" sz="2800"/>
              <a:t>即使用身份验证方式（输入用户名和密码）访问</a:t>
            </a:r>
            <a:r>
              <a:rPr lang="en-US" altLang="zh-CN" sz="2800"/>
              <a:t>samba。</a:t>
            </a:r>
            <a:endParaRPr lang="en-US" altLang="zh-CN" sz="2800"/>
          </a:p>
          <a:p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）开启匿名用户访问。</a:t>
            </a:r>
            <a:r>
              <a:rPr lang="en-US" altLang="zh-CN" sz="2800"/>
              <a:t>map to guest = Bad User</a:t>
            </a:r>
            <a:r>
              <a:rPr lang="zh-CN" altLang="en-US" sz="2800"/>
              <a:t>（想要匿名登录需要自己写该条指令，还要在共享文件配置中写</a:t>
            </a:r>
            <a:r>
              <a:rPr lang="en-US" altLang="zh-CN" sz="2800"/>
              <a:t>guest ok=yes</a:t>
            </a:r>
            <a:r>
              <a:rPr lang="zh-CN" altLang="en-US" sz="2800"/>
              <a:t>）</a:t>
            </a:r>
            <a:endParaRPr lang="zh-C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7025" y="503555"/>
            <a:ext cx="1136459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 2.[homes] </a:t>
            </a:r>
            <a:r>
              <a:rPr lang="zh-CN" altLang="en-US" sz="3200" b="1"/>
              <a:t>用户家录共享</a:t>
            </a:r>
            <a:endParaRPr lang="zh-CN" altLang="en-US" sz="3200" b="1"/>
          </a:p>
          <a:p>
            <a:r>
              <a:rPr lang="zh-CN" altLang="en-US" sz="3200"/>
              <a:t>作用：</a:t>
            </a:r>
            <a:r>
              <a:rPr lang="en-US" altLang="zh-CN" sz="3200"/>
              <a:t>Linux </a:t>
            </a:r>
            <a:r>
              <a:rPr lang="zh-CN" altLang="en-US" sz="3200"/>
              <a:t>用户登录后，自动共享其对应的家目录  /</a:t>
            </a:r>
            <a:r>
              <a:rPr lang="en-US" altLang="zh-CN" sz="3200"/>
              <a:t>home/</a:t>
            </a:r>
            <a:r>
              <a:rPr lang="zh-CN" altLang="en-US" sz="3200"/>
              <a:t>用户名 。</a:t>
            </a:r>
            <a:endParaRPr lang="zh-CN" altLang="en-US" sz="3200"/>
          </a:p>
          <a:p>
            <a:endParaRPr lang="zh-CN" altLang="en-US" sz="3200"/>
          </a:p>
          <a:p>
            <a:endParaRPr lang="zh-CN" altLang="en-US" sz="3200"/>
          </a:p>
          <a:p>
            <a:r>
              <a:rPr lang="en-US" altLang="zh-CN" sz="3200" b="1"/>
              <a:t>3.[printers] </a:t>
            </a:r>
            <a:r>
              <a:rPr lang="zh-CN" altLang="en-US" sz="3200" b="1"/>
              <a:t>打印机共享</a:t>
            </a:r>
            <a:endParaRPr lang="zh-CN" altLang="en-US" sz="3200" b="1"/>
          </a:p>
          <a:p>
            <a:r>
              <a:rPr lang="zh-CN" altLang="en-US" sz="3200"/>
              <a:t>作用：把 </a:t>
            </a:r>
            <a:r>
              <a:rPr lang="en-US" altLang="zh-CN" sz="3200"/>
              <a:t>Linux </a:t>
            </a:r>
            <a:r>
              <a:rPr lang="zh-CN" altLang="en-US" sz="3200"/>
              <a:t>系统的打印机共享给 </a:t>
            </a:r>
            <a:r>
              <a:rPr lang="en-US" altLang="zh-CN" sz="3200"/>
              <a:t>Windows </a:t>
            </a:r>
            <a:r>
              <a:rPr lang="zh-CN" altLang="en-US" sz="3200"/>
              <a:t>系统使用。</a:t>
            </a:r>
            <a:endParaRPr lang="zh-CN" altLang="en-US" sz="3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5745" y="170815"/>
            <a:ext cx="1145603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4 自定义共享段（自己手写）</a:t>
            </a:r>
            <a:endParaRPr lang="zh-CN" altLang="en-US" sz="2400" b="1"/>
          </a:p>
          <a:p>
            <a:endParaRPr lang="en-US" altLang="zh-CN" sz="2400"/>
          </a:p>
          <a:p>
            <a:r>
              <a:rPr lang="zh-CN" altLang="en-US" sz="2400"/>
              <a:t>1)设置[共享名]</a:t>
            </a:r>
            <a:endParaRPr lang="zh-CN" altLang="en-US" sz="2400"/>
          </a:p>
          <a:p>
            <a:r>
              <a:rPr lang="zh-CN" altLang="en-US" sz="2400"/>
              <a:t>共享目录名。共享名可以与原目录名不同。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2)共享资源描述</a:t>
            </a:r>
            <a:endParaRPr lang="zh-CN" altLang="en-US" sz="2400"/>
          </a:p>
          <a:p>
            <a:r>
              <a:rPr lang="zh-CN" altLang="en-US" sz="2400"/>
              <a:t>格式：</a:t>
            </a:r>
            <a:r>
              <a:rPr lang="en-US" altLang="zh-CN" sz="2400"/>
              <a:t>comment = </a:t>
            </a:r>
            <a:r>
              <a:rPr lang="zh-CN" altLang="en-US" sz="2400"/>
              <a:t>备注信息。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3)共享路径</a:t>
            </a:r>
            <a:endParaRPr lang="zh-CN" altLang="en-US" sz="2400"/>
          </a:p>
          <a:p>
            <a:r>
              <a:rPr lang="zh-CN" altLang="en-US" sz="2400"/>
              <a:t>共享资源的原始完整路径</a:t>
            </a:r>
            <a:endParaRPr lang="zh-CN" altLang="en-US" sz="2400"/>
          </a:p>
          <a:p>
            <a:r>
              <a:rPr lang="zh-CN" altLang="en-US" sz="2400"/>
              <a:t>格式：</a:t>
            </a:r>
            <a:r>
              <a:rPr lang="en-US" altLang="zh-CN" sz="2400"/>
              <a:t>path = </a:t>
            </a:r>
            <a:r>
              <a:rPr lang="zh-CN" altLang="en-US" sz="2400"/>
              <a:t>绝对地址路径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4)设置匿名访问</a:t>
            </a:r>
            <a:endParaRPr lang="zh-CN" altLang="en-US" sz="2400"/>
          </a:p>
          <a:p>
            <a:r>
              <a:rPr lang="zh-CN" altLang="en-US" sz="2400"/>
              <a:t>共享资源如果对匿名访问进行设置，可以更改</a:t>
            </a:r>
            <a:r>
              <a:rPr lang="en-US" altLang="zh-CN" sz="2400"/>
              <a:t>guest ok</a:t>
            </a:r>
            <a:r>
              <a:rPr lang="zh-CN" altLang="en-US" sz="2400"/>
              <a:t>字段。不写默认不匿名。</a:t>
            </a:r>
            <a:endParaRPr lang="zh-CN" altLang="en-US" sz="2400"/>
          </a:p>
          <a:p>
            <a:r>
              <a:rPr lang="zh-CN" altLang="en-US" sz="2400"/>
              <a:t>要匿名还要在[</a:t>
            </a:r>
            <a:r>
              <a:rPr lang="en-US" altLang="zh-CN" sz="2400"/>
              <a:t>global]</a:t>
            </a:r>
            <a:r>
              <a:rPr lang="zh-CN" altLang="en-US" sz="2400"/>
              <a:t>中写上</a:t>
            </a:r>
            <a:r>
              <a:rPr lang="en-US" altLang="zh-CN" sz="2400"/>
              <a:t>map to guest ＝Bad User。</a:t>
            </a:r>
            <a:endParaRPr lang="en-US" altLang="zh-CN" sz="2400"/>
          </a:p>
          <a:p>
            <a:r>
              <a:rPr lang="zh-CN" altLang="en-US" sz="2400"/>
              <a:t>格式：</a:t>
            </a:r>
            <a:endParaRPr lang="zh-CN" altLang="en-US" sz="2400"/>
          </a:p>
          <a:p>
            <a:r>
              <a:rPr lang="en-US" altLang="zh-CN" sz="2400"/>
              <a:t>guest ok = yes #</a:t>
            </a:r>
            <a:r>
              <a:rPr lang="zh-CN" altLang="en-US" sz="2400"/>
              <a:t>允许匿名访问</a:t>
            </a:r>
            <a:endParaRPr lang="zh-CN" altLang="en-US"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9125" y="635000"/>
            <a:ext cx="1051814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5)设置访问用户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如果共享资源存在重要数据的话，需要对访问用户审核，我们可以使用</a:t>
            </a:r>
            <a:r>
              <a:rPr lang="en-US" altLang="zh-CN" sz="2800"/>
              <a:t>valid users </a:t>
            </a:r>
            <a:r>
              <a:rPr lang="zh-CN" altLang="en-US" sz="2800"/>
              <a:t>字段进行设置。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格式：</a:t>
            </a:r>
            <a:endParaRPr lang="zh-CN" altLang="en-US" sz="2800"/>
          </a:p>
          <a:p>
            <a:r>
              <a:rPr lang="en-US" altLang="zh-CN" sz="2800"/>
              <a:t>valid users = </a:t>
            </a:r>
            <a:r>
              <a:rPr lang="zh-CN" altLang="en-US" sz="2800"/>
              <a:t>用户名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只有这里写的用户可以访问该共享目录</a:t>
            </a:r>
            <a:endParaRPr lang="zh-CN" altLang="en-US" sz="2800"/>
          </a:p>
          <a:p>
            <a:r>
              <a:rPr lang="en-US" altLang="zh-CN" sz="2800"/>
              <a:t>valid users = @</a:t>
            </a:r>
            <a:r>
              <a:rPr lang="zh-CN" altLang="en-US" sz="2800"/>
              <a:t>组名</a:t>
            </a:r>
            <a:endParaRPr lang="zh-CN" altLang="en-US" sz="2800"/>
          </a:p>
          <a:p>
            <a:r>
              <a:rPr lang="zh-CN" altLang="en-US" sz="2800"/>
              <a:t>如果可以访问共享目录的用户特别多，可以把这些用户添加到一个组里，直接写@组名即可。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7675" y="523875"/>
            <a:ext cx="10700385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6)设置目录可写</a:t>
            </a:r>
            <a:endParaRPr lang="zh-CN" altLang="en-US" sz="2400"/>
          </a:p>
          <a:p>
            <a:r>
              <a:rPr lang="zh-CN" altLang="en-US" sz="2400"/>
              <a:t>如果共享目录允许用户写操作，可以使用</a:t>
            </a:r>
            <a:r>
              <a:rPr lang="en-US" altLang="zh-CN" sz="2400"/>
              <a:t>writable </a:t>
            </a:r>
            <a:r>
              <a:rPr lang="zh-CN" altLang="en-US" sz="2400"/>
              <a:t>或</a:t>
            </a:r>
            <a:r>
              <a:rPr lang="en-US" altLang="zh-CN" sz="2400"/>
              <a:t>write list </a:t>
            </a:r>
            <a:r>
              <a:rPr lang="zh-CN" altLang="en-US" sz="2400"/>
              <a:t>两个字段进行设置。</a:t>
            </a:r>
            <a:endParaRPr lang="zh-CN" altLang="en-US" sz="2400"/>
          </a:p>
          <a:p>
            <a:endParaRPr lang="en-US" altLang="zh-CN" sz="2400"/>
          </a:p>
          <a:p>
            <a:r>
              <a:rPr lang="en-US" altLang="zh-CN" sz="2400"/>
              <a:t>writable </a:t>
            </a:r>
            <a:r>
              <a:rPr lang="zh-CN" altLang="en-US" sz="2400"/>
              <a:t>格式</a:t>
            </a:r>
            <a:endParaRPr lang="zh-CN" altLang="en-US" sz="2400"/>
          </a:p>
          <a:p>
            <a:r>
              <a:rPr lang="en-US" altLang="zh-CN" sz="2400"/>
              <a:t>writable = yes #</a:t>
            </a:r>
            <a:r>
              <a:rPr lang="zh-CN" altLang="en-US" sz="2400"/>
              <a:t>读写，</a:t>
            </a:r>
            <a:r>
              <a:rPr lang="en-US" altLang="zh-CN" sz="2400"/>
              <a:t>writable = no #</a:t>
            </a:r>
            <a:r>
              <a:rPr lang="zh-CN" altLang="en-US" sz="2400"/>
              <a:t>只读。</a:t>
            </a:r>
            <a:endParaRPr lang="zh-CN" altLang="en-US" sz="2400"/>
          </a:p>
          <a:p>
            <a:endParaRPr lang="en-US" altLang="zh-CN" sz="2400"/>
          </a:p>
          <a:p>
            <a:r>
              <a:rPr lang="en-US" altLang="zh-CN" sz="2400"/>
              <a:t>write list </a:t>
            </a:r>
            <a:r>
              <a:rPr lang="zh-CN" altLang="en-US" sz="2400"/>
              <a:t>格式：</a:t>
            </a:r>
            <a:endParaRPr lang="zh-CN" altLang="en-US" sz="2400"/>
          </a:p>
          <a:p>
            <a:r>
              <a:rPr lang="en-US" altLang="zh-CN" sz="2400"/>
              <a:t>write list = </a:t>
            </a:r>
            <a:r>
              <a:rPr lang="zh-CN" altLang="en-US" sz="2400"/>
              <a:t>用户名</a:t>
            </a:r>
            <a:endParaRPr lang="zh-CN" altLang="en-US" sz="2400"/>
          </a:p>
          <a:p>
            <a:r>
              <a:rPr lang="zh-CN" altLang="en-US" sz="2400"/>
              <a:t>写到这里的用户可以读写</a:t>
            </a:r>
            <a:endParaRPr lang="zh-CN" altLang="en-US" sz="2400"/>
          </a:p>
          <a:p>
            <a:r>
              <a:rPr lang="en-US" altLang="zh-CN" sz="2400"/>
              <a:t>write list = @</a:t>
            </a:r>
            <a:r>
              <a:rPr lang="zh-CN" altLang="en-US" sz="2400"/>
              <a:t>组名</a:t>
            </a:r>
            <a:endParaRPr lang="zh-CN" altLang="en-US" sz="2400"/>
          </a:p>
          <a:p>
            <a:r>
              <a:rPr lang="zh-CN" altLang="en-US" sz="2400"/>
              <a:t>写到这里的组中用户可以读写</a:t>
            </a:r>
            <a:endParaRPr lang="zh-CN" altLang="en-US" sz="2400"/>
          </a:p>
          <a:p>
            <a:endParaRPr lang="en-US" altLang="zh-CN" sz="2400"/>
          </a:p>
          <a:p>
            <a:r>
              <a:rPr lang="zh-CN" altLang="en-US" sz="2400"/>
              <a:t>要注意的是，这里允许用户读写只是“网络协议层”的许可，能否读写还要看共享目录的权限。如果不能读写可以使用</a:t>
            </a:r>
            <a:r>
              <a:rPr lang="en-US" altLang="zh-CN" sz="2400"/>
              <a:t>chmod</a:t>
            </a:r>
            <a:r>
              <a:rPr lang="zh-CN" altLang="en-US" sz="2400"/>
              <a:t>增加目录的权限。</a:t>
            </a:r>
            <a:endParaRPr lang="zh-CN" altLang="en-US" sz="2400"/>
          </a:p>
          <a:p>
            <a:endParaRPr lang="zh-CN" altLang="en-US" sz="2400"/>
          </a:p>
          <a:p>
            <a:r>
              <a:rPr lang="en-US" altLang="zh-CN" sz="2400"/>
              <a:t>writable/write list      </a:t>
            </a:r>
            <a:r>
              <a:rPr lang="zh-CN" altLang="en-US" sz="2400"/>
              <a:t>和</a:t>
            </a:r>
            <a:r>
              <a:rPr lang="en-US" altLang="zh-CN" sz="2400"/>
              <a:t>      </a:t>
            </a:r>
            <a:r>
              <a:rPr lang="zh-CN" altLang="en-US" sz="2400"/>
              <a:t>目录的权限缺一不可。</a:t>
            </a:r>
            <a:endParaRPr lang="zh-CN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8640" y="523875"/>
            <a:ext cx="1119378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7）browseable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#是否允许查看此共享内容，不写默认是</a:t>
            </a:r>
            <a:r>
              <a:rPr lang="en-US" altLang="zh-CN" sz="2800"/>
              <a:t>yes。</a:t>
            </a:r>
            <a:endParaRPr lang="en-US" altLang="zh-CN" sz="2800"/>
          </a:p>
          <a:p>
            <a:r>
              <a:rPr lang="en-US" altLang="zh-CN" sz="2800"/>
              <a:t>browseable = yes ，</a:t>
            </a:r>
            <a:r>
              <a:rPr lang="zh-CN" altLang="en-US" sz="2800"/>
              <a:t>允许查看此共享内容。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如果是否，</a:t>
            </a:r>
            <a:r>
              <a:rPr lang="en-US" altLang="zh-CN" sz="2800"/>
              <a:t>browseable = no，</a:t>
            </a:r>
            <a:r>
              <a:rPr lang="zh-CN" altLang="en-US" sz="2800"/>
              <a:t>打开  \\服务器</a:t>
            </a:r>
            <a:r>
              <a:rPr lang="en-US" altLang="zh-CN" sz="2800"/>
              <a:t>IP  </a:t>
            </a:r>
            <a:r>
              <a:rPr lang="zh-CN" altLang="en-US" sz="2800"/>
              <a:t>浏览共享列表时，不会显示这个共享名，但该共享真实存在。可以通过手动输入完整路径 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例如共享目录名为</a:t>
            </a:r>
            <a:r>
              <a:rPr lang="en-US" altLang="zh-CN" sz="2800"/>
              <a:t>share</a:t>
            </a:r>
            <a:r>
              <a:rPr lang="zh-CN" altLang="en-US" sz="2800"/>
              <a:t>，</a:t>
            </a:r>
            <a:r>
              <a:rPr lang="en-US" altLang="zh-CN" sz="2800">
                <a:sym typeface="+mn-ea"/>
              </a:rPr>
              <a:t>browseable = no</a:t>
            </a:r>
            <a:endParaRPr lang="en-US" altLang="zh-CN" sz="2800">
              <a:sym typeface="+mn-ea"/>
            </a:endParaRPr>
          </a:p>
          <a:p>
            <a:r>
              <a:rPr lang="zh-CN" altLang="en-US" sz="2800">
                <a:sym typeface="+mn-ea"/>
              </a:rPr>
              <a:t>需要通过</a:t>
            </a:r>
            <a:r>
              <a:rPr lang="zh-CN" altLang="en-US" sz="2800"/>
              <a:t>\\</a:t>
            </a:r>
            <a:r>
              <a:rPr lang="en-US" altLang="zh-CN" sz="2800"/>
              <a:t>IP\share</a:t>
            </a:r>
            <a:r>
              <a:rPr lang="zh-CN" altLang="en-US" sz="2800"/>
              <a:t>才能查看到。</a:t>
            </a:r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[homes]</a:t>
            </a:r>
            <a:r>
              <a:rPr lang="zh-CN" altLang="en-US" sz="2800"/>
              <a:t>中是例外，即便为</a:t>
            </a:r>
            <a:r>
              <a:rPr lang="en-US" altLang="zh-CN" sz="2800"/>
              <a:t>no</a:t>
            </a:r>
            <a:r>
              <a:rPr lang="zh-CN" altLang="en-US" sz="2800"/>
              <a:t>，验证了用户身份，也会显示出来家目录</a:t>
            </a:r>
            <a:endParaRPr lang="zh-CN" altLang="en-US"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6230" y="198120"/>
            <a:ext cx="10619105" cy="64623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300" b="1"/>
              <a:t>实验1：允许通过</a:t>
            </a:r>
            <a:r>
              <a:rPr lang="en-US" altLang="zh-CN" sz="2300" b="1"/>
              <a:t>windows</a:t>
            </a:r>
            <a:r>
              <a:rPr lang="zh-CN" altLang="en-US" sz="2300" b="1"/>
              <a:t>客户端访问自己的宿主目录。</a:t>
            </a:r>
            <a:endParaRPr lang="zh-CN" altLang="en-US" sz="2300" b="1"/>
          </a:p>
          <a:p>
            <a:r>
              <a:rPr lang="zh-CN" altLang="en-US" sz="2300"/>
              <a:t>1.安装</a:t>
            </a:r>
            <a:r>
              <a:rPr lang="en-US" altLang="zh-CN" sz="2300"/>
              <a:t>samba，</a:t>
            </a:r>
            <a:r>
              <a:rPr lang="zh-CN" altLang="en-US" sz="2300"/>
              <a:t>不需要对配置文件做修改，即可实现此功能。</a:t>
            </a:r>
            <a:endParaRPr lang="zh-CN" altLang="en-US" sz="2300"/>
          </a:p>
          <a:p>
            <a:r>
              <a:rPr lang="zh-CN" altLang="en-US" sz="2300"/>
              <a:t>2.添加</a:t>
            </a:r>
            <a:r>
              <a:rPr lang="en-US" altLang="zh-CN" sz="2300"/>
              <a:t>Linux</a:t>
            </a:r>
            <a:r>
              <a:rPr lang="zh-CN" altLang="en-US" sz="2300"/>
              <a:t>新用户，并设置用户密码。</a:t>
            </a:r>
            <a:endParaRPr lang="zh-CN" altLang="en-US" sz="2300"/>
          </a:p>
          <a:p>
            <a:r>
              <a:rPr lang="en-US" altLang="zh-CN" sz="2300"/>
              <a:t>usreadd  </a:t>
            </a:r>
            <a:r>
              <a:rPr lang="zh-CN" altLang="en-US" sz="2300"/>
              <a:t>新用户名</a:t>
            </a:r>
            <a:endParaRPr lang="zh-CN" altLang="en-US" sz="2300"/>
          </a:p>
          <a:p>
            <a:r>
              <a:rPr lang="en-US" altLang="zh-CN" sz="2300"/>
              <a:t>passwd  </a:t>
            </a:r>
            <a:r>
              <a:rPr lang="zh-CN" altLang="en-US" sz="2300"/>
              <a:t>新用户名</a:t>
            </a:r>
            <a:endParaRPr lang="zh-CN" altLang="en-US" sz="2300"/>
          </a:p>
          <a:p>
            <a:r>
              <a:rPr lang="zh-CN" altLang="en-US" sz="2300"/>
              <a:t>3.设置用户</a:t>
            </a:r>
            <a:r>
              <a:rPr lang="en-US" altLang="zh-CN" sz="2300"/>
              <a:t>samba</a:t>
            </a:r>
            <a:r>
              <a:rPr lang="zh-CN" altLang="en-US" sz="2300"/>
              <a:t>验证密码</a:t>
            </a:r>
            <a:endParaRPr lang="zh-CN" altLang="en-US" sz="2300"/>
          </a:p>
          <a:p>
            <a:r>
              <a:rPr lang="en-US" altLang="zh-CN" sz="2300"/>
              <a:t>smbpasswd  -a  </a:t>
            </a:r>
            <a:r>
              <a:rPr lang="zh-CN" altLang="en-US" sz="2300"/>
              <a:t>新用户名（需要两次设置）</a:t>
            </a:r>
            <a:endParaRPr lang="zh-CN" altLang="en-US" sz="2300"/>
          </a:p>
          <a:p>
            <a:r>
              <a:rPr lang="zh-CN" altLang="en-US" sz="2300"/>
              <a:t>4.关闭</a:t>
            </a:r>
            <a:r>
              <a:rPr lang="en-US" altLang="zh-CN" sz="2300"/>
              <a:t>Linux</a:t>
            </a:r>
            <a:r>
              <a:rPr lang="zh-CN" altLang="en-US" sz="2300"/>
              <a:t>防火墙</a:t>
            </a:r>
            <a:endParaRPr lang="zh-CN" altLang="en-US" sz="2300"/>
          </a:p>
          <a:p>
            <a:r>
              <a:rPr lang="en-US" altLang="zh-CN" sz="2300"/>
              <a:t>systemctl stop firewalld</a:t>
            </a:r>
            <a:endParaRPr lang="en-US" altLang="zh-CN" sz="2300"/>
          </a:p>
          <a:p>
            <a:r>
              <a:rPr lang="zh-CN" altLang="en-US" sz="2300"/>
              <a:t>5.启动</a:t>
            </a:r>
            <a:r>
              <a:rPr lang="en-US" altLang="zh-CN" sz="2300"/>
              <a:t>samba</a:t>
            </a:r>
            <a:r>
              <a:rPr lang="zh-CN" altLang="en-US" sz="2300"/>
              <a:t>服务</a:t>
            </a:r>
            <a:endParaRPr lang="zh-CN" altLang="en-US" sz="2300"/>
          </a:p>
          <a:p>
            <a:r>
              <a:rPr lang="en-US" altLang="zh-CN" sz="2300"/>
              <a:t>systemctl start smb</a:t>
            </a:r>
            <a:endParaRPr lang="en-US" altLang="zh-CN" sz="2300"/>
          </a:p>
          <a:p>
            <a:r>
              <a:rPr lang="en-US" altLang="zh-CN" sz="2300"/>
              <a:t>6．windows</a:t>
            </a:r>
            <a:r>
              <a:rPr lang="zh-CN" altLang="en-US" sz="2300"/>
              <a:t>管理</a:t>
            </a:r>
            <a:endParaRPr lang="zh-CN" altLang="en-US" sz="2300"/>
          </a:p>
          <a:p>
            <a:r>
              <a:rPr lang="zh-CN" altLang="en-US" sz="2300"/>
              <a:t>在</a:t>
            </a:r>
            <a:r>
              <a:rPr lang="en-US" altLang="zh-CN" sz="2300"/>
              <a:t>CMD</a:t>
            </a:r>
            <a:r>
              <a:rPr lang="zh-CN" altLang="en-US" sz="2300"/>
              <a:t>中查看连接客户情况：</a:t>
            </a:r>
            <a:endParaRPr lang="zh-CN" altLang="en-US" sz="2300"/>
          </a:p>
          <a:p>
            <a:r>
              <a:rPr lang="en-US" altLang="zh-CN" sz="2300"/>
              <a:t>net  use</a:t>
            </a:r>
            <a:endParaRPr lang="en-US" altLang="zh-CN" sz="2300"/>
          </a:p>
          <a:p>
            <a:r>
              <a:rPr lang="zh-CN" altLang="en-US" sz="2300"/>
              <a:t>清除连接的用户命令：</a:t>
            </a:r>
            <a:endParaRPr lang="zh-CN" altLang="en-US" sz="2300"/>
          </a:p>
          <a:p>
            <a:r>
              <a:rPr lang="en-US" altLang="zh-CN" sz="2300"/>
              <a:t>net  use  *  /delete /y</a:t>
            </a:r>
            <a:endParaRPr lang="en-US" altLang="zh-CN" sz="2300"/>
          </a:p>
          <a:p>
            <a:r>
              <a:rPr lang="zh-CN" altLang="en-US" sz="2300"/>
              <a:t>7.在</a:t>
            </a:r>
            <a:r>
              <a:rPr lang="en-US" altLang="zh-CN" sz="2300"/>
              <a:t>Windows</a:t>
            </a:r>
            <a:r>
              <a:rPr lang="zh-CN" altLang="en-US" sz="2300"/>
              <a:t>运行窗口中输入连接</a:t>
            </a:r>
            <a:r>
              <a:rPr lang="en-US" altLang="zh-CN" sz="2300"/>
              <a:t>Linux</a:t>
            </a:r>
            <a:r>
              <a:rPr lang="zh-CN" altLang="en-US" sz="2300"/>
              <a:t>共</a:t>
            </a:r>
            <a:r>
              <a:rPr lang="en-US" altLang="zh-CN" sz="2300"/>
              <a:t>vi</a:t>
            </a:r>
            <a:r>
              <a:rPr lang="zh-CN" altLang="en-US" sz="2300"/>
              <a:t>享地址,格式：\\</a:t>
            </a:r>
            <a:r>
              <a:rPr lang="en-US" altLang="zh-CN" sz="2300"/>
              <a:t>IP</a:t>
            </a:r>
            <a:r>
              <a:rPr lang="zh-CN" altLang="en-US" sz="2300"/>
              <a:t>地址。</a:t>
            </a:r>
            <a:endParaRPr lang="zh-CN" altLang="en-US" sz="2300"/>
          </a:p>
          <a:p>
            <a:r>
              <a:rPr lang="zh-CN" altLang="en-US" sz="2300"/>
              <a:t>8.输入</a:t>
            </a:r>
            <a:r>
              <a:rPr lang="en-US" altLang="zh-CN" sz="2300"/>
              <a:t>Linux</a:t>
            </a:r>
            <a:r>
              <a:rPr lang="zh-CN" altLang="en-US" sz="2300"/>
              <a:t>用户名和</a:t>
            </a:r>
            <a:r>
              <a:rPr lang="en-US" altLang="zh-CN" sz="2300"/>
              <a:t>samba</a:t>
            </a:r>
            <a:r>
              <a:rPr lang="zh-CN" altLang="en-US" sz="2300"/>
              <a:t>用户密码完成登录。</a:t>
            </a:r>
            <a:endParaRPr lang="zh-CN" altLang="en-US" sz="2300"/>
          </a:p>
        </p:txBody>
      </p:sp>
      <p:sp>
        <p:nvSpPr>
          <p:cNvPr id="3" name="文本框 2"/>
          <p:cNvSpPr txBox="1"/>
          <p:nvPr/>
        </p:nvSpPr>
        <p:spPr>
          <a:xfrm>
            <a:off x="3732530" y="272542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关闭</a:t>
            </a:r>
            <a:r>
              <a:rPr lang="en-US" altLang="zh-CN">
                <a:sym typeface="+mn-ea"/>
              </a:rPr>
              <a:t>SELinux</a:t>
            </a:r>
            <a:endParaRPr lang="en-US" altLang="zh-CN"/>
          </a:p>
          <a:p>
            <a:r>
              <a:rPr lang="en-US" altLang="zh-CN">
                <a:sym typeface="+mn-ea"/>
              </a:rPr>
              <a:t>setenforce 0 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5265" y="170815"/>
            <a:ext cx="11264900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实验2：在</a:t>
            </a:r>
            <a:r>
              <a:rPr lang="en-US" altLang="zh-CN" sz="2400"/>
              <a:t>Linux</a:t>
            </a:r>
            <a:r>
              <a:rPr lang="zh-CN" altLang="en-US" sz="2400"/>
              <a:t>系统上为每位教师创建一个私有目录（家目录）的同时，为计算机系的各位教师建立一个公共目录/</a:t>
            </a:r>
            <a:r>
              <a:rPr lang="en-US" altLang="zh-CN" sz="2400"/>
              <a:t>jisuanji，</a:t>
            </a:r>
            <a:r>
              <a:rPr lang="zh-CN" altLang="en-US" sz="2400"/>
              <a:t>可以让每位教师都能在这个公共目录中进行读写操作，实现资源共享，如几个教师讲授同一门课的教案，可以让这几个教师都能查看和修改。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1.创建目录“/</a:t>
            </a:r>
            <a:r>
              <a:rPr lang="en-US" altLang="zh-CN" sz="2400"/>
              <a:t>jisuanji” </a:t>
            </a:r>
            <a:endParaRPr lang="en-US" altLang="zh-CN" sz="2400"/>
          </a:p>
          <a:p>
            <a:r>
              <a:rPr lang="en-US" altLang="zh-CN" sz="2400"/>
              <a:t>mkdir /jisuanji</a:t>
            </a:r>
            <a:endParaRPr lang="en-US" altLang="zh-CN" sz="2400"/>
          </a:p>
          <a:p>
            <a:r>
              <a:rPr lang="zh-CN" altLang="en-US" sz="2400"/>
              <a:t>2.创建用户</a:t>
            </a:r>
            <a:r>
              <a:rPr lang="en-US" altLang="zh-CN" sz="2400"/>
              <a:t>user1</a:t>
            </a:r>
            <a:r>
              <a:rPr lang="zh-CN" altLang="en-US" sz="2400"/>
              <a:t>和</a:t>
            </a:r>
            <a:r>
              <a:rPr lang="en-US" altLang="zh-CN" sz="2400"/>
              <a:t>user2，</a:t>
            </a:r>
            <a:r>
              <a:rPr lang="zh-CN" altLang="en-US" sz="2400"/>
              <a:t>需要将这两个用户加入到同一个组中，设组名为</a:t>
            </a:r>
            <a:r>
              <a:rPr lang="en-US" altLang="zh-CN" sz="2400"/>
              <a:t>jisuanjigroup ，</a:t>
            </a:r>
            <a:r>
              <a:rPr lang="zh-CN" altLang="en-US" sz="2400"/>
              <a:t>并设置</a:t>
            </a:r>
            <a:r>
              <a:rPr lang="en-US" altLang="zh-CN" sz="2400"/>
              <a:t>jisuanjigroup</a:t>
            </a:r>
            <a:r>
              <a:rPr lang="zh-CN" altLang="en-US" sz="2400"/>
              <a:t>对/</a:t>
            </a:r>
            <a:r>
              <a:rPr lang="en-US" altLang="zh-CN" sz="2400"/>
              <a:t>jisunji</a:t>
            </a:r>
            <a:r>
              <a:rPr lang="zh-CN" altLang="en-US" sz="2400"/>
              <a:t>的写权限。</a:t>
            </a:r>
            <a:endParaRPr lang="zh-CN" altLang="en-US" sz="2400"/>
          </a:p>
          <a:p>
            <a:r>
              <a:rPr lang="en-US" altLang="zh-CN" sz="2400"/>
              <a:t>groupadd  jisuanjigroup      #</a:t>
            </a:r>
            <a:r>
              <a:rPr lang="zh-CN" altLang="en-US" sz="2400"/>
              <a:t>新建组</a:t>
            </a:r>
            <a:r>
              <a:rPr lang="en-US" altLang="zh-CN" sz="2400"/>
              <a:t>jisuanjigroup</a:t>
            </a:r>
            <a:endParaRPr lang="en-US" altLang="zh-CN" sz="2400"/>
          </a:p>
          <a:p>
            <a:r>
              <a:rPr lang="en-US" altLang="zh-CN" sz="2400"/>
              <a:t>useradd  user1 -G jisuanjigroup  #</a:t>
            </a:r>
            <a:r>
              <a:rPr lang="zh-CN" altLang="en-US" sz="2400"/>
              <a:t>创建用户</a:t>
            </a:r>
            <a:r>
              <a:rPr lang="en-US" altLang="zh-CN" sz="2400"/>
              <a:t>user1，</a:t>
            </a:r>
            <a:r>
              <a:rPr lang="zh-CN" altLang="en-US" sz="2400"/>
              <a:t>并加入到</a:t>
            </a:r>
            <a:r>
              <a:rPr lang="en-US" altLang="zh-CN" sz="2400"/>
              <a:t>jisuanjigroup</a:t>
            </a:r>
            <a:r>
              <a:rPr lang="zh-CN" altLang="en-US" sz="2400"/>
              <a:t>组中</a:t>
            </a:r>
            <a:endParaRPr lang="zh-CN" altLang="en-US" sz="2400"/>
          </a:p>
          <a:p>
            <a:r>
              <a:rPr lang="en-US" altLang="zh-CN" sz="2400"/>
              <a:t>passwd user1   #</a:t>
            </a:r>
            <a:r>
              <a:rPr lang="zh-CN" altLang="en-US" sz="2400"/>
              <a:t>设置</a:t>
            </a:r>
            <a:r>
              <a:rPr lang="en-US" altLang="zh-CN" sz="2400"/>
              <a:t>user1</a:t>
            </a:r>
            <a:r>
              <a:rPr lang="zh-CN" altLang="en-US" sz="2400"/>
              <a:t>密码</a:t>
            </a:r>
            <a:endParaRPr lang="zh-CN" altLang="en-US" sz="2400"/>
          </a:p>
          <a:p>
            <a:r>
              <a:rPr lang="en-US" altLang="zh-CN" sz="2400"/>
              <a:t>useradd  user2 -G jisuanjigroup  #</a:t>
            </a:r>
            <a:r>
              <a:rPr lang="zh-CN" altLang="en-US" sz="2400"/>
              <a:t>创建用户</a:t>
            </a:r>
            <a:r>
              <a:rPr lang="en-US" altLang="zh-CN" sz="2400"/>
              <a:t>user2，</a:t>
            </a:r>
            <a:r>
              <a:rPr lang="zh-CN" altLang="en-US" sz="2400"/>
              <a:t>并加入到</a:t>
            </a:r>
            <a:r>
              <a:rPr lang="en-US" altLang="zh-CN" sz="2400"/>
              <a:t>jisuanjigroup</a:t>
            </a:r>
            <a:r>
              <a:rPr lang="zh-CN" altLang="en-US" sz="2400"/>
              <a:t>组中</a:t>
            </a:r>
            <a:endParaRPr lang="zh-CN" altLang="en-US" sz="2400"/>
          </a:p>
          <a:p>
            <a:r>
              <a:rPr lang="en-US" altLang="zh-CN" sz="2400"/>
              <a:t>passwd user2  #</a:t>
            </a:r>
            <a:r>
              <a:rPr lang="zh-CN" altLang="en-US" sz="2400"/>
              <a:t>设置</a:t>
            </a:r>
            <a:r>
              <a:rPr lang="en-US" altLang="zh-CN" sz="2400"/>
              <a:t>user2</a:t>
            </a:r>
            <a:r>
              <a:rPr lang="zh-CN" altLang="en-US" sz="2400"/>
              <a:t>密码</a:t>
            </a:r>
            <a:endParaRPr lang="zh-CN" altLang="en-US" sz="2400"/>
          </a:p>
          <a:p>
            <a:r>
              <a:rPr lang="en-US" altLang="zh-CN" sz="2400"/>
              <a:t>chgrp jisuanjigroup /jisuanji #</a:t>
            </a:r>
            <a:r>
              <a:rPr lang="zh-CN" altLang="en-US" sz="2400"/>
              <a:t>修改目录</a:t>
            </a:r>
            <a:r>
              <a:rPr lang="en-US" altLang="zh-CN" sz="2400"/>
              <a:t>jisuanji</a:t>
            </a:r>
            <a:r>
              <a:rPr lang="zh-CN" altLang="en-US" sz="2400"/>
              <a:t>所在组为</a:t>
            </a:r>
            <a:r>
              <a:rPr lang="en-US" altLang="zh-CN" sz="2400"/>
              <a:t>jisuanjigroup</a:t>
            </a:r>
            <a:endParaRPr lang="en-US" altLang="zh-CN" sz="2400"/>
          </a:p>
          <a:p>
            <a:r>
              <a:rPr lang="en-US" altLang="zh-CN" sz="2400"/>
              <a:t>chmod g+w /jisuanji    #</a:t>
            </a:r>
            <a:r>
              <a:rPr lang="zh-CN" altLang="en-US" sz="2400"/>
              <a:t>为/</a:t>
            </a:r>
            <a:r>
              <a:rPr lang="en-US" altLang="zh-CN" sz="2400"/>
              <a:t>jisuanji</a:t>
            </a:r>
            <a:r>
              <a:rPr lang="zh-CN" altLang="en-US" sz="2400"/>
              <a:t>目录赋予同组用户写入权限</a:t>
            </a:r>
            <a:endParaRPr lang="zh-CN" altLang="en-US" sz="2400"/>
          </a:p>
          <a:p>
            <a:endParaRPr lang="en-US" altLang="zh-CN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6065" y="352425"/>
            <a:ext cx="10235565" cy="63696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ym typeface="+mn-ea"/>
              </a:rPr>
              <a:t>实验2：在</a:t>
            </a:r>
            <a:r>
              <a:rPr lang="en-US" altLang="zh-CN" sz="2400">
                <a:sym typeface="+mn-ea"/>
              </a:rPr>
              <a:t>Linux</a:t>
            </a:r>
            <a:r>
              <a:rPr lang="zh-CN" altLang="en-US" sz="2400">
                <a:sym typeface="+mn-ea"/>
              </a:rPr>
              <a:t>系统上为每位教师创建一个私有目录（家目录）的同时，为计算机系的各位教师建立一个公共目录/</a:t>
            </a:r>
            <a:r>
              <a:rPr lang="en-US" altLang="zh-CN" sz="2400">
                <a:sym typeface="+mn-ea"/>
              </a:rPr>
              <a:t>jisuanji，</a:t>
            </a:r>
            <a:r>
              <a:rPr lang="zh-CN" altLang="en-US" sz="2400">
                <a:sym typeface="+mn-ea"/>
              </a:rPr>
              <a:t>可以让每位教师都能在这个公共目录中进行读写操作，实现资源共享，如几个教师讲授同一门课的教案，可以让这几个教师都能查看和修改。</a:t>
            </a:r>
            <a:endParaRPr lang="zh-CN" altLang="en-US" sz="2400"/>
          </a:p>
          <a:p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体现</a:t>
            </a:r>
            <a:r>
              <a:rPr lang="en-US" altLang="zh-CN" sz="2400">
                <a:sym typeface="+mn-ea"/>
              </a:rPr>
              <a:t>Linux</a:t>
            </a:r>
            <a:r>
              <a:rPr lang="zh-CN" altLang="en-US" sz="2400">
                <a:sym typeface="+mn-ea"/>
              </a:rPr>
              <a:t>安全性：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3.设置</a:t>
            </a:r>
            <a:r>
              <a:rPr lang="en-US" altLang="zh-CN" sz="2400">
                <a:sym typeface="+mn-ea"/>
              </a:rPr>
              <a:t>Samba</a:t>
            </a:r>
            <a:r>
              <a:rPr lang="zh-CN" altLang="en-US" sz="2400">
                <a:sym typeface="+mn-ea"/>
              </a:rPr>
              <a:t>用户密码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smbpasswd  -a  user1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smbpasswd  -a  user2</a:t>
            </a:r>
            <a:endParaRPr lang="en-US" altLang="zh-CN" sz="2400"/>
          </a:p>
          <a:p>
            <a:r>
              <a:rPr lang="zh-CN" altLang="en-US" sz="2400">
                <a:sym typeface="+mn-ea"/>
              </a:rPr>
              <a:t>4.在</a:t>
            </a:r>
            <a:r>
              <a:rPr lang="en-US" altLang="zh-CN" sz="2400">
                <a:sym typeface="+mn-ea"/>
              </a:rPr>
              <a:t>Samba</a:t>
            </a:r>
            <a:r>
              <a:rPr lang="zh-CN" altLang="en-US" sz="2400">
                <a:sym typeface="+mn-ea"/>
              </a:rPr>
              <a:t>配置文件末尾添加：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[ jisuanji ] </a:t>
            </a:r>
            <a:endParaRPr lang="en-US" altLang="zh-CN" sz="2400"/>
          </a:p>
          <a:p>
            <a:r>
              <a:rPr lang="en-US" altLang="zh-CN" sz="2400">
                <a:sym typeface="+mn-ea"/>
              </a:rPr>
              <a:t>path=/jisuanji             #</a:t>
            </a:r>
            <a:r>
              <a:rPr lang="zh-CN" altLang="en-US" sz="2400">
                <a:sym typeface="+mn-ea"/>
              </a:rPr>
              <a:t>共享目录路径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valid users=user1,user2    #</a:t>
            </a:r>
            <a:r>
              <a:rPr lang="zh-CN" altLang="en-US" sz="2400">
                <a:sym typeface="+mn-ea"/>
              </a:rPr>
              <a:t>限定只有</a:t>
            </a:r>
            <a:r>
              <a:rPr lang="en-US" altLang="zh-CN" sz="2400">
                <a:sym typeface="+mn-ea"/>
              </a:rPr>
              <a:t>user1、user2</a:t>
            </a:r>
            <a:r>
              <a:rPr lang="zh-CN" altLang="en-US" sz="2400">
                <a:sym typeface="+mn-ea"/>
              </a:rPr>
              <a:t>可访问该共享目录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writable=yes               #</a:t>
            </a:r>
            <a:r>
              <a:rPr lang="zh-CN" altLang="en-US" sz="2400">
                <a:sym typeface="+mn-ea"/>
              </a:rPr>
              <a:t>可写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5.重新启动</a:t>
            </a:r>
            <a:r>
              <a:rPr lang="en-US" altLang="zh-CN" sz="2400">
                <a:sym typeface="+mn-ea"/>
              </a:rPr>
              <a:t>Samba</a:t>
            </a:r>
            <a:r>
              <a:rPr lang="zh-CN" altLang="en-US" sz="2400">
                <a:sym typeface="+mn-ea"/>
              </a:rPr>
              <a:t>服务。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systemctl restart smb</a:t>
            </a:r>
            <a:endParaRPr lang="en-US" altLang="zh-CN" sz="2400"/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18160" y="443230"/>
            <a:ext cx="11275060" cy="60007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实验3：为计算机学院办公室建立一个公共目录/</a:t>
            </a:r>
            <a:r>
              <a:rPr lang="en-US" altLang="zh-CN" sz="2400"/>
              <a:t>home/jsjbgs，</a:t>
            </a:r>
            <a:r>
              <a:rPr lang="zh-CN" altLang="en-US" sz="2400"/>
              <a:t>所有的教师只能查看其中的内容而不能修改。</a:t>
            </a:r>
            <a:endParaRPr lang="zh-CN" altLang="en-US" sz="2400"/>
          </a:p>
          <a:p>
            <a:r>
              <a:rPr lang="zh-CN" altLang="en-US" sz="2400"/>
              <a:t>1.创建目录/</a:t>
            </a:r>
            <a:r>
              <a:rPr lang="en-US" altLang="zh-CN" sz="2400"/>
              <a:t>home/jsjbgs</a:t>
            </a:r>
            <a:endParaRPr lang="en-US" altLang="zh-CN" sz="2400"/>
          </a:p>
          <a:p>
            <a:r>
              <a:rPr lang="en-US" altLang="zh-CN" sz="2400"/>
              <a:t>mkdir /home/jsjbgs</a:t>
            </a:r>
            <a:endParaRPr lang="en-US" altLang="zh-CN" sz="2400"/>
          </a:p>
          <a:p>
            <a:r>
              <a:rPr lang="zh-CN" altLang="en-US" sz="2400"/>
              <a:t>2.修改</a:t>
            </a:r>
            <a:r>
              <a:rPr lang="en-US" altLang="zh-CN" sz="2400"/>
              <a:t>Samba</a:t>
            </a:r>
            <a:r>
              <a:rPr lang="zh-CN" altLang="en-US" sz="2400"/>
              <a:t>服务器配置文件，在文件末尾添加如下内容：</a:t>
            </a:r>
            <a:endParaRPr lang="zh-CN" altLang="en-US" sz="2400"/>
          </a:p>
          <a:p>
            <a:r>
              <a:rPr lang="en-US" altLang="zh-CN" sz="2400"/>
              <a:t>comment =read only jsjbgs    #</a:t>
            </a:r>
            <a:r>
              <a:rPr lang="zh-CN" altLang="en-US" sz="2400"/>
              <a:t>描述信息</a:t>
            </a:r>
            <a:endParaRPr lang="zh-CN" altLang="en-US" sz="2400"/>
          </a:p>
          <a:p>
            <a:r>
              <a:rPr lang="en-US" altLang="zh-CN" sz="2400"/>
              <a:t>path=/home/jsjbgs            #</a:t>
            </a:r>
            <a:r>
              <a:rPr lang="zh-CN" altLang="en-US" sz="2400"/>
              <a:t>共享目录路径</a:t>
            </a:r>
            <a:endParaRPr lang="zh-CN" altLang="en-US" sz="2400"/>
          </a:p>
          <a:p>
            <a:r>
              <a:rPr lang="en-US" altLang="zh-CN" sz="2400"/>
              <a:t>writable=no                  #</a:t>
            </a:r>
            <a:r>
              <a:rPr lang="zh-CN" altLang="en-US" sz="2400"/>
              <a:t>不可写</a:t>
            </a:r>
            <a:endParaRPr lang="zh-CN" altLang="en-US" sz="2400"/>
          </a:p>
          <a:p>
            <a:r>
              <a:rPr lang="zh-CN" altLang="en-US" sz="2400"/>
              <a:t>3.修改文件夹“/</a:t>
            </a:r>
            <a:r>
              <a:rPr lang="en-US" altLang="zh-CN" sz="2400"/>
              <a:t>home/jsjbgs”</a:t>
            </a:r>
            <a:r>
              <a:rPr lang="zh-CN" altLang="en-US" sz="2400"/>
              <a:t>所在组为“</a:t>
            </a:r>
            <a:r>
              <a:rPr lang="en-US" altLang="zh-CN" sz="2400"/>
              <a:t>jisuanjigroup”，</a:t>
            </a:r>
            <a:r>
              <a:rPr lang="zh-CN" altLang="en-US" sz="2400"/>
              <a:t>并修改该组对文件夹的写入权。</a:t>
            </a:r>
            <a:endParaRPr lang="zh-CN" altLang="en-US" sz="2400"/>
          </a:p>
          <a:p>
            <a:r>
              <a:rPr lang="en-US" altLang="zh-CN" sz="2400"/>
              <a:t>chgrp jisuanjigroup /home/jsjbgs</a:t>
            </a:r>
            <a:endParaRPr lang="en-US" altLang="zh-CN" sz="2400"/>
          </a:p>
          <a:p>
            <a:r>
              <a:rPr lang="en-US" altLang="zh-CN" sz="2400"/>
              <a:t>chmod g+w /home/jsjbgs</a:t>
            </a:r>
            <a:endParaRPr lang="en-US" altLang="zh-CN" sz="2400"/>
          </a:p>
          <a:p>
            <a:r>
              <a:rPr lang="zh-CN" altLang="en-US" sz="2400"/>
              <a:t>4.重新启动</a:t>
            </a:r>
            <a:r>
              <a:rPr lang="en-US" altLang="zh-CN" sz="2400"/>
              <a:t>Samba</a:t>
            </a:r>
            <a:r>
              <a:rPr lang="zh-CN" altLang="en-US" sz="2400"/>
              <a:t>服务并验证设置情况。（用</a:t>
            </a:r>
            <a:r>
              <a:rPr lang="en-US" altLang="zh-CN" sz="2400"/>
              <a:t>user1</a:t>
            </a:r>
            <a:r>
              <a:rPr lang="zh-CN" altLang="en-US" sz="2400"/>
              <a:t>验证测试）</a:t>
            </a:r>
            <a:endParaRPr lang="zh-CN" altLang="en-US" sz="2400"/>
          </a:p>
          <a:p>
            <a:r>
              <a:rPr lang="en-US" altLang="zh-CN" sz="2400"/>
              <a:t>systemctl restart smb     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 b="1"/>
              <a:t>提示：</a:t>
            </a:r>
            <a:r>
              <a:rPr lang="zh-CN" altLang="en-US" sz="2400"/>
              <a:t>就算你对于该目录有写的权限，也不能写。因为在配置中设置了</a:t>
            </a:r>
            <a:r>
              <a:rPr lang="en-US" altLang="zh-CN" sz="2400">
                <a:sym typeface="+mn-ea"/>
              </a:rPr>
              <a:t>writable=no</a:t>
            </a:r>
            <a:endParaRPr lang="zh-CN" altLang="en-U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45745" y="100330"/>
            <a:ext cx="11859260" cy="67576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700"/>
              <a:t>实验4：为计算机学院办公室建立一个公共目录“/</a:t>
            </a:r>
            <a:r>
              <a:rPr lang="en-US" altLang="zh-CN" sz="2700"/>
              <a:t>jsj”，</a:t>
            </a:r>
            <a:r>
              <a:rPr lang="zh-CN" altLang="en-US" sz="2700"/>
              <a:t>所有的教师只能查看和写入功能，但不能删除别人的文件。</a:t>
            </a:r>
            <a:endParaRPr lang="zh-CN" altLang="en-US" sz="2700"/>
          </a:p>
          <a:p>
            <a:r>
              <a:rPr lang="zh-CN" altLang="en-US" sz="2700"/>
              <a:t>1.创建目录</a:t>
            </a:r>
            <a:endParaRPr lang="zh-CN" altLang="en-US" sz="2700"/>
          </a:p>
          <a:p>
            <a:r>
              <a:rPr lang="en-US" altLang="zh-CN" sz="2700"/>
              <a:t>mkdir /jsj</a:t>
            </a:r>
            <a:endParaRPr lang="en-US" altLang="zh-CN" sz="2700"/>
          </a:p>
          <a:p>
            <a:r>
              <a:rPr lang="zh-CN" altLang="en-US" sz="2700"/>
              <a:t>2.修改目录/</a:t>
            </a:r>
            <a:r>
              <a:rPr lang="en-US" altLang="zh-CN" sz="2700"/>
              <a:t>jsj</a:t>
            </a:r>
            <a:r>
              <a:rPr lang="zh-CN" altLang="en-US" sz="2700"/>
              <a:t>的所在组为</a:t>
            </a:r>
            <a:r>
              <a:rPr lang="en-US" altLang="zh-CN" sz="2700"/>
              <a:t>jisuanjigroup</a:t>
            </a:r>
            <a:endParaRPr lang="en-US" altLang="zh-CN" sz="2700"/>
          </a:p>
          <a:p>
            <a:r>
              <a:rPr lang="en-US" altLang="zh-CN" sz="2700"/>
              <a:t>chgrp jisuanjigroup /jsj</a:t>
            </a:r>
            <a:endParaRPr lang="en-US" altLang="zh-CN" sz="2700"/>
          </a:p>
          <a:p>
            <a:r>
              <a:rPr lang="zh-CN" altLang="en-US" sz="2700"/>
              <a:t>3.使用</a:t>
            </a:r>
            <a:r>
              <a:rPr lang="zh-CN" altLang="en-US" sz="2700" b="1"/>
              <a:t>粘滞位</a:t>
            </a:r>
            <a:r>
              <a:rPr lang="zh-CN" altLang="en-US" sz="2700"/>
              <a:t>达到题目要求</a:t>
            </a:r>
            <a:endParaRPr lang="zh-CN" altLang="en-US" sz="2700"/>
          </a:p>
          <a:p>
            <a:r>
              <a:rPr lang="en-US" altLang="zh-CN" sz="2700"/>
              <a:t>chmod 1777 /jsj </a:t>
            </a:r>
            <a:r>
              <a:rPr lang="zh-CN" altLang="en-US" sz="2700"/>
              <a:t>或</a:t>
            </a:r>
            <a:r>
              <a:rPr lang="en-US" altLang="zh-CN" sz="2700"/>
              <a:t>chmod o+t /jsj</a:t>
            </a:r>
            <a:endParaRPr lang="en-US" altLang="zh-CN" sz="2700"/>
          </a:p>
          <a:p>
            <a:r>
              <a:rPr lang="zh-CN" altLang="en-US" sz="2700"/>
              <a:t>4.在</a:t>
            </a:r>
            <a:r>
              <a:rPr lang="en-US" altLang="zh-CN" sz="2700"/>
              <a:t>Samba</a:t>
            </a:r>
            <a:r>
              <a:rPr lang="zh-CN" altLang="en-US" sz="2700"/>
              <a:t>配置文件末尾添加：</a:t>
            </a:r>
            <a:endParaRPr lang="zh-CN" altLang="en-US" sz="2700"/>
          </a:p>
          <a:p>
            <a:r>
              <a:rPr lang="en-US" altLang="zh-CN" sz="2700"/>
              <a:t>[jsj] </a:t>
            </a:r>
            <a:endParaRPr lang="en-US" altLang="zh-CN" sz="2700"/>
          </a:p>
          <a:p>
            <a:r>
              <a:rPr lang="en-US" altLang="zh-CN" sz="2700"/>
              <a:t>path=/jsj                  #</a:t>
            </a:r>
            <a:r>
              <a:rPr lang="zh-CN" altLang="en-US" sz="2700"/>
              <a:t>共享目录路径</a:t>
            </a:r>
            <a:endParaRPr lang="zh-CN" altLang="en-US" sz="2700"/>
          </a:p>
          <a:p>
            <a:r>
              <a:rPr lang="en-US" altLang="zh-CN" sz="2700"/>
              <a:t>valid users=@jisuanjigroup    #</a:t>
            </a:r>
            <a:r>
              <a:rPr lang="zh-CN" altLang="en-US" sz="2700"/>
              <a:t>限定只有</a:t>
            </a:r>
            <a:r>
              <a:rPr lang="en-US" altLang="zh-CN" sz="2700"/>
              <a:t>jisuanjigroup</a:t>
            </a:r>
            <a:r>
              <a:rPr lang="zh-CN" altLang="en-US" sz="2700"/>
              <a:t>组内用户可访问该共享目录</a:t>
            </a:r>
            <a:endParaRPr lang="zh-CN" altLang="en-US" sz="2700"/>
          </a:p>
          <a:p>
            <a:r>
              <a:rPr lang="en-US" altLang="zh-CN" sz="2700"/>
              <a:t>writable=yes               #</a:t>
            </a:r>
            <a:r>
              <a:rPr lang="zh-CN" altLang="en-US" sz="2700"/>
              <a:t>可写</a:t>
            </a:r>
            <a:endParaRPr lang="zh-CN" altLang="en-US" sz="2700"/>
          </a:p>
          <a:p>
            <a:r>
              <a:rPr lang="zh-CN" altLang="en-US" sz="2700">
                <a:sym typeface="+mn-ea"/>
              </a:rPr>
              <a:t>5.重新启动</a:t>
            </a:r>
            <a:r>
              <a:rPr lang="en-US" altLang="zh-CN" sz="2700">
                <a:sym typeface="+mn-ea"/>
              </a:rPr>
              <a:t>Samba</a:t>
            </a:r>
            <a:r>
              <a:rPr lang="zh-CN" altLang="en-US" sz="2700">
                <a:sym typeface="+mn-ea"/>
              </a:rPr>
              <a:t>服务</a:t>
            </a:r>
            <a:endParaRPr lang="zh-CN" altLang="en-US" sz="2700"/>
          </a:p>
          <a:p>
            <a:r>
              <a:rPr lang="en-US" altLang="zh-CN" sz="2700">
                <a:sym typeface="+mn-ea"/>
              </a:rPr>
              <a:t>systemctl restart smb</a:t>
            </a:r>
            <a:endParaRPr lang="en-US" altLang="zh-CN" sz="2700"/>
          </a:p>
          <a:p>
            <a:endParaRPr lang="zh-CN" altLang="en-US" sz="2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17830" y="211455"/>
            <a:ext cx="10941685" cy="5718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一、文件 </a:t>
            </a:r>
            <a:r>
              <a:rPr lang="en-US" altLang="zh-CN" sz="2000"/>
              <a:t>rwx </a:t>
            </a:r>
            <a:r>
              <a:rPr lang="zh-CN" altLang="en-US" sz="2000"/>
              <a:t>权限（777）含义</a:t>
            </a:r>
            <a:endParaRPr lang="en-US" altLang="zh-CN" sz="2000"/>
          </a:p>
          <a:p>
            <a:r>
              <a:rPr lang="zh-CN" altLang="en-US" sz="2000"/>
              <a:t>针对文件本身，777 代表所有用户拥有全部权限：</a:t>
            </a:r>
            <a:endParaRPr lang="zh-CN" altLang="en-US" sz="2000"/>
          </a:p>
          <a:p>
            <a:r>
              <a:rPr lang="en-US" altLang="zh-CN" sz="2000"/>
              <a:t> r </a:t>
            </a:r>
            <a:r>
              <a:rPr lang="zh-CN" altLang="en-US" sz="2000"/>
              <a:t>读：查看文件内容</a:t>
            </a:r>
            <a:endParaRPr lang="zh-CN" altLang="en-US" sz="2000"/>
          </a:p>
          <a:p>
            <a:r>
              <a:rPr lang="en-US" altLang="zh-CN" sz="2000"/>
              <a:t>w </a:t>
            </a:r>
            <a:r>
              <a:rPr lang="zh-CN" altLang="en-US" sz="2000"/>
              <a:t>写：修改、覆盖文件内容</a:t>
            </a:r>
            <a:endParaRPr lang="zh-CN" altLang="en-US" sz="2000"/>
          </a:p>
          <a:p>
            <a:r>
              <a:rPr lang="en-US" altLang="zh-CN" sz="2000"/>
              <a:t>x </a:t>
            </a:r>
            <a:r>
              <a:rPr lang="zh-CN" altLang="en-US" sz="2000"/>
              <a:t>执行：运行该程序文件</a:t>
            </a:r>
            <a:endParaRPr lang="zh-CN" altLang="en-US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简单来说：777权限的文件，所有人都能看、能改、能运行。</a:t>
            </a:r>
            <a:endParaRPr lang="zh-CN" altLang="en-US" sz="2000"/>
          </a:p>
          <a:p>
            <a:r>
              <a:rPr lang="zh-CN" altLang="en-US" sz="2000"/>
              <a:t>默认情况下：创建一个文件，权限是644。</a:t>
            </a:r>
            <a:endParaRPr lang="zh-CN" altLang="en-US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二、目录 </a:t>
            </a:r>
            <a:r>
              <a:rPr lang="en-US" altLang="zh-CN" sz="2000"/>
              <a:t>rwx </a:t>
            </a:r>
            <a:r>
              <a:rPr lang="zh-CN" altLang="en-US" sz="2000"/>
              <a:t>权限（777）含义</a:t>
            </a:r>
            <a:endParaRPr lang="en-US" altLang="zh-CN" sz="2000"/>
          </a:p>
          <a:p>
            <a:r>
              <a:rPr lang="zh-CN" altLang="en-US" sz="2000"/>
              <a:t>目录权限和文件权限含义完全不同，目录777权限下，所有用户的权限如下：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r </a:t>
            </a:r>
            <a:r>
              <a:rPr lang="zh-CN" altLang="en-US" sz="2000"/>
              <a:t>读：使用 </a:t>
            </a:r>
            <a:r>
              <a:rPr lang="en-US" altLang="zh-CN" sz="2000"/>
              <a:t>ls </a:t>
            </a:r>
            <a:r>
              <a:rPr lang="zh-CN" altLang="en-US" sz="2000"/>
              <a:t>命令查看目录内的文件名称</a:t>
            </a:r>
            <a:endParaRPr lang="zh-CN" altLang="en-US" sz="2000"/>
          </a:p>
          <a:p>
            <a:r>
              <a:rPr lang="en-US" altLang="zh-CN" sz="2000"/>
              <a:t>w </a:t>
            </a:r>
            <a:r>
              <a:rPr lang="zh-CN" altLang="en-US" sz="2000"/>
              <a:t>写：在目录中新建、删除、重命名里面的文件</a:t>
            </a:r>
            <a:r>
              <a:rPr lang="zh-CN" altLang="en-US" sz="2000">
                <a:solidFill>
                  <a:srgbClr val="FF0000"/>
                </a:solidFill>
              </a:rPr>
              <a:t>（</a:t>
            </a:r>
            <a:r>
              <a:rPr lang="zh-CN" altLang="en-US" sz="2000">
                <a:solidFill>
                  <a:schemeClr val="tx1"/>
                </a:solidFill>
              </a:rPr>
              <a:t>注意：目录的写，是创建文件、删除文件，文件重命名，</a:t>
            </a:r>
            <a:r>
              <a:rPr lang="zh-CN" altLang="en-US" sz="2000" b="1">
                <a:solidFill>
                  <a:schemeClr val="tx1"/>
                </a:solidFill>
              </a:rPr>
              <a:t>不是修改文件</a:t>
            </a:r>
            <a:r>
              <a:rPr lang="zh-CN" altLang="en-US" sz="2000">
                <a:solidFill>
                  <a:schemeClr val="tx1"/>
                </a:solidFill>
              </a:rPr>
              <a:t>）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/>
              <a:t>x </a:t>
            </a:r>
            <a:r>
              <a:rPr lang="zh-CN" altLang="en-US" sz="2000"/>
              <a:t>执行：使用 </a:t>
            </a:r>
            <a:r>
              <a:rPr lang="en-US" altLang="zh-CN" sz="2000"/>
              <a:t>cd </a:t>
            </a:r>
            <a:r>
              <a:rPr lang="zh-CN" altLang="en-US" sz="2000"/>
              <a:t>命令进入该目录，访问目录里的文件</a:t>
            </a:r>
            <a:endParaRPr lang="zh-CN" altLang="en-US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简单来说：目录777权限，意味着所有人都能进入、查看、新建文件，还能删除目录里任意人的文件。</a:t>
            </a:r>
            <a:endParaRPr lang="zh-CN" altLang="en-US" sz="2000"/>
          </a:p>
          <a:p>
            <a:endParaRPr lang="en-US" altLang="zh-CN" sz="2000"/>
          </a:p>
          <a:p>
            <a:r>
              <a:rPr lang="zh-CN" altLang="en-US" sz="2000"/>
              <a:t>默认情况下：创建一个目录，权限是755。</a:t>
            </a:r>
            <a:endParaRPr lang="zh-CN" altLang="en-US" sz="2000"/>
          </a:p>
          <a:p>
            <a:r>
              <a:rPr lang="en-US" altLang="zh-CN"/>
              <a:t> 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7030" y="220980"/>
            <a:ext cx="11426190" cy="6342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200">
                <a:sym typeface="+mn-ea"/>
              </a:rPr>
              <a:t>三、目录 1777权限含义</a:t>
            </a:r>
            <a:endParaRPr lang="zh-CN" altLang="en-US" sz="2200"/>
          </a:p>
          <a:p>
            <a:endParaRPr lang="en-US" altLang="zh-CN" sz="2200"/>
          </a:p>
          <a:p>
            <a:r>
              <a:rPr lang="zh-CN" altLang="en-US" sz="2200">
                <a:sym typeface="+mn-ea"/>
              </a:rPr>
              <a:t>第一位加上1，</a:t>
            </a:r>
            <a:r>
              <a:rPr lang="zh-CN" altLang="en-US" sz="2200" b="1">
                <a:sym typeface="+mn-ea"/>
              </a:rPr>
              <a:t>称为粘滞位</a:t>
            </a:r>
            <a:r>
              <a:rPr lang="zh-CN" altLang="en-US" sz="2200">
                <a:sym typeface="+mn-ea"/>
              </a:rPr>
              <a:t> 。</a:t>
            </a:r>
            <a:endParaRPr lang="zh-CN" altLang="en-US" sz="2200"/>
          </a:p>
          <a:p>
            <a:r>
              <a:rPr lang="zh-CN" altLang="en-US" sz="2200">
                <a:sym typeface="+mn-ea"/>
              </a:rPr>
              <a:t>粘滞位仅对目录生效，（文件没有粘滞位的说法），粘滞位会修改目录</a:t>
            </a:r>
            <a:r>
              <a:rPr lang="en-US" altLang="zh-CN" sz="2200">
                <a:sym typeface="+mn-ea"/>
              </a:rPr>
              <a:t>w</a:t>
            </a:r>
            <a:r>
              <a:rPr lang="zh-CN" altLang="en-US" sz="2200">
                <a:sym typeface="+mn-ea"/>
              </a:rPr>
              <a:t>权限的规则，核心规则为：</a:t>
            </a:r>
            <a:endParaRPr lang="zh-CN" altLang="en-US" sz="2200"/>
          </a:p>
          <a:p>
            <a:r>
              <a:rPr lang="zh-CN" altLang="en-US" sz="2200">
                <a:sym typeface="+mn-ea"/>
              </a:rPr>
              <a:t>目录原本的</a:t>
            </a:r>
            <a:r>
              <a:rPr lang="en-US" altLang="zh-CN" sz="2200">
                <a:sym typeface="+mn-ea"/>
              </a:rPr>
              <a:t>rwx</a:t>
            </a:r>
            <a:r>
              <a:rPr lang="zh-CN" altLang="en-US" sz="2200">
                <a:sym typeface="+mn-ea"/>
              </a:rPr>
              <a:t>权限全部保留，再次基础上，增加一条限制：</a:t>
            </a:r>
            <a:r>
              <a:rPr lang="zh-CN" altLang="en-US" sz="2200" b="1">
                <a:sym typeface="+mn-ea"/>
              </a:rPr>
              <a:t>只能删除、重命名自己创建的文件，不能删除、重命名别人的文件。</a:t>
            </a:r>
            <a:endParaRPr lang="zh-CN" altLang="en-US" sz="2200" b="1"/>
          </a:p>
          <a:p>
            <a:r>
              <a:rPr lang="en-US" altLang="zh-CN" sz="2200">
                <a:sym typeface="+mn-ea"/>
              </a:rPr>
              <a:t> </a:t>
            </a:r>
            <a:endParaRPr lang="en-US" altLang="zh-CN" sz="2200"/>
          </a:p>
          <a:p>
            <a:r>
              <a:rPr lang="zh-CN" altLang="en-US" sz="2200">
                <a:sym typeface="+mn-ea"/>
              </a:rPr>
              <a:t>1777权限下的具体权限：</a:t>
            </a:r>
            <a:endParaRPr lang="zh-CN" altLang="en-US" sz="2200"/>
          </a:p>
          <a:p>
            <a:r>
              <a:rPr lang="en-US" altLang="zh-CN" sz="2200">
                <a:sym typeface="+mn-ea"/>
              </a:rPr>
              <a:t> r </a:t>
            </a:r>
            <a:r>
              <a:rPr lang="zh-CN" altLang="en-US" sz="2200">
                <a:sym typeface="+mn-ea"/>
              </a:rPr>
              <a:t>读：所有人可查看目录内的文件</a:t>
            </a:r>
            <a:endParaRPr lang="zh-CN" altLang="en-US" sz="2200"/>
          </a:p>
          <a:p>
            <a:r>
              <a:rPr lang="en-US" altLang="zh-CN" sz="2200">
                <a:sym typeface="+mn-ea"/>
              </a:rPr>
              <a:t>w </a:t>
            </a:r>
            <a:r>
              <a:rPr lang="zh-CN" altLang="en-US" sz="2200">
                <a:sym typeface="+mn-ea"/>
              </a:rPr>
              <a:t>写：所有人可新建自己的文件；仅能删除、重命名自己创建的文件，不能删除、重命名他人文件</a:t>
            </a:r>
            <a:endParaRPr lang="zh-CN" altLang="en-US" sz="2200"/>
          </a:p>
          <a:p>
            <a:r>
              <a:rPr lang="en-US" altLang="zh-CN" sz="2200">
                <a:sym typeface="+mn-ea"/>
              </a:rPr>
              <a:t>x </a:t>
            </a:r>
            <a:r>
              <a:rPr lang="zh-CN" altLang="en-US" sz="2200">
                <a:sym typeface="+mn-ea"/>
              </a:rPr>
              <a:t>执行：所有人可进入目录，访问目录内的文件</a:t>
            </a:r>
            <a:endParaRPr lang="zh-CN" altLang="en-US" sz="2200"/>
          </a:p>
          <a:p>
            <a:endParaRPr lang="en-US" altLang="zh-CN" sz="2200"/>
          </a:p>
          <a:p>
            <a:r>
              <a:rPr lang="zh-CN" altLang="en-US" sz="2200">
                <a:sym typeface="+mn-ea"/>
              </a:rPr>
              <a:t>粘滞位另一种写法：</a:t>
            </a:r>
            <a:r>
              <a:rPr lang="en-US" altLang="zh-CN" sz="2200">
                <a:sym typeface="+mn-ea"/>
              </a:rPr>
              <a:t>o+t</a:t>
            </a:r>
            <a:endParaRPr lang="en-US" altLang="zh-CN" sz="2200"/>
          </a:p>
          <a:p>
            <a:r>
              <a:rPr lang="zh-CN" altLang="en-US" sz="2200">
                <a:sym typeface="+mn-ea"/>
              </a:rPr>
              <a:t>注意</a:t>
            </a:r>
            <a:r>
              <a:rPr lang="en-US" altLang="zh-CN" sz="2200">
                <a:sym typeface="+mn-ea"/>
              </a:rPr>
              <a:t>o+t</a:t>
            </a:r>
            <a:r>
              <a:rPr lang="zh-CN" altLang="en-US" sz="2200">
                <a:sym typeface="+mn-ea"/>
              </a:rPr>
              <a:t>，别看有</a:t>
            </a:r>
            <a:r>
              <a:rPr lang="en-US" altLang="zh-CN" sz="2200">
                <a:sym typeface="+mn-ea"/>
              </a:rPr>
              <a:t>o</a:t>
            </a:r>
            <a:r>
              <a:rPr lang="zh-CN" altLang="en-US" sz="2200">
                <a:sym typeface="+mn-ea"/>
              </a:rPr>
              <a:t>，其实</a:t>
            </a:r>
            <a:r>
              <a:rPr lang="en-US" altLang="zh-CN" sz="2200">
                <a:sym typeface="+mn-ea"/>
              </a:rPr>
              <a:t> </a:t>
            </a:r>
            <a:r>
              <a:rPr lang="zh-CN" altLang="en-US" sz="2200">
                <a:sym typeface="+mn-ea"/>
              </a:rPr>
              <a:t>跟“其他用户”没有关系，这就是</a:t>
            </a:r>
            <a:r>
              <a:rPr lang="en-US" altLang="zh-CN" sz="2200">
                <a:sym typeface="+mn-ea"/>
              </a:rPr>
              <a:t>Linux</a:t>
            </a:r>
            <a:r>
              <a:rPr lang="zh-CN" altLang="en-US" sz="2200">
                <a:sym typeface="+mn-ea"/>
              </a:rPr>
              <a:t>系统定死的规矩，不是说给其他人赋予某种权限。</a:t>
            </a:r>
            <a:r>
              <a:rPr lang="en-US" altLang="zh-CN" sz="2200">
                <a:sym typeface="+mn-ea"/>
              </a:rPr>
              <a:t>o+t</a:t>
            </a:r>
            <a:r>
              <a:rPr lang="zh-CN" altLang="en-US" sz="2200">
                <a:sym typeface="+mn-ea"/>
              </a:rPr>
              <a:t>就表示粘滞位。不管是所有者、组内用户还是其他用户，全部一视同仁。即所有用户仅能删除、重命名自己创建的文件，无权删除、重命名他人文件。</a:t>
            </a:r>
            <a:endParaRPr lang="zh-CN" altLang="en-US" sz="2200"/>
          </a:p>
          <a:p>
            <a:endParaRPr lang="zh-CN" altLang="en-US" sz="2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9125" y="412750"/>
            <a:ext cx="1040765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实验5：匿名用户登录</a:t>
            </a:r>
            <a:r>
              <a:rPr lang="en-US" altLang="zh-CN" sz="2400" b="1"/>
              <a:t>Samba</a:t>
            </a:r>
            <a:endParaRPr lang="en-US" altLang="zh-CN" sz="2400" b="1"/>
          </a:p>
          <a:p>
            <a:r>
              <a:rPr lang="zh-CN" altLang="en-US" sz="2400"/>
              <a:t>1.创建目录</a:t>
            </a:r>
            <a:r>
              <a:rPr lang="en-US" altLang="zh-CN" sz="2400"/>
              <a:t>aaa，</a:t>
            </a:r>
            <a:r>
              <a:rPr lang="zh-CN" altLang="en-US" sz="2400"/>
              <a:t>并设置权限为所有人（所有者、同组的用户、其他用户）可读可写可执行</a:t>
            </a:r>
            <a:endParaRPr lang="zh-CN" altLang="en-US" sz="2400"/>
          </a:p>
          <a:p>
            <a:r>
              <a:rPr lang="en-US" altLang="zh-CN" sz="2400"/>
              <a:t>mkdir -p /aaa</a:t>
            </a:r>
            <a:endParaRPr lang="en-US" altLang="zh-CN" sz="2400"/>
          </a:p>
          <a:p>
            <a:r>
              <a:rPr lang="en-US" altLang="zh-CN" sz="2400"/>
              <a:t>chmod 777 /aaa</a:t>
            </a:r>
            <a:endParaRPr lang="en-US" altLang="zh-CN" sz="2400"/>
          </a:p>
          <a:p>
            <a:r>
              <a:rPr lang="en-US" altLang="zh-CN" sz="2400"/>
              <a:t>2.</a:t>
            </a:r>
            <a:r>
              <a:rPr lang="zh-CN" altLang="en-US" sz="2400"/>
              <a:t>在</a:t>
            </a:r>
            <a:r>
              <a:rPr lang="en-US" altLang="zh-CN" sz="2400"/>
              <a:t>Samba</a:t>
            </a:r>
            <a:r>
              <a:rPr lang="zh-CN" altLang="en-US" sz="2400"/>
              <a:t>配置文件的[</a:t>
            </a:r>
            <a:r>
              <a:rPr lang="en-US" altLang="zh-CN" sz="2400"/>
              <a:t>global]</a:t>
            </a:r>
            <a:r>
              <a:rPr lang="zh-CN" altLang="en-US" sz="2400"/>
              <a:t>后加上一句</a:t>
            </a:r>
            <a:endParaRPr lang="zh-CN" altLang="en-US" sz="2400"/>
          </a:p>
          <a:p>
            <a:r>
              <a:rPr lang="en-US" altLang="zh-CN" sz="2400"/>
              <a:t>map to guest = Bad User</a:t>
            </a:r>
            <a:endParaRPr lang="en-US" altLang="zh-CN" sz="2400"/>
          </a:p>
          <a:p>
            <a:r>
              <a:rPr lang="en-US" altLang="zh-CN" sz="2400"/>
              <a:t>3.</a:t>
            </a:r>
            <a:r>
              <a:rPr lang="zh-CN" altLang="en-US" sz="2400"/>
              <a:t>在</a:t>
            </a:r>
            <a:r>
              <a:rPr lang="en-US" altLang="zh-CN" sz="2400"/>
              <a:t>Samba</a:t>
            </a:r>
            <a:r>
              <a:rPr lang="zh-CN" altLang="en-US" sz="2400"/>
              <a:t>配置文件末尾添加：</a:t>
            </a:r>
            <a:endParaRPr lang="zh-CN" altLang="en-US" sz="2400"/>
          </a:p>
          <a:p>
            <a:r>
              <a:rPr lang="en-US" altLang="zh-CN" sz="2400"/>
              <a:t>[share]</a:t>
            </a:r>
            <a:endParaRPr lang="en-US" altLang="zh-CN" sz="2400"/>
          </a:p>
          <a:p>
            <a:r>
              <a:rPr lang="en-US" altLang="zh-CN" sz="2400"/>
              <a:t>path=/aaa</a:t>
            </a:r>
            <a:endParaRPr lang="en-US" altLang="zh-CN" sz="2400"/>
          </a:p>
          <a:p>
            <a:r>
              <a:rPr lang="en-US" altLang="zh-CN" sz="2400"/>
              <a:t>guest ok=yes</a:t>
            </a:r>
            <a:endParaRPr lang="en-US" altLang="zh-CN" sz="2400"/>
          </a:p>
          <a:p>
            <a:r>
              <a:rPr lang="en-US" altLang="zh-CN" sz="2400"/>
              <a:t>writable=yes</a:t>
            </a:r>
            <a:endParaRPr lang="en-US" altLang="zh-CN" sz="2400"/>
          </a:p>
          <a:p>
            <a:r>
              <a:rPr lang="en-US" altLang="zh-CN" sz="2400"/>
              <a:t>4.</a:t>
            </a:r>
            <a:r>
              <a:rPr lang="zh-CN" altLang="en-US" sz="2400"/>
              <a:t>重新启动</a:t>
            </a:r>
            <a:r>
              <a:rPr lang="en-US" altLang="zh-CN" sz="2400"/>
              <a:t>Samba</a:t>
            </a:r>
            <a:r>
              <a:rPr lang="zh-CN" altLang="en-US" sz="2400"/>
              <a:t>服务</a:t>
            </a:r>
            <a:endParaRPr lang="zh-CN" altLang="en-US" sz="2400"/>
          </a:p>
          <a:p>
            <a:r>
              <a:rPr lang="en-US" altLang="zh-CN" sz="2400"/>
              <a:t>systemctl restart smb</a:t>
            </a:r>
            <a:endParaRPr lang="en-US" altLang="zh-CN" sz="2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7840" y="43307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清除缓存</a:t>
            </a:r>
            <a:endParaRPr lang="zh-CN" altLang="en-US"/>
          </a:p>
          <a:p>
            <a:r>
              <a:rPr lang="en-US" altLang="zh-CN"/>
              <a:t>win+cmd</a:t>
            </a:r>
            <a:endParaRPr lang="en-US" altLang="zh-CN"/>
          </a:p>
          <a:p>
            <a:r>
              <a:rPr lang="en-US" altLang="zh-CN"/>
              <a:t>net use * /delete /y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6318</Words>
  <Application>WPS 演示</Application>
  <PresentationFormat>宽屏</PresentationFormat>
  <Paragraphs>304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于耀淞</dc:creator>
  <cp:lastModifiedBy>Administrator</cp:lastModifiedBy>
  <cp:revision>11</cp:revision>
  <dcterms:created xsi:type="dcterms:W3CDTF">2023-08-09T12:44:00Z</dcterms:created>
  <dcterms:modified xsi:type="dcterms:W3CDTF">2026-05-25T00:17:47Z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06108FD27D57415BB862B9D290727E27_12</vt:lpwstr>
  </property>
</Properties>
</file>